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72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7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29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51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5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5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19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04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9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36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39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06866-A500-44C9-916D-E8E8D08F175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54F0-C9BE-4A7D-8EE7-79CD1DE6FA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58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53077"/>
            <a:ext cx="9144000" cy="1870547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Изучение классических шифров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42931" y="2271178"/>
            <a:ext cx="9144000" cy="444862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Лабораторная работа №1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Санкт-Петербургский государственный электротехнический университет «ЛЭТИ» им. В.И. Ульянова (Ленина)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899486" y="6488668"/>
            <a:ext cx="2584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Санкт-Петербург 2026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50223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Студент: </a:t>
            </a:r>
            <a:r>
              <a:rPr lang="ru-RU" b="0" dirty="0" err="1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Тукалкин</a:t>
            </a:r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 В.А., группа 3344</a:t>
            </a:r>
          </a:p>
          <a:p>
            <a:r>
              <a:rPr lang="ru-RU" b="0" dirty="0" smtClean="0">
                <a:solidFill>
                  <a:srgbClr val="000000"/>
                </a:solidFill>
                <a:effectLst/>
                <a:latin typeface="Bahnschrift Light" panose="020B0502040204020203" pitchFamily="34" charset="0"/>
              </a:rPr>
              <a:t>Преподаватель: Племянников А.К., доцент каф. ИБ</a:t>
            </a:r>
            <a:endParaRPr lang="ru-RU" b="0" dirty="0">
              <a:solidFill>
                <a:srgbClr val="000000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47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Цель и задачи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Цель: повышение компетентности в сфере формальной криптографии: изучение базовый шифров «</a:t>
            </a:r>
            <a:r>
              <a:rPr lang="en-US" dirty="0" err="1" smtClean="0">
                <a:latin typeface="Bahnschrift Light" panose="020B0502040204020203" pitchFamily="34" charset="0"/>
              </a:rPr>
              <a:t>Scytale</a:t>
            </a:r>
            <a:r>
              <a:rPr lang="ru-RU" dirty="0" smtClean="0">
                <a:latin typeface="Bahnschrift Light" panose="020B0502040204020203" pitchFamily="34" charset="0"/>
              </a:rPr>
              <a:t>»</a:t>
            </a:r>
            <a:r>
              <a:rPr lang="en-US" dirty="0" smtClean="0">
                <a:latin typeface="Bahnschrift Light" panose="020B0502040204020203" pitchFamily="34" charset="0"/>
              </a:rPr>
              <a:t>, </a:t>
            </a:r>
            <a:r>
              <a:rPr lang="ru-RU" dirty="0" smtClean="0">
                <a:latin typeface="Bahnschrift Light" panose="020B0502040204020203" pitchFamily="34" charset="0"/>
              </a:rPr>
              <a:t>«Агентурный», «</a:t>
            </a:r>
            <a:r>
              <a:rPr lang="en-US" dirty="0" err="1" smtClean="0">
                <a:latin typeface="Bahnschrift Light" panose="020B0502040204020203" pitchFamily="34" charset="0"/>
              </a:rPr>
              <a:t>Vigenere</a:t>
            </a:r>
            <a:r>
              <a:rPr lang="ru-RU" dirty="0" smtClean="0">
                <a:latin typeface="Bahnschrift Light" panose="020B0502040204020203" pitchFamily="34" charset="0"/>
              </a:rPr>
              <a:t>»</a:t>
            </a:r>
            <a:r>
              <a:rPr lang="en-US" dirty="0" smtClean="0">
                <a:latin typeface="Bahnschrift Light" panose="020B0502040204020203" pitchFamily="34" charset="0"/>
              </a:rPr>
              <a:t>,  </a:t>
            </a:r>
            <a:r>
              <a:rPr lang="ru-RU" dirty="0" smtClean="0">
                <a:latin typeface="Bahnschrift Light" panose="020B0502040204020203" pitchFamily="34" charset="0"/>
              </a:rPr>
              <a:t>«</a:t>
            </a:r>
            <a:r>
              <a:rPr lang="en-US" dirty="0" smtClean="0">
                <a:latin typeface="Bahnschrift Light" panose="020B0502040204020203" pitchFamily="34" charset="0"/>
              </a:rPr>
              <a:t>Hill</a:t>
            </a:r>
            <a:r>
              <a:rPr lang="ru-RU" dirty="0" smtClean="0">
                <a:latin typeface="Bahnschrift Light" panose="020B0502040204020203" pitchFamily="34" charset="0"/>
              </a:rPr>
              <a:t>»</a:t>
            </a:r>
            <a:r>
              <a:rPr lang="en-US" dirty="0" smtClean="0">
                <a:latin typeface="Bahnschrift Light" panose="020B0502040204020203" pitchFamily="34" charset="0"/>
              </a:rPr>
              <a:t>, </a:t>
            </a:r>
            <a:r>
              <a:rPr lang="ru-RU" dirty="0" smtClean="0">
                <a:latin typeface="Bahnschrift Light" panose="020B0502040204020203" pitchFamily="34" charset="0"/>
              </a:rPr>
              <a:t>«</a:t>
            </a:r>
            <a:r>
              <a:rPr lang="en-US" dirty="0" smtClean="0">
                <a:latin typeface="Bahnschrift Light" panose="020B0502040204020203" pitchFamily="34" charset="0"/>
              </a:rPr>
              <a:t>ADFGVX</a:t>
            </a:r>
            <a:r>
              <a:rPr lang="ru-RU" dirty="0" smtClean="0">
                <a:latin typeface="Bahnschrift Light" panose="020B0502040204020203" pitchFamily="34" charset="0"/>
              </a:rPr>
              <a:t>» и заданный вариантом.</a:t>
            </a:r>
          </a:p>
          <a:p>
            <a:pPr marL="0" indent="0">
              <a:buNone/>
            </a:pP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Задачи:</a:t>
            </a:r>
            <a:br>
              <a:rPr lang="ru-RU" dirty="0" smtClean="0">
                <a:latin typeface="Bahnschrift Light" panose="020B0502040204020203" pitchFamily="34" charset="0"/>
              </a:rPr>
            </a:br>
            <a:r>
              <a:rPr lang="ru-RU" dirty="0" smtClean="0">
                <a:latin typeface="Bahnschrift Light" panose="020B0502040204020203" pitchFamily="34" charset="0"/>
              </a:rPr>
              <a:t>1) Изучить шифр </a:t>
            </a:r>
            <a:r>
              <a:rPr lang="en-US" dirty="0" err="1" smtClean="0">
                <a:latin typeface="Bahnschrift Light" panose="020B0502040204020203" pitchFamily="34" charset="0"/>
              </a:rPr>
              <a:t>Scytale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2) Изучить агентурный шифр</a:t>
            </a: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3) Изучить шифр </a:t>
            </a:r>
            <a:r>
              <a:rPr lang="ru-RU" dirty="0" err="1" smtClean="0">
                <a:latin typeface="Bahnschrift Light" panose="020B0502040204020203" pitchFamily="34" charset="0"/>
              </a:rPr>
              <a:t>Виженера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4) Изучить шифр Хилла</a:t>
            </a: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5) Изучить шифр </a:t>
            </a:r>
            <a:r>
              <a:rPr lang="en-US" dirty="0" smtClean="0">
                <a:latin typeface="Bahnschrift Light" panose="020B0502040204020203" pitchFamily="34" charset="0"/>
              </a:rPr>
              <a:t>ADFGVX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dirty="0" smtClean="0">
                <a:latin typeface="Bahnschrift Light" panose="020B0502040204020203" pitchFamily="34" charset="0"/>
              </a:rPr>
              <a:t>6) Изучить шифр, заданный </a:t>
            </a:r>
            <a:r>
              <a:rPr lang="ru-RU" dirty="0" smtClean="0">
                <a:latin typeface="Bahnschrift Light" panose="020B0502040204020203" pitchFamily="34" charset="0"/>
              </a:rPr>
              <a:t>вариантом </a:t>
            </a:r>
            <a:r>
              <a:rPr lang="ru-RU" smtClean="0">
                <a:latin typeface="Bahnschrift Light" panose="020B0502040204020203" pitchFamily="34" charset="0"/>
              </a:rPr>
              <a:t>(Изгородь)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58" y="81781"/>
            <a:ext cx="1845033" cy="677621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</a:t>
            </a:r>
            <a:r>
              <a:rPr lang="en-US" dirty="0" err="1" smtClean="0">
                <a:latin typeface="Bahnschrift Light" panose="020B0502040204020203" pitchFamily="34" charset="0"/>
              </a:rPr>
              <a:t>Scytale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9193041" cy="4351338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Bahnschrift Light" panose="020B0502040204020203" pitchFamily="34" charset="0"/>
              </a:rPr>
              <a:t>Перестановочный </a:t>
            </a:r>
            <a:r>
              <a:rPr lang="ru-RU" sz="2600" dirty="0" smtClean="0">
                <a:latin typeface="Bahnschrift Light" panose="020B0502040204020203" pitchFamily="34" charset="0"/>
              </a:rPr>
              <a:t>шифр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На вход даётся текст и ключ (целое число </a:t>
            </a:r>
            <a:r>
              <a:rPr lang="en-US" sz="2600" dirty="0" smtClean="0">
                <a:latin typeface="Bahnschrift Light" panose="020B0502040204020203" pitchFamily="34" charset="0"/>
              </a:rPr>
              <a:t>&gt;0</a:t>
            </a:r>
            <a:r>
              <a:rPr lang="ru-RU" sz="2600" dirty="0" smtClean="0">
                <a:latin typeface="Bahnschrift Light" panose="020B0502040204020203" pitchFamily="34" charset="0"/>
              </a:rPr>
              <a:t>, </a:t>
            </a:r>
            <a:r>
              <a:rPr lang="ru-RU" sz="2600" dirty="0" smtClean="0">
                <a:latin typeface="Bahnschrift Light" panose="020B0502040204020203" pitchFamily="34" charset="0"/>
              </a:rPr>
              <a:t>задающее «толщину палки</a:t>
            </a:r>
            <a:r>
              <a:rPr lang="ru-RU" sz="2600" dirty="0" smtClean="0">
                <a:latin typeface="Bahnschrift Light" panose="020B0502040204020203" pitchFamily="34" charset="0"/>
              </a:rPr>
              <a:t>»), 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атаки грубой силы: О(</a:t>
            </a:r>
            <a:r>
              <a:rPr lang="en-US" sz="2600" dirty="0" smtClean="0">
                <a:latin typeface="Bahnschrift Light" panose="020B0502040204020203" pitchFamily="34" charset="0"/>
              </a:rPr>
              <a:t>N</a:t>
            </a:r>
            <a:r>
              <a:rPr lang="en-US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</a:t>
            </a:r>
            <a:r>
              <a:rPr lang="en-US" sz="2600" dirty="0" smtClean="0">
                <a:latin typeface="Bahnschrift Light" panose="020B0502040204020203" pitchFamily="34" charset="0"/>
              </a:rPr>
              <a:t>, N –</a:t>
            </a:r>
            <a:r>
              <a:rPr lang="ru-RU" sz="2600" dirty="0" smtClean="0">
                <a:latin typeface="Bahnschrift Light" panose="020B0502040204020203" pitchFamily="34" charset="0"/>
              </a:rPr>
              <a:t> длина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шифротекста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https://sun9-24.vkuserphoto.ru/s/v1/ig2/y9rfSNZooq1MiB3phx4mmSn6VaLQuN7w7MkIOoJtD1FIFAEi2vK-XxWXQkSditWNyBWj_saKV8x5dGctKnq3oMrM.jpg?quality=95&amp;as=32x14,48x21,72x31,108x47,160x69,240x104,360x156,480x207,540x233,640x277,720x311,891x385&amp;from=bu&amp;cs=891x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1"/>
          <a:stretch/>
        </p:blipFill>
        <p:spPr bwMode="auto">
          <a:xfrm>
            <a:off x="3954714" y="4284273"/>
            <a:ext cx="5385146" cy="216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Агентурный шифр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933873" cy="4351338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Bahnschrift Light" panose="020B0502040204020203" pitchFamily="34" charset="0"/>
              </a:rPr>
              <a:t>Моноалфавитный комбинированный </a:t>
            </a:r>
            <a:r>
              <a:rPr lang="ru-RU" sz="2600" dirty="0" smtClean="0">
                <a:latin typeface="Bahnschrift Light" panose="020B0502040204020203" pitchFamily="34" charset="0"/>
              </a:rPr>
              <a:t>шифр</a:t>
            </a:r>
          </a:p>
          <a:p>
            <a:r>
              <a:rPr lang="ru-RU" sz="2600" dirty="0">
                <a:latin typeface="Bahnschrift Light" panose="020B0502040204020203" pitchFamily="34" charset="0"/>
              </a:rPr>
              <a:t>На вход даётся текст и </a:t>
            </a:r>
            <a:r>
              <a:rPr lang="ru-RU" sz="2600" dirty="0" smtClean="0">
                <a:latin typeface="Bahnschrift Light" panose="020B0502040204020203" pitchFamily="34" charset="0"/>
              </a:rPr>
              <a:t>2 ключа (</a:t>
            </a:r>
            <a:r>
              <a:rPr lang="ru-RU" sz="2600" dirty="0">
                <a:latin typeface="Bahnschrift Light" panose="020B0502040204020203" pitchFamily="34" charset="0"/>
              </a:rPr>
              <a:t>ключевое слово, задающее перемешанный алфавит и целое </a:t>
            </a:r>
            <a:r>
              <a:rPr lang="ru-RU" sz="2600" dirty="0" smtClean="0">
                <a:latin typeface="Bahnschrift Light" panose="020B0502040204020203" pitchFamily="34" charset="0"/>
              </a:rPr>
              <a:t>число</a:t>
            </a:r>
            <a:r>
              <a:rPr lang="en-US" sz="2600" dirty="0" smtClean="0">
                <a:latin typeface="Bahnschrift Light" panose="020B0502040204020203" pitchFamily="34" charset="0"/>
              </a:rPr>
              <a:t> &gt;0</a:t>
            </a:r>
            <a:r>
              <a:rPr lang="ru-RU" sz="2600" dirty="0" smtClean="0">
                <a:latin typeface="Bahnschrift Light" panose="020B0502040204020203" pitchFamily="34" charset="0"/>
              </a:rPr>
              <a:t> </a:t>
            </a:r>
            <a:r>
              <a:rPr lang="ru-RU" sz="2600" dirty="0">
                <a:latin typeface="Bahnschrift Light" panose="020B0502040204020203" pitchFamily="34" charset="0"/>
              </a:rPr>
              <a:t>(сдвиг</a:t>
            </a:r>
            <a:r>
              <a:rPr lang="ru-RU" sz="2600" dirty="0" smtClean="0">
                <a:latin typeface="Bahnschrift Light" panose="020B0502040204020203" pitchFamily="34" charset="0"/>
              </a:rPr>
              <a:t>)), 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</a:t>
            </a:r>
            <a:r>
              <a:rPr lang="ru-RU" sz="2600" dirty="0" smtClean="0">
                <a:latin typeface="Bahnschrift Light" panose="020B0502040204020203" pitchFamily="34" charset="0"/>
              </a:rPr>
              <a:t>атаки грубой силы: O(M!), где M – мощность алфавита (для русского M=33, для латиницы M=26)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254" y="0"/>
            <a:ext cx="2538746" cy="6858000"/>
          </a:xfrm>
          <a:prstGeom prst="rect">
            <a:avLst/>
          </a:prstGeom>
        </p:spPr>
      </p:pic>
      <p:pic>
        <p:nvPicPr>
          <p:cNvPr id="2050" name="Picture 2" descr="https://sun9-35.vkuserphoto.ru/s/v1/ig2/K_nQDQUpTTwJX3BJODy8grBUVOWnQDJ1DNwsGcujVgbfCDRjUrJGpmZ5crj0Da9nkxi6t8cYlB04os8UJN-LFOsY.jpg?quality=95&amp;as=32x13,48x19,72x29,108x44,160x65,240x97,360x146,480x195,540x219,640x260,720x292,1080x438,1280x519,1440x584,1482x601&amp;from=bu&amp;u=YMJmVRRMzxFP2tSyKqpJWTa5V1Q4jv_QWPMXiO-eVIo&amp;cs=1482x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5993" r="3679" b="4902"/>
          <a:stretch/>
        </p:blipFill>
        <p:spPr bwMode="auto">
          <a:xfrm>
            <a:off x="3066472" y="4250612"/>
            <a:ext cx="6271493" cy="239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6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</a:t>
            </a:r>
            <a:r>
              <a:rPr lang="ru-RU" dirty="0" err="1" smtClean="0">
                <a:latin typeface="Bahnschrift Light" panose="020B0502040204020203" pitchFamily="34" charset="0"/>
              </a:rPr>
              <a:t>Виженера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933873" cy="4351338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Bahnschrift Light" panose="020B0502040204020203" pitchFamily="34" charset="0"/>
              </a:rPr>
              <a:t>Моноалфавитный шифр </a:t>
            </a:r>
            <a:r>
              <a:rPr lang="ru-RU" sz="2600" dirty="0" smtClean="0">
                <a:latin typeface="Bahnschrift Light" panose="020B0502040204020203" pitchFamily="34" charset="0"/>
              </a:rPr>
              <a:t>замены</a:t>
            </a:r>
            <a:endParaRPr lang="en-US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На вход даётся текст и </a:t>
            </a:r>
            <a:r>
              <a:rPr lang="ru-RU" sz="2600" dirty="0" smtClean="0">
                <a:latin typeface="Bahnschrift Light" panose="020B0502040204020203" pitchFamily="34" charset="0"/>
              </a:rPr>
              <a:t>ключ (</a:t>
            </a:r>
            <a:r>
              <a:rPr lang="ru-RU" sz="2600" dirty="0">
                <a:latin typeface="Bahnschrift Light" panose="020B0502040204020203" pitchFamily="34" charset="0"/>
              </a:rPr>
              <a:t>слово (последовательность символов)</a:t>
            </a:r>
            <a:r>
              <a:rPr lang="ru-RU" sz="2600" dirty="0" smtClean="0">
                <a:latin typeface="Bahnschrift Light" panose="020B0502040204020203" pitchFamily="34" charset="0"/>
              </a:rPr>
              <a:t>), </a:t>
            </a:r>
            <a:r>
              <a:rPr lang="ru-RU" sz="2600" dirty="0">
                <a:latin typeface="Bahnschrift Light" panose="020B0502040204020203" pitchFamily="34" charset="0"/>
              </a:rPr>
              <a:t>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</a:t>
            </a:r>
            <a:r>
              <a:rPr lang="ru-RU" sz="2600" dirty="0" smtClean="0">
                <a:latin typeface="Bahnschrift Light" panose="020B0502040204020203" pitchFamily="34" charset="0"/>
              </a:rPr>
              <a:t>атаки грубой силы: O(</a:t>
            </a:r>
            <a:r>
              <a:rPr lang="en-US" sz="2600" dirty="0" smtClean="0">
                <a:latin typeface="Bahnschrift Light" panose="020B0502040204020203" pitchFamily="34" charset="0"/>
              </a:rPr>
              <a:t>A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L</a:t>
            </a:r>
            <a:r>
              <a:rPr lang="ru-RU" sz="2600" dirty="0" smtClean="0">
                <a:latin typeface="Bahnschrift Light" panose="020B0502040204020203" pitchFamily="34" charset="0"/>
              </a:rPr>
              <a:t>), где </a:t>
            </a:r>
            <a:r>
              <a:rPr lang="en-US" sz="2600" dirty="0" smtClean="0">
                <a:latin typeface="Bahnschrift Light" panose="020B0502040204020203" pitchFamily="34" charset="0"/>
              </a:rPr>
              <a:t>A</a:t>
            </a:r>
            <a:r>
              <a:rPr lang="ru-RU" sz="2600" dirty="0" smtClean="0">
                <a:latin typeface="Bahnschrift Light" panose="020B0502040204020203" pitchFamily="34" charset="0"/>
              </a:rPr>
              <a:t> – мощность алфавита, L – длина ключа (L ≤ N, N – длина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шифротекста</a:t>
            </a:r>
            <a:r>
              <a:rPr lang="ru-RU" sz="2600" dirty="0" smtClean="0">
                <a:latin typeface="Bahnschrift Light" panose="020B0502040204020203" pitchFamily="34" charset="0"/>
              </a:rPr>
              <a:t>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503" y="0"/>
            <a:ext cx="2369497" cy="6858000"/>
          </a:xfrm>
          <a:prstGeom prst="rect">
            <a:avLst/>
          </a:prstGeom>
        </p:spPr>
      </p:pic>
      <p:pic>
        <p:nvPicPr>
          <p:cNvPr id="3074" name="Picture 2" descr="https://sun9-82.vkuserphoto.ru/s/v1/ig2/qdTiLSUYADPREgJ-EliVtK6alI5FHPJ_MXW9im73UWTFOOV7LpmBzOv0NaXSaYw5f-RXsNSgHqs5U36IietT6Eum.jpg?quality=95&amp;as=32x16,48x24,72x36,108x54,160x80,240x120,360x179,480x239,540x269,640x319,720x359,1069x533&amp;from=bu&amp;cs=1069x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587" y="4306562"/>
            <a:ext cx="4577340" cy="228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3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Хилла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731313" cy="4351338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Bahnschrift Light" panose="020B0502040204020203" pitchFamily="34" charset="0"/>
              </a:rPr>
              <a:t>Матричный </a:t>
            </a:r>
            <a:r>
              <a:rPr lang="ru-RU" sz="2600" dirty="0" err="1" smtClean="0">
                <a:latin typeface="Bahnschrift Light" panose="020B0502040204020203" pitchFamily="34" charset="0"/>
              </a:rPr>
              <a:t>моноалфавитный</a:t>
            </a:r>
            <a:r>
              <a:rPr lang="ru-RU" sz="2600" dirty="0" smtClean="0">
                <a:latin typeface="Bahnschrift Light" panose="020B0502040204020203" pitchFamily="34" charset="0"/>
              </a:rPr>
              <a:t> шифр замены </a:t>
            </a:r>
            <a:endParaRPr lang="en-US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На вход даётся текст и </a:t>
            </a:r>
            <a:r>
              <a:rPr lang="ru-RU" sz="2600" dirty="0" smtClean="0">
                <a:latin typeface="Bahnschrift Light" panose="020B0502040204020203" pitchFamily="34" charset="0"/>
              </a:rPr>
              <a:t>ключ</a:t>
            </a:r>
            <a:r>
              <a:rPr lang="en-US" sz="2600" dirty="0">
                <a:latin typeface="Bahnschrift Light" panose="020B0502040204020203" pitchFamily="34" charset="0"/>
              </a:rPr>
              <a:t> </a:t>
            </a:r>
            <a:r>
              <a:rPr lang="ru-RU" sz="2600" dirty="0" smtClean="0">
                <a:latin typeface="Bahnschrift Light" panose="020B0502040204020203" pitchFamily="34" charset="0"/>
              </a:rPr>
              <a:t>(обратимая </a:t>
            </a:r>
            <a:r>
              <a:rPr lang="ru-RU" sz="2600" dirty="0">
                <a:latin typeface="Bahnschrift Light" panose="020B0502040204020203" pitchFamily="34" charset="0"/>
              </a:rPr>
              <a:t>матрица размера n*n над кольцом вычетов по модулю </a:t>
            </a:r>
            <a:r>
              <a:rPr lang="ru-RU" sz="2600" dirty="0" smtClean="0">
                <a:latin typeface="Bahnschrift Light" panose="020B0502040204020203" pitchFamily="34" charset="0"/>
              </a:rPr>
              <a:t>M), </a:t>
            </a:r>
            <a:r>
              <a:rPr lang="ru-RU" sz="2600" dirty="0">
                <a:latin typeface="Bahnschrift Light" panose="020B0502040204020203" pitchFamily="34" charset="0"/>
              </a:rPr>
              <a:t>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</a:t>
            </a:r>
            <a:r>
              <a:rPr lang="ru-RU" sz="2600" dirty="0" smtClean="0">
                <a:latin typeface="Bahnschrift Light" panose="020B0502040204020203" pitchFamily="34" charset="0"/>
              </a:rPr>
              <a:t>атаки грубой силы: O(M^(n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)), где M – мощность алфавита, n – размер матрицы (n ≤ N)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052" y="0"/>
            <a:ext cx="2807948" cy="6858000"/>
          </a:xfrm>
          <a:prstGeom prst="rect">
            <a:avLst/>
          </a:prstGeom>
        </p:spPr>
      </p:pic>
      <p:pic>
        <p:nvPicPr>
          <p:cNvPr id="4098" name="Picture 2" descr="https://sun9-60.vkuserphoto.ru/s/v1/ig2/F2fTRbRoO5N5sVbPa-yiDxYn982h8zBpmQOMg8b2Glg8he2zGyHsAoVbxnOQSIXEgoz2oz6I6LN1KKcOY5d94Iku.jpg?quality=95&amp;as=32x13,48x19,72x29,108x43,160x64,240x96,360x144,480x192,540x216,640x256,720x288,1080x432,1151x460&amp;from=bu&amp;cs=1151x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t="4650" r="8400" b="9636"/>
          <a:stretch/>
        </p:blipFill>
        <p:spPr bwMode="auto">
          <a:xfrm>
            <a:off x="3169245" y="4377644"/>
            <a:ext cx="5853510" cy="225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69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</a:t>
            </a:r>
            <a:r>
              <a:rPr lang="en-US" dirty="0" smtClean="0">
                <a:latin typeface="Bahnschrift Light" panose="020B0502040204020203" pitchFamily="34" charset="0"/>
              </a:rPr>
              <a:t>ADFGVX</a:t>
            </a:r>
            <a:endParaRPr lang="ru-RU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731313" cy="4351338"/>
          </a:xfrm>
        </p:spPr>
        <p:txBody>
          <a:bodyPr>
            <a:normAutofit/>
          </a:bodyPr>
          <a:lstStyle/>
          <a:p>
            <a:r>
              <a:rPr lang="ru-RU" sz="2600" dirty="0">
                <a:latin typeface="Bahnschrift Light" panose="020B0502040204020203" pitchFamily="34" charset="0"/>
              </a:rPr>
              <a:t>К</a:t>
            </a:r>
            <a:r>
              <a:rPr lang="ru-RU" sz="2600" dirty="0" smtClean="0">
                <a:latin typeface="Bahnschrift Light" panose="020B0502040204020203" pitchFamily="34" charset="0"/>
              </a:rPr>
              <a:t>омбинированный </a:t>
            </a:r>
            <a:r>
              <a:rPr lang="ru-RU" sz="2600" dirty="0" smtClean="0">
                <a:latin typeface="Bahnschrift Light" panose="020B0502040204020203" pitchFamily="34" charset="0"/>
              </a:rPr>
              <a:t>шифр</a:t>
            </a:r>
            <a:endParaRPr lang="en-US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>
                <a:latin typeface="Bahnschrift Light" panose="020B0502040204020203" pitchFamily="34" charset="0"/>
              </a:rPr>
              <a:t>На вход даётся текст и </a:t>
            </a:r>
            <a:r>
              <a:rPr lang="en-US" sz="2600" dirty="0" smtClean="0">
                <a:latin typeface="Bahnschrift Light" panose="020B0502040204020203" pitchFamily="34" charset="0"/>
              </a:rPr>
              <a:t>2 </a:t>
            </a:r>
            <a:r>
              <a:rPr lang="ru-RU" sz="2600" dirty="0" smtClean="0">
                <a:latin typeface="Bahnschrift Light" panose="020B0502040204020203" pitchFamily="34" charset="0"/>
              </a:rPr>
              <a:t>ключ</a:t>
            </a:r>
            <a:r>
              <a:rPr lang="en-US" sz="2600" dirty="0" smtClean="0">
                <a:latin typeface="Bahnschrift Light" panose="020B0502040204020203" pitchFamily="34" charset="0"/>
              </a:rPr>
              <a:t>a </a:t>
            </a:r>
            <a:r>
              <a:rPr lang="ru-RU" sz="2600" dirty="0" smtClean="0">
                <a:latin typeface="Bahnschrift Light" panose="020B0502040204020203" pitchFamily="34" charset="0"/>
              </a:rPr>
              <a:t>(</a:t>
            </a:r>
            <a:r>
              <a:rPr lang="ru-RU" sz="2600" dirty="0">
                <a:latin typeface="Bahnschrift Light" panose="020B0502040204020203" pitchFamily="34" charset="0"/>
              </a:rPr>
              <a:t>ключевое слово (</a:t>
            </a:r>
            <a:r>
              <a:rPr lang="en-US" sz="2600" dirty="0">
                <a:latin typeface="Bahnschrift Light" panose="020B0502040204020203" pitchFamily="34" charset="0"/>
              </a:rPr>
              <a:t>ADFGVX</a:t>
            </a:r>
            <a:r>
              <a:rPr lang="ru-RU" sz="2600" dirty="0">
                <a:latin typeface="Bahnschrift Light" panose="020B0502040204020203" pitchFamily="34" charset="0"/>
              </a:rPr>
              <a:t>) и ключевое слово для перестановки </a:t>
            </a:r>
            <a:r>
              <a:rPr lang="ru-RU" sz="2600" dirty="0" smtClean="0">
                <a:latin typeface="Bahnschrift Light" panose="020B0502040204020203" pitchFamily="34" charset="0"/>
              </a:rPr>
              <a:t>столбцов), </a:t>
            </a:r>
            <a:r>
              <a:rPr lang="ru-RU" sz="2600" dirty="0">
                <a:latin typeface="Bahnschrift Light" panose="020B0502040204020203" pitchFamily="34" charset="0"/>
              </a:rPr>
              <a:t>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en-US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</a:t>
            </a:r>
            <a:r>
              <a:rPr lang="ru-RU" sz="2600" dirty="0" smtClean="0">
                <a:latin typeface="Bahnschrift Light" panose="020B0502040204020203" pitchFamily="34" charset="0"/>
              </a:rPr>
              <a:t>атаки грубой силы: O(36! * L!), где 36 – размер алфавита, L – длина ключа перестановки (L ≤ N)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5122" name="Picture 2" descr="https://sun9-20.vkuserphoto.ru/s/v1/ig2/2r7mLY83yYYZTsc4_ghmfUFdYdKwryU6Zl9IRaczuQZ_reyoT_Hc3r_7pxViLTlyfIENtaO5n29Q0_k4NXAJ_I4F.jpg?quality=95&amp;as=32x15,48x22,72x33,108x49,160x73,240x109,360x163,480x218,540x245,640x290,720x327,943x428&amp;from=bu&amp;cs=943x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" t="6545" r="6493" b="9137"/>
          <a:stretch/>
        </p:blipFill>
        <p:spPr bwMode="auto">
          <a:xfrm>
            <a:off x="3757187" y="4286815"/>
            <a:ext cx="6047714" cy="250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443" y="0"/>
            <a:ext cx="2217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0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Описание варианта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36326"/>
            <a:ext cx="10515600" cy="5236078"/>
          </a:xfrm>
        </p:spPr>
        <p:txBody>
          <a:bodyPr>
            <a:noAutofit/>
          </a:bodyPr>
          <a:lstStyle/>
          <a:p>
            <a:r>
              <a:rPr lang="ru-RU" sz="1800" dirty="0" smtClean="0">
                <a:latin typeface="Bahnschrift Light" panose="020B0502040204020203" pitchFamily="34" charset="0"/>
              </a:rPr>
              <a:t>Вариант 2 </a:t>
            </a:r>
          </a:p>
          <a:p>
            <a:pPr marL="0" indent="0">
              <a:buNone/>
            </a:pPr>
            <a:r>
              <a:rPr lang="ru-RU" sz="1800" dirty="0">
                <a:latin typeface="Bahnschrift Light" panose="020B0502040204020203" pitchFamily="34" charset="0"/>
              </a:rPr>
              <a:t>Зашифровать строку байт P способом, основанным на </a:t>
            </a:r>
            <a:r>
              <a:rPr lang="ru-RU" sz="1800" dirty="0" smtClean="0">
                <a:latin typeface="Bahnschrift Light" panose="020B0502040204020203" pitchFamily="34" charset="0"/>
              </a:rPr>
              <a:t>операции маршрутной </a:t>
            </a:r>
            <a:r>
              <a:rPr lang="ru-RU" sz="1800" dirty="0">
                <a:latin typeface="Bahnschrift Light" panose="020B0502040204020203" pitchFamily="34" charset="0"/>
              </a:rPr>
              <a:t>перестановки (прототипом служит шифр «Изгородь»). Алфавитом этого сообщения является множество B размера |B|. Ключом шифрования является два целых числа – количество строк K1 в трафарете и смещение K2 записи в трафарет. Трафарет для перестановки является таблицей с числом строк К1 и числом столбцов равным длине исходной строки, увеличенной на К2. Свободные клетки трафарета, т. е. те, в которые допустима </a:t>
            </a:r>
            <a:r>
              <a:rPr lang="ru-RU" sz="1800" dirty="0" smtClean="0">
                <a:latin typeface="Bahnschrift Light" panose="020B0502040204020203" pitchFamily="34" charset="0"/>
              </a:rPr>
              <a:t>запись байт</a:t>
            </a:r>
            <a:r>
              <a:rPr lang="ru-RU" sz="1800" dirty="0">
                <a:latin typeface="Bahnschrift Light" panose="020B0502040204020203" pitchFamily="34" charset="0"/>
              </a:rPr>
              <a:t>, образуют зигзаг с началом в левом верхнем углу таблицы. </a:t>
            </a:r>
            <a:r>
              <a:rPr lang="ru-RU" sz="1800" dirty="0" smtClean="0">
                <a:latin typeface="Bahnschrift Light" panose="020B0502040204020203" pitchFamily="34" charset="0"/>
              </a:rPr>
              <a:t>Шифруемая строка </a:t>
            </a:r>
            <a:r>
              <a:rPr lang="ru-RU" sz="1800" dirty="0">
                <a:latin typeface="Bahnschrift Light" panose="020B0502040204020203" pitchFamily="34" charset="0"/>
              </a:rPr>
              <a:t>записывается в свободные клетки трафарета, со смещением K2 относительно первой свободной. Шифровка получается путём считывания и конкатенации записанных с помощью трафарета байт в направлении сверху </a:t>
            </a:r>
            <a:r>
              <a:rPr lang="ru-RU" sz="1800" dirty="0" smtClean="0">
                <a:latin typeface="Bahnschrift Light" panose="020B0502040204020203" pitchFamily="34" charset="0"/>
              </a:rPr>
              <a:t>вниз и </a:t>
            </a:r>
            <a:r>
              <a:rPr lang="ru-RU" sz="1800" dirty="0">
                <a:latin typeface="Bahnschrift Light" panose="020B0502040204020203" pitchFamily="34" charset="0"/>
              </a:rPr>
              <a:t>слева направо</a:t>
            </a:r>
            <a:r>
              <a:rPr lang="ru-RU" sz="1800" dirty="0" smtClean="0">
                <a:latin typeface="Bahnschrift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1800" dirty="0">
                <a:latin typeface="Bahnschrift Light" panose="020B0502040204020203" pitchFamily="34" charset="0"/>
              </a:rPr>
              <a:t>ПРИМЕР:</a:t>
            </a:r>
          </a:p>
          <a:p>
            <a:pPr marL="0" indent="0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P = {75,73,76,73,77,81,74, 78, 77,75,77}, |P|= 11;</a:t>
            </a:r>
          </a:p>
          <a:p>
            <a:pPr marL="0" indent="0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B = {72, … , 79, 80, 81}, |B|=10;</a:t>
            </a:r>
          </a:p>
          <a:p>
            <a:pPr marL="0" indent="0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K1= 3</a:t>
            </a:r>
          </a:p>
          <a:p>
            <a:pPr marL="0" indent="0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K2= 2</a:t>
            </a:r>
          </a:p>
          <a:p>
            <a:pPr marL="0" indent="0">
              <a:buNone/>
            </a:pPr>
            <a:r>
              <a:rPr lang="en-US" sz="1800" dirty="0">
                <a:latin typeface="Bahnschrift Light" panose="020B0502040204020203" pitchFamily="34" charset="0"/>
              </a:rPr>
              <a:t>C={ 76, 74, 77, 73, 73, 81,78, 75, 75, 77, 77}, |C|=11</a:t>
            </a:r>
            <a:r>
              <a:rPr lang="en-US" sz="1800" dirty="0" smtClean="0">
                <a:latin typeface="Bahnschrift Light" panose="020B0502040204020203" pitchFamily="34" charset="0"/>
              </a:rPr>
              <a:t>.</a:t>
            </a:r>
            <a:endParaRPr lang="ru-RU" sz="18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6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365" y="0"/>
            <a:ext cx="1760838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Шифр «Изгородь»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862996" cy="4351338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Bahnschrift Light" panose="020B0502040204020203" pitchFamily="34" charset="0"/>
              </a:rPr>
              <a:t>Перестановочный шифр</a:t>
            </a:r>
            <a:endParaRPr lang="en-US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На </a:t>
            </a:r>
            <a:r>
              <a:rPr lang="ru-RU" sz="2600" dirty="0">
                <a:latin typeface="Bahnschrift Light" panose="020B0502040204020203" pitchFamily="34" charset="0"/>
              </a:rPr>
              <a:t>вход даётся текст и </a:t>
            </a:r>
            <a:r>
              <a:rPr lang="en-US" sz="2600" dirty="0">
                <a:latin typeface="Bahnschrift Light" panose="020B0502040204020203" pitchFamily="34" charset="0"/>
              </a:rPr>
              <a:t>2 </a:t>
            </a:r>
            <a:r>
              <a:rPr lang="ru-RU" sz="2600" dirty="0">
                <a:latin typeface="Bahnschrift Light" panose="020B0502040204020203" pitchFamily="34" charset="0"/>
              </a:rPr>
              <a:t>ключ</a:t>
            </a:r>
            <a:r>
              <a:rPr lang="en-US" sz="2600" dirty="0">
                <a:latin typeface="Bahnschrift Light" panose="020B0502040204020203" pitchFamily="34" charset="0"/>
              </a:rPr>
              <a:t>a </a:t>
            </a:r>
            <a:r>
              <a:rPr lang="ru-RU" sz="2600" dirty="0" smtClean="0">
                <a:latin typeface="Bahnschrift Light" panose="020B0502040204020203" pitchFamily="34" charset="0"/>
              </a:rPr>
              <a:t>(два целых числа</a:t>
            </a:r>
            <a:r>
              <a:rPr lang="en-US" sz="2600" dirty="0" smtClean="0">
                <a:latin typeface="Bahnschrift Light" panose="020B0502040204020203" pitchFamily="34" charset="0"/>
              </a:rPr>
              <a:t> &gt;0</a:t>
            </a:r>
            <a:r>
              <a:rPr lang="ru-RU" sz="2600" dirty="0" smtClean="0">
                <a:latin typeface="Bahnschrift Light" panose="020B0502040204020203" pitchFamily="34" charset="0"/>
              </a:rPr>
              <a:t>: количество столбцов и сдвиг), </a:t>
            </a:r>
            <a:r>
              <a:rPr lang="ru-RU" sz="2600" dirty="0">
                <a:latin typeface="Bahnschrift Light" panose="020B0502040204020203" pitchFamily="34" charset="0"/>
              </a:rPr>
              <a:t>возвращает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</a:t>
            </a:r>
            <a:endParaRPr lang="ru-RU" sz="2600" dirty="0" smtClean="0">
              <a:latin typeface="Bahnschrift Light" panose="020B0502040204020203" pitchFamily="34" charset="0"/>
            </a:endParaRPr>
          </a:p>
          <a:p>
            <a:r>
              <a:rPr lang="ru-RU" sz="2600" dirty="0" smtClean="0">
                <a:latin typeface="Bahnschrift Light" panose="020B0502040204020203" pitchFamily="34" charset="0"/>
              </a:rPr>
              <a:t>Сложность атаки грубой силы: O(N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), N – длина </a:t>
            </a:r>
            <a:r>
              <a:rPr lang="ru-RU" sz="2600" dirty="0" err="1" smtClean="0">
                <a:latin typeface="Bahnschrift Light" panose="020B0502040204020203" pitchFamily="34" charset="0"/>
              </a:rPr>
              <a:t>шифротекста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  <p:pic>
        <p:nvPicPr>
          <p:cNvPr id="8" name="Picture 2" descr="https://sun9-28.vkuserphoto.ru/s/v1/ig2/fj3r-S9ut8c-qC1tMKK4Ye70H0btDUFitu0-9IMHIQ0xMw5wXx9S4-g9Nbva7r5a5rPC3XozbFdDkaCLG3oVwZJj.jpg?quality=95&amp;as=32x20,48x30,72x45,108x67,160x99,240x149,360x223,480x298,540x335,571x354&amp;from=bu&amp;u=XLhyxEYqinDjbjhdr8zhSfrG34emX8bR-9iV5I_skPc&amp;cs=571x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t="7048" r="29866" b="4883"/>
          <a:stretch/>
        </p:blipFill>
        <p:spPr bwMode="auto">
          <a:xfrm>
            <a:off x="5332491" y="3730027"/>
            <a:ext cx="3558012" cy="296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93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Заключение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600" dirty="0" smtClean="0">
                <a:latin typeface="Bahnschrift Light" panose="020B0502040204020203" pitchFamily="34" charset="0"/>
              </a:rPr>
              <a:t>Повышена компетентность в сфере формальной криптографии по шифрам: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шифр </a:t>
            </a:r>
            <a:r>
              <a:rPr lang="ru-RU" sz="2600" dirty="0" err="1" smtClean="0">
                <a:latin typeface="Bahnschrift Light" panose="020B0502040204020203" pitchFamily="34" charset="0"/>
              </a:rPr>
              <a:t>Scytale</a:t>
            </a:r>
            <a:r>
              <a:rPr lang="ru-RU" sz="2600" dirty="0" smtClean="0">
                <a:latin typeface="Bahnschrift Light" panose="020B0502040204020203" pitchFamily="34" charset="0"/>
              </a:rPr>
              <a:t> — перестановочный; ключ — целое число (толщина палки); сложность O(N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агентурный шифр — </a:t>
            </a:r>
            <a:r>
              <a:rPr lang="ru-RU" sz="2600" dirty="0" err="1" smtClean="0">
                <a:latin typeface="Bahnschrift Light" panose="020B0502040204020203" pitchFamily="34" charset="0"/>
              </a:rPr>
              <a:t>моноалфавитный</a:t>
            </a:r>
            <a:r>
              <a:rPr lang="ru-RU" sz="2600" dirty="0" smtClean="0">
                <a:latin typeface="Bahnschrift Light" panose="020B0502040204020203" pitchFamily="34" charset="0"/>
              </a:rPr>
              <a:t> комбинированный; ключ — слово + сдвиг; сложность O(M!).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шифр </a:t>
            </a:r>
            <a:r>
              <a:rPr lang="ru-RU" sz="2600" dirty="0" err="1" smtClean="0">
                <a:latin typeface="Bahnschrift Light" panose="020B0502040204020203" pitchFamily="34" charset="0"/>
              </a:rPr>
              <a:t>Виженера</a:t>
            </a:r>
            <a:r>
              <a:rPr lang="ru-RU" sz="2600" dirty="0" smtClean="0">
                <a:latin typeface="Bahnschrift Light" panose="020B0502040204020203" pitchFamily="34" charset="0"/>
              </a:rPr>
              <a:t> — </a:t>
            </a:r>
            <a:r>
              <a:rPr lang="ru-RU" sz="2600" dirty="0" err="1" smtClean="0">
                <a:latin typeface="Bahnschrift Light" panose="020B0502040204020203" pitchFamily="34" charset="0"/>
              </a:rPr>
              <a:t>моноалфавитный</a:t>
            </a:r>
            <a:r>
              <a:rPr lang="ru-RU" sz="2600" dirty="0" smtClean="0">
                <a:latin typeface="Bahnschrift Light" panose="020B0502040204020203" pitchFamily="34" charset="0"/>
              </a:rPr>
              <a:t> шифр замены; ключ — слово; сложность O(A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L</a:t>
            </a:r>
            <a:r>
              <a:rPr lang="ru-RU" sz="2600" dirty="0" smtClean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шифр Хилла — матричный </a:t>
            </a:r>
            <a:r>
              <a:rPr lang="ru-RU" sz="2600" dirty="0" err="1" smtClean="0">
                <a:latin typeface="Bahnschrift Light" panose="020B0502040204020203" pitchFamily="34" charset="0"/>
              </a:rPr>
              <a:t>моноалфавитный</a:t>
            </a:r>
            <a:r>
              <a:rPr lang="ru-RU" sz="2600" dirty="0" smtClean="0">
                <a:latin typeface="Bahnschrift Light" panose="020B0502040204020203" pitchFamily="34" charset="0"/>
              </a:rPr>
              <a:t>; ключ — обратимая матрица n*n; сложность O(M^(n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шифр ADFGVX — комбинированный; ключ — два слова; сложность O(36! * L!).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>
                <a:latin typeface="Bahnschrift Light" panose="020B0502040204020203" pitchFamily="34" charset="0"/>
              </a:rPr>
              <a:t>Изучен шифр «Изгородь» — перестановочный; ключ — число строк и сдвиг; сложность O(N</a:t>
            </a:r>
            <a:r>
              <a:rPr lang="ru-RU" sz="2600" baseline="30000" dirty="0" smtClean="0">
                <a:latin typeface="Bahnschrift Light" panose="020B0502040204020203" pitchFamily="34" charset="0"/>
              </a:rPr>
              <a:t>2</a:t>
            </a:r>
            <a:r>
              <a:rPr lang="ru-RU" sz="2600" dirty="0" smtClean="0">
                <a:latin typeface="Bahnschrift Light" panose="020B0502040204020203" pitchFamily="34" charset="0"/>
              </a:rPr>
              <a:t>).</a:t>
            </a:r>
            <a:endParaRPr lang="ru-RU" sz="26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6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665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Bahnschrift Light</vt:lpstr>
      <vt:lpstr>Calibri</vt:lpstr>
      <vt:lpstr>Calibri Light</vt:lpstr>
      <vt:lpstr>Тема Office</vt:lpstr>
      <vt:lpstr>Изучение классических шифров</vt:lpstr>
      <vt:lpstr>Цель и задачи</vt:lpstr>
      <vt:lpstr>Шифр Scytale</vt:lpstr>
      <vt:lpstr>Агентурный шифр</vt:lpstr>
      <vt:lpstr>Шифр Виженера</vt:lpstr>
      <vt:lpstr>Шифр Хилла</vt:lpstr>
      <vt:lpstr>Шифр ADFGVX</vt:lpstr>
      <vt:lpstr>Описание варианта</vt:lpstr>
      <vt:lpstr>Шифр «Изгородь»</vt:lpstr>
      <vt:lpstr>Заключение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Изучение к</dc:title>
  <dc:creator>mazer300</dc:creator>
  <cp:lastModifiedBy>mazer300</cp:lastModifiedBy>
  <cp:revision>14</cp:revision>
  <dcterms:created xsi:type="dcterms:W3CDTF">2026-09-17T17:31:40Z</dcterms:created>
  <dcterms:modified xsi:type="dcterms:W3CDTF">2026-09-30T14:40:57Z</dcterms:modified>
</cp:coreProperties>
</file>