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78" r:id="rId6"/>
    <p:sldId id="279" r:id="rId7"/>
    <p:sldId id="280" r:id="rId8"/>
    <p:sldId id="281" r:id="rId9"/>
    <p:sldId id="283" r:id="rId10"/>
    <p:sldId id="284" r:id="rId11"/>
    <p:sldId id="285" r:id="rId12"/>
    <p:sldId id="282" r:id="rId13"/>
    <p:sldId id="287" r:id="rId14"/>
    <p:sldId id="286" r:id="rId15"/>
    <p:sldId id="288" r:id="rId16"/>
    <p:sldId id="289" r:id="rId17"/>
    <p:sldId id="264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4946423-BCAA-41E6-8C1C-457C5AA0622B}">
          <p14:sldIdLst>
            <p14:sldId id="256"/>
            <p14:sldId id="257"/>
            <p14:sldId id="258"/>
            <p14:sldId id="266"/>
            <p14:sldId id="278"/>
            <p14:sldId id="279"/>
            <p14:sldId id="280"/>
            <p14:sldId id="281"/>
            <p14:sldId id="283"/>
            <p14:sldId id="284"/>
            <p14:sldId id="285"/>
            <p14:sldId id="282"/>
            <p14:sldId id="287"/>
            <p14:sldId id="286"/>
            <p14:sldId id="288"/>
            <p14:sldId id="289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93556" autoAdjust="0"/>
  </p:normalViewPr>
  <p:slideViewPr>
    <p:cSldViewPr snapToGrid="0" showGuides="1">
      <p:cViewPr varScale="1">
        <p:scale>
          <a:sx n="105" d="100"/>
          <a:sy n="105" d="100"/>
        </p:scale>
        <p:origin x="936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973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295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551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3250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54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44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919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048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594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2362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5393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06866-A500-44C9-916D-E8E8D08F175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586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553077"/>
            <a:ext cx="9144000" cy="1870547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Bahnschrift Light" panose="020B0502040204020203" pitchFamily="34" charset="0"/>
              </a:rPr>
              <a:t>Изучение шифров </a:t>
            </a:r>
            <a:r>
              <a:rPr lang="en-US" dirty="0">
                <a:latin typeface="Bahnschrift Light" panose="020B0502040204020203" pitchFamily="34" charset="0"/>
              </a:rPr>
              <a:t>AES </a:t>
            </a:r>
            <a:r>
              <a:rPr lang="ru-RU" dirty="0">
                <a:latin typeface="Bahnschrift Light" panose="020B0502040204020203" pitchFamily="34" charset="0"/>
              </a:rPr>
              <a:t>и </a:t>
            </a:r>
            <a:r>
              <a:rPr lang="ru-RU" dirty="0" smtClean="0">
                <a:latin typeface="Bahnschrift Light" panose="020B0502040204020203" pitchFamily="34" charset="0"/>
              </a:rPr>
              <a:t>Кузнечик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42931" y="2271178"/>
            <a:ext cx="9144000" cy="444862"/>
          </a:xfrm>
        </p:spPr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Лабораторная работа №3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b="0" i="0" dirty="0" smtClean="0">
                <a:solidFill>
                  <a:srgbClr val="000000"/>
                </a:solidFill>
                <a:effectLst/>
                <a:latin typeface="Bahnschrift Light" panose="020B0502040204020203" pitchFamily="34" charset="0"/>
              </a:rPr>
              <a:t>Санкт-Петербургский государственный электротехнический университет «ЛЭТИ» им. В.И. Ульянова (Ленина)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899486" y="6488668"/>
            <a:ext cx="25843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0" i="0" dirty="0" smtClean="0">
                <a:solidFill>
                  <a:srgbClr val="000000"/>
                </a:solidFill>
                <a:effectLst/>
                <a:latin typeface="Bahnschrift Light" panose="020B0502040204020203" pitchFamily="34" charset="0"/>
              </a:rPr>
              <a:t>Санкт-Петербург 2026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096000" y="502239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0" dirty="0" smtClean="0">
                <a:solidFill>
                  <a:srgbClr val="000000"/>
                </a:solidFill>
                <a:effectLst/>
                <a:latin typeface="Bahnschrift Light" panose="020B0502040204020203" pitchFamily="34" charset="0"/>
              </a:rPr>
              <a:t>Студент: </a:t>
            </a:r>
            <a:r>
              <a:rPr lang="ru-RU" b="0" dirty="0" err="1" smtClean="0">
                <a:solidFill>
                  <a:srgbClr val="000000"/>
                </a:solidFill>
                <a:effectLst/>
                <a:latin typeface="Bahnschrift Light" panose="020B0502040204020203" pitchFamily="34" charset="0"/>
              </a:rPr>
              <a:t>Тукалкин</a:t>
            </a:r>
            <a:r>
              <a:rPr lang="ru-RU" b="0" dirty="0" smtClean="0">
                <a:solidFill>
                  <a:srgbClr val="000000"/>
                </a:solidFill>
                <a:effectLst/>
                <a:latin typeface="Bahnschrift Light" panose="020B0502040204020203" pitchFamily="34" charset="0"/>
              </a:rPr>
              <a:t> В.А., группа 3344</a:t>
            </a:r>
          </a:p>
          <a:p>
            <a:r>
              <a:rPr lang="ru-RU" b="0" dirty="0" smtClean="0">
                <a:solidFill>
                  <a:srgbClr val="000000"/>
                </a:solidFill>
                <a:effectLst/>
                <a:latin typeface="Bahnschrift Light" panose="020B0502040204020203" pitchFamily="34" charset="0"/>
              </a:rPr>
              <a:t>Преподаватель: Племянников А.К., доцент каф. ИБ</a:t>
            </a:r>
            <a:endParaRPr lang="ru-RU" b="0" dirty="0">
              <a:solidFill>
                <a:srgbClr val="000000"/>
              </a:solidFill>
              <a:effectLst/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047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Цель и задачи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smtClean="0">
                <a:latin typeface="Bahnschrift Light" panose="020B0502040204020203" pitchFamily="34" charset="0"/>
              </a:rPr>
              <a:t>Цель: повышение компетентности в сфере симметричных блочных шифров: изучение </a:t>
            </a:r>
            <a:r>
              <a:rPr lang="en-US" dirty="0" smtClean="0">
                <a:latin typeface="Bahnschrift Light" panose="020B0502040204020203" pitchFamily="34" charset="0"/>
              </a:rPr>
              <a:t>AES </a:t>
            </a:r>
            <a:r>
              <a:rPr lang="ru-RU" dirty="0" smtClean="0">
                <a:latin typeface="Bahnschrift Light" panose="020B0502040204020203" pitchFamily="34" charset="0"/>
              </a:rPr>
              <a:t>и Кузнечик.</a:t>
            </a:r>
          </a:p>
          <a:p>
            <a:pPr marL="0" indent="0">
              <a:buNone/>
            </a:pPr>
            <a:endParaRPr lang="ru-RU" dirty="0" smtClean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dirty="0" smtClean="0">
                <a:latin typeface="Bahnschrift Light" panose="020B0502040204020203" pitchFamily="34" charset="0"/>
              </a:rPr>
              <a:t>Задачи:</a:t>
            </a:r>
            <a:br>
              <a:rPr lang="ru-RU" dirty="0" smtClean="0">
                <a:latin typeface="Bahnschrift Light" panose="020B0502040204020203" pitchFamily="34" charset="0"/>
              </a:rPr>
            </a:br>
            <a:r>
              <a:rPr lang="ru-RU" dirty="0" smtClean="0">
                <a:latin typeface="Bahnschrift Light" panose="020B0502040204020203" pitchFamily="34" charset="0"/>
              </a:rPr>
              <a:t>1) Изучить шифр </a:t>
            </a:r>
            <a:r>
              <a:rPr lang="en-US" dirty="0">
                <a:latin typeface="Bahnschrift Light" panose="020B0502040204020203" pitchFamily="34" charset="0"/>
              </a:rPr>
              <a:t>A</a:t>
            </a:r>
            <a:r>
              <a:rPr lang="en-US" dirty="0" smtClean="0">
                <a:latin typeface="Bahnschrift Light" panose="020B0502040204020203" pitchFamily="34" charset="0"/>
              </a:rPr>
              <a:t>ES</a:t>
            </a:r>
            <a:endParaRPr lang="ru-RU" dirty="0" smtClean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dirty="0" smtClean="0">
                <a:latin typeface="Bahnschrift Light" panose="020B0502040204020203" pitchFamily="34" charset="0"/>
              </a:rPr>
              <a:t>2) Изучить шифр </a:t>
            </a:r>
            <a:r>
              <a:rPr lang="en-US" dirty="0" smtClean="0">
                <a:latin typeface="Bahnschrift Light" panose="020B0502040204020203" pitchFamily="34" charset="0"/>
              </a:rPr>
              <a:t>AES-CBC</a:t>
            </a:r>
            <a:r>
              <a:rPr lang="ru-RU" dirty="0" smtClean="0">
                <a:latin typeface="Bahnschrift Light" panose="020B0502040204020203" pitchFamily="34" charset="0"/>
              </a:rPr>
              <a:t> </a:t>
            </a:r>
          </a:p>
          <a:p>
            <a:pPr marL="0" indent="0">
              <a:buNone/>
            </a:pPr>
            <a:r>
              <a:rPr lang="ru-RU" dirty="0" smtClean="0">
                <a:latin typeface="Bahnschrift Light" panose="020B0502040204020203" pitchFamily="34" charset="0"/>
              </a:rPr>
              <a:t>3)  Изучить шифр </a:t>
            </a:r>
            <a:r>
              <a:rPr lang="ru-RU" dirty="0">
                <a:latin typeface="Bahnschrift Light" panose="020B0502040204020203" pitchFamily="34" charset="0"/>
              </a:rPr>
              <a:t>«Кузнечик»</a:t>
            </a:r>
            <a:endParaRPr lang="ru-RU" dirty="0" smtClean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dirty="0">
                <a:latin typeface="Bahnschrift Light" panose="020B0502040204020203" pitchFamily="34" charset="0"/>
              </a:rPr>
              <a:t>4</a:t>
            </a:r>
            <a:r>
              <a:rPr lang="ru-RU" dirty="0" smtClean="0">
                <a:latin typeface="Bahnschrift Light" panose="020B0502040204020203" pitchFamily="34" charset="0"/>
              </a:rPr>
              <a:t>) Изучить раундовые преобразования </a:t>
            </a:r>
            <a:r>
              <a:rPr lang="en-US" dirty="0" smtClean="0">
                <a:latin typeface="Bahnschrift Light" panose="020B0502040204020203" pitchFamily="34" charset="0"/>
              </a:rPr>
              <a:t>AES </a:t>
            </a:r>
            <a:r>
              <a:rPr lang="ru-RU" dirty="0" smtClean="0">
                <a:latin typeface="Bahnschrift Light" panose="020B0502040204020203" pitchFamily="34" charset="0"/>
              </a:rPr>
              <a:t>в </a:t>
            </a:r>
            <a:r>
              <a:rPr lang="en-US" dirty="0" err="1" smtClean="0">
                <a:latin typeface="Bahnschrift Light" panose="020B0502040204020203" pitchFamily="34" charset="0"/>
              </a:rPr>
              <a:t>cryptool</a:t>
            </a:r>
            <a:r>
              <a:rPr lang="en-US" dirty="0" smtClean="0">
                <a:latin typeface="Bahnschrift Light" panose="020B0502040204020203" pitchFamily="34" charset="0"/>
              </a:rPr>
              <a:t> 2</a:t>
            </a:r>
            <a:endParaRPr lang="ru-RU" dirty="0" smtClean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dirty="0">
                <a:latin typeface="Bahnschrift Light" panose="020B0502040204020203" pitchFamily="34" charset="0"/>
              </a:rPr>
              <a:t>5</a:t>
            </a:r>
            <a:r>
              <a:rPr lang="ru-RU" dirty="0" smtClean="0">
                <a:latin typeface="Bahnschrift Light" panose="020B0502040204020203" pitchFamily="34" charset="0"/>
              </a:rPr>
              <a:t>) Провести исследование </a:t>
            </a:r>
            <a:r>
              <a:rPr lang="ru-RU" dirty="0" err="1" smtClean="0">
                <a:latin typeface="Bahnschrift Light" panose="020B0502040204020203" pitchFamily="34" charset="0"/>
              </a:rPr>
              <a:t>криптостойкости</a:t>
            </a:r>
            <a:r>
              <a:rPr lang="ru-RU" dirty="0" smtClean="0">
                <a:latin typeface="Bahnschrift Light" panose="020B0502040204020203" pitchFamily="34" charset="0"/>
              </a:rPr>
              <a:t> </a:t>
            </a:r>
            <a:r>
              <a:rPr lang="en-US" dirty="0" smtClean="0">
                <a:latin typeface="Bahnschrift Light" panose="020B0502040204020203" pitchFamily="34" charset="0"/>
              </a:rPr>
              <a:t>AES-CBC</a:t>
            </a:r>
            <a:endParaRPr lang="ru-RU" dirty="0" smtClean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dirty="0" smtClean="0">
                <a:latin typeface="Bahnschrift Light" panose="020B0502040204020203" pitchFamily="34" charset="0"/>
              </a:rPr>
              <a:t>6) Разработать программ упрощённого преобразования шифра «Кузнечик» для вариант 2.</a:t>
            </a:r>
            <a:endParaRPr lang="ru-RU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63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Шифр </a:t>
            </a:r>
            <a:r>
              <a:rPr lang="en-US" dirty="0" smtClean="0">
                <a:latin typeface="Bahnschrift Light" panose="020B0502040204020203" pitchFamily="34" charset="0"/>
              </a:rPr>
              <a:t>AES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472184"/>
            <a:ext cx="9899211" cy="5166360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ru-RU" sz="2600" dirty="0">
                <a:latin typeface="Bahnschrift Light" panose="020B0502040204020203" pitchFamily="34" charset="0"/>
              </a:rPr>
              <a:t>Основные параметры</a:t>
            </a:r>
            <a:r>
              <a:rPr lang="ru-RU" sz="2600" dirty="0" smtClean="0">
                <a:latin typeface="Bahnschrift Light" panose="020B0502040204020203" pitchFamily="34" charset="0"/>
              </a:rPr>
              <a:t>:</a:t>
            </a:r>
            <a:endParaRPr lang="ru-RU" sz="2600" dirty="0">
              <a:latin typeface="Bahnschrift Light" panose="020B0502040204020203" pitchFamily="34" charset="0"/>
            </a:endParaRPr>
          </a:p>
          <a:p>
            <a:r>
              <a:rPr lang="ru-RU" sz="2600" dirty="0">
                <a:latin typeface="Bahnschrift Light" panose="020B0502040204020203" pitchFamily="34" charset="0"/>
              </a:rPr>
              <a:t>Размер блока: 128 бит (16 байт)</a:t>
            </a:r>
          </a:p>
          <a:p>
            <a:r>
              <a:rPr lang="ru-RU" sz="2600" dirty="0" smtClean="0">
                <a:latin typeface="Bahnschrift Light" panose="020B0502040204020203" pitchFamily="34" charset="0"/>
              </a:rPr>
              <a:t>Размер </a:t>
            </a:r>
            <a:r>
              <a:rPr lang="ru-RU" sz="2600" dirty="0">
                <a:latin typeface="Bahnschrift Light" panose="020B0502040204020203" pitchFamily="34" charset="0"/>
              </a:rPr>
              <a:t>ключа: 128, 192 или 256 </a:t>
            </a:r>
            <a:r>
              <a:rPr lang="ru-RU" sz="2600" dirty="0" smtClean="0">
                <a:latin typeface="Bahnschrift Light" panose="020B0502040204020203" pitchFamily="34" charset="0"/>
              </a:rPr>
              <a:t>бит</a:t>
            </a:r>
            <a:endParaRPr lang="ru-RU" sz="2600" dirty="0">
              <a:latin typeface="Bahnschrift Light" panose="020B0502040204020203" pitchFamily="34" charset="0"/>
            </a:endParaRPr>
          </a:p>
          <a:p>
            <a:r>
              <a:rPr lang="ru-RU" sz="2600" dirty="0">
                <a:latin typeface="Bahnschrift Light" panose="020B0502040204020203" pitchFamily="34" charset="0"/>
              </a:rPr>
              <a:t>Число раундов: 10, 12 или 14 (соответственно)</a:t>
            </a:r>
          </a:p>
          <a:p>
            <a:r>
              <a:rPr lang="ru-RU" sz="2600" dirty="0" smtClean="0">
                <a:latin typeface="Bahnschrift Light" panose="020B0502040204020203" pitchFamily="34" charset="0"/>
              </a:rPr>
              <a:t>Структура</a:t>
            </a:r>
            <a:r>
              <a:rPr lang="ru-RU" sz="2600" dirty="0">
                <a:latin typeface="Bahnschrift Light" panose="020B0502040204020203" pitchFamily="34" charset="0"/>
              </a:rPr>
              <a:t>: SP-сеть (подстановочно-перестановочная)</a:t>
            </a:r>
          </a:p>
          <a:p>
            <a:r>
              <a:rPr lang="ru-RU" sz="2600" dirty="0" smtClean="0">
                <a:latin typeface="Bahnschrift Light" panose="020B0502040204020203" pitchFamily="34" charset="0"/>
              </a:rPr>
              <a:t>Длина </a:t>
            </a:r>
            <a:r>
              <a:rPr lang="ru-RU" sz="2600" dirty="0">
                <a:latin typeface="Bahnschrift Light" panose="020B0502040204020203" pitchFamily="34" charset="0"/>
              </a:rPr>
              <a:t>раундового ключа: 128 бит</a:t>
            </a:r>
            <a:endParaRPr lang="ru-RU" sz="2600" dirty="0" smtClean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sz="2600" dirty="0" smtClean="0">
                <a:latin typeface="Bahnschrift Light" panose="020B0502040204020203" pitchFamily="34" charset="0"/>
              </a:rPr>
              <a:t>Вход: </a:t>
            </a:r>
          </a:p>
          <a:p>
            <a:r>
              <a:rPr lang="ru-RU" sz="2600" dirty="0">
                <a:latin typeface="Bahnschrift Light" panose="020B0502040204020203" pitchFamily="34" charset="0"/>
              </a:rPr>
              <a:t>M (открытый текст, 128 бит</a:t>
            </a:r>
            <a:r>
              <a:rPr lang="ru-RU" sz="2600" dirty="0" smtClean="0">
                <a:latin typeface="Bahnschrift Light" panose="020B0502040204020203" pitchFamily="34" charset="0"/>
              </a:rPr>
              <a:t>),</a:t>
            </a:r>
            <a:endParaRPr lang="ru-RU" sz="2600" dirty="0">
              <a:latin typeface="Bahnschrift Light" panose="020B0502040204020203" pitchFamily="34" charset="0"/>
            </a:endParaRPr>
          </a:p>
          <a:p>
            <a:r>
              <a:rPr lang="ru-RU" sz="2600" dirty="0">
                <a:latin typeface="Bahnschrift Light" panose="020B0502040204020203" pitchFamily="34" charset="0"/>
              </a:rPr>
              <a:t>K (ключ, 128/192/256 бит</a:t>
            </a:r>
            <a:r>
              <a:rPr lang="ru-RU" sz="2600" dirty="0" smtClean="0">
                <a:latin typeface="Bahnschrift Light" panose="020B0502040204020203" pitchFamily="34" charset="0"/>
              </a:rPr>
              <a:t>)</a:t>
            </a:r>
          </a:p>
          <a:p>
            <a:endParaRPr lang="ru-RU" sz="2600" dirty="0" smtClean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sz="2600" dirty="0" smtClean="0">
                <a:latin typeface="Bahnschrift Light" panose="020B0502040204020203" pitchFamily="34" charset="0"/>
              </a:rPr>
              <a:t>Выход: </a:t>
            </a:r>
          </a:p>
          <a:p>
            <a:r>
              <a:rPr lang="ru-RU" sz="2600" dirty="0" smtClean="0">
                <a:latin typeface="Bahnschrift Light" panose="020B0502040204020203" pitchFamily="34" charset="0"/>
              </a:rPr>
              <a:t>C (</a:t>
            </a:r>
            <a:r>
              <a:rPr lang="ru-RU" sz="2600" dirty="0" err="1" smtClean="0">
                <a:latin typeface="Bahnschrift Light" panose="020B0502040204020203" pitchFamily="34" charset="0"/>
              </a:rPr>
              <a:t>шифртекст</a:t>
            </a:r>
            <a:r>
              <a:rPr lang="ru-RU" sz="2600" dirty="0" smtClean="0">
                <a:latin typeface="Bahnschrift Light" panose="020B0502040204020203" pitchFamily="34" charset="0"/>
              </a:rPr>
              <a:t>, 128 бита)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2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Раундовые преобразования ключа в </a:t>
            </a:r>
            <a:r>
              <a:rPr lang="en-US" dirty="0" err="1" smtClean="0">
                <a:latin typeface="Bahnschrift Light" panose="020B0502040204020203" pitchFamily="34" charset="0"/>
              </a:rPr>
              <a:t>Cryptool</a:t>
            </a:r>
            <a:r>
              <a:rPr lang="en-US" dirty="0" smtClean="0">
                <a:latin typeface="Bahnschrift Light" panose="020B0502040204020203" pitchFamily="34" charset="0"/>
              </a:rPr>
              <a:t> 2</a:t>
            </a:r>
            <a:r>
              <a:rPr lang="ru-RU" dirty="0" smtClean="0">
                <a:latin typeface="Bahnschrift Light" panose="020B0502040204020203" pitchFamily="34" charset="0"/>
              </a:rPr>
              <a:t> раунд 1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09864" y="5681744"/>
            <a:ext cx="317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Bahnschrift Light" panose="020B0502040204020203" pitchFamily="34" charset="0"/>
              </a:rPr>
              <a:t>Нелинейная замена байтов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01819" y="5681744"/>
            <a:ext cx="354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Bahnschrift Light" panose="020B0502040204020203" pitchFamily="34" charset="0"/>
              </a:rPr>
              <a:t>Получение раундового ключа</a:t>
            </a:r>
            <a:endParaRPr lang="ru-RU" dirty="0">
              <a:latin typeface="Bahnschrift Light" panose="020B0502040204020203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" t="5486" r="3539" b="9061"/>
          <a:stretch/>
        </p:blipFill>
        <p:spPr>
          <a:xfrm>
            <a:off x="448056" y="2364461"/>
            <a:ext cx="5499618" cy="3221590"/>
          </a:xfrm>
          <a:prstGeom prst="rect">
            <a:avLst/>
          </a:prstGeom>
        </p:spPr>
      </p:pic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6" t="4486" r="7941" b="9776"/>
          <a:stretch/>
        </p:blipFill>
        <p:spPr>
          <a:xfrm>
            <a:off x="6409852" y="2364461"/>
            <a:ext cx="5526008" cy="3221590"/>
          </a:xfrm>
        </p:spPr>
      </p:pic>
    </p:spTree>
    <p:extLst>
      <p:ext uri="{BB962C8B-B14F-4D97-AF65-F5344CB8AC3E}">
        <p14:creationId xmlns:p14="http://schemas.microsoft.com/office/powerpoint/2010/main" val="1979360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78397"/>
            <a:ext cx="10515600" cy="1325563"/>
          </a:xfrm>
        </p:spPr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Преобразования раунда 1</a:t>
            </a:r>
            <a:endParaRPr lang="ru-RU" dirty="0">
              <a:latin typeface="Bahnschrift Light" panose="020B0502040204020203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9" t="5676" r="3531" b="8585"/>
          <a:stretch/>
        </p:blipFill>
        <p:spPr>
          <a:xfrm>
            <a:off x="957072" y="1337214"/>
            <a:ext cx="4409062" cy="237967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6" t="6624" r="4062" b="9213"/>
          <a:stretch/>
        </p:blipFill>
        <p:spPr>
          <a:xfrm>
            <a:off x="6803136" y="1337214"/>
            <a:ext cx="4669536" cy="25112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7" t="10340" r="3659" b="10033"/>
          <a:stretch/>
        </p:blipFill>
        <p:spPr>
          <a:xfrm>
            <a:off x="953506" y="4112920"/>
            <a:ext cx="4412628" cy="238370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7" t="11672" r="3952" b="10032"/>
          <a:stretch/>
        </p:blipFill>
        <p:spPr>
          <a:xfrm>
            <a:off x="6803136" y="3962230"/>
            <a:ext cx="4669536" cy="2534396"/>
          </a:xfrm>
          <a:prstGeom prst="rect">
            <a:avLst/>
          </a:prstGeom>
        </p:spPr>
      </p:pic>
      <p:cxnSp>
        <p:nvCxnSpPr>
          <p:cNvPr id="9" name="Прямая со стрелкой 8"/>
          <p:cNvCxnSpPr>
            <a:stCxn id="4" idx="3"/>
          </p:cNvCxnSpPr>
          <p:nvPr/>
        </p:nvCxnSpPr>
        <p:spPr>
          <a:xfrm flipV="1">
            <a:off x="5366134" y="2527049"/>
            <a:ext cx="143700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>
            <a:off x="11472672" y="2661163"/>
            <a:ext cx="524066" cy="1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429440" y="5228353"/>
            <a:ext cx="524066" cy="1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flipV="1">
            <a:off x="5377499" y="5304773"/>
            <a:ext cx="143700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208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ahnschrift Light" panose="020B0502040204020203" pitchFamily="34" charset="0"/>
              </a:rPr>
              <a:t>AES-CB</a:t>
            </a:r>
            <a:r>
              <a:rPr lang="en-US" dirty="0">
                <a:latin typeface="Bahnschrift Light" panose="020B0502040204020203" pitchFamily="34" charset="0"/>
              </a:rPr>
              <a:t>C</a:t>
            </a:r>
            <a:r>
              <a:rPr lang="en-US" dirty="0" smtClean="0">
                <a:latin typeface="Bahnschrift Light" panose="020B0502040204020203" pitchFamily="34" charset="0"/>
              </a:rPr>
              <a:t> </a:t>
            </a:r>
            <a:r>
              <a:rPr lang="ru-RU" dirty="0" smtClean="0">
                <a:latin typeface="Bahnschrift Light" panose="020B0502040204020203" pitchFamily="34" charset="0"/>
              </a:rPr>
              <a:t>атака грубой силой</a:t>
            </a:r>
            <a:endParaRPr lang="ru-RU" dirty="0">
              <a:latin typeface="Bahnschrift Light" panose="020B0502040204020203" pitchFamily="34" charset="0"/>
            </a:endParaRPr>
          </a:p>
        </p:txBody>
      </p:sp>
      <p:pic>
        <p:nvPicPr>
          <p:cNvPr id="1026" name="Picture 2" descr="https://sun9-63.vkuserphoto.ru/s/v1/ig2/bhKWoBJFklWQMp1j-7KR1SJxybpaSIiNi0ANf2XieBOe7spS8OhNlfE7TsjyRW76-0ZS3CmDW8hb-pGSqt1UTqxcaqDxSA.jpg?quality=95&amp;as=32x18,48x27,72x40,108x60,160x89,240x134,360x200,480x267,540x301,640x356,720x401,1080x601,1280x713,1440x802,1471x819&amp;from=bu&amp;u=4Owz736_NWT5MPryaEn_1CWXY_fVxq2T16Kie-noTjQ&amp;cs=1471x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" t="7473" r="6228" b="10564"/>
          <a:stretch/>
        </p:blipFill>
        <p:spPr bwMode="auto">
          <a:xfrm>
            <a:off x="142924" y="2112262"/>
            <a:ext cx="5791532" cy="2909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267123"/>
              </p:ext>
            </p:extLst>
          </p:nvPr>
        </p:nvGraphicFramePr>
        <p:xfrm>
          <a:off x="5934456" y="1920238"/>
          <a:ext cx="60807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0190"/>
                <a:gridCol w="1520190"/>
                <a:gridCol w="1520190"/>
                <a:gridCol w="1520190"/>
              </a:tblGrid>
              <a:tr h="644995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Количество</a:t>
                      </a:r>
                      <a:r>
                        <a:rPr lang="ru-RU" sz="1400" baseline="0" dirty="0" smtClean="0"/>
                        <a:t> известных байт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Количество</a:t>
                      </a:r>
                      <a:r>
                        <a:rPr lang="ru-RU" sz="1400" baseline="0" dirty="0" smtClean="0"/>
                        <a:t> ядер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Текстовая</a:t>
                      </a:r>
                      <a:r>
                        <a:rPr lang="ru-RU" sz="1400" baseline="0" dirty="0" smtClean="0"/>
                        <a:t> атака (</a:t>
                      </a:r>
                      <a:r>
                        <a:rPr lang="en-US" sz="1400" baseline="0" dirty="0" smtClean="0"/>
                        <a:t>DEAR SIRS.*THANKS</a:t>
                      </a:r>
                      <a:r>
                        <a:rPr lang="ru-RU" sz="1400" baseline="0" dirty="0" smtClean="0"/>
                        <a:t>)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err="1" smtClean="0"/>
                        <a:t>Энтропийная</a:t>
                      </a:r>
                      <a:r>
                        <a:rPr lang="ru-RU" sz="1400" baseline="0" dirty="0" smtClean="0"/>
                        <a:t> атака</a:t>
                      </a:r>
                      <a:endParaRPr lang="ru-RU" sz="1400" dirty="0"/>
                    </a:p>
                  </a:txBody>
                  <a:tcPr/>
                </a:tc>
              </a:tr>
              <a:tr h="261582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14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&lt;</a:t>
                      </a:r>
                      <a:r>
                        <a:rPr lang="ru-RU" sz="1400" dirty="0" smtClean="0"/>
                        <a:t>1</a:t>
                      </a:r>
                      <a:r>
                        <a:rPr lang="ru-RU" sz="1400" baseline="0" dirty="0" smtClean="0"/>
                        <a:t> секунды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&lt;</a:t>
                      </a:r>
                      <a:r>
                        <a:rPr lang="ru-RU" sz="1400" dirty="0" smtClean="0"/>
                        <a:t>1</a:t>
                      </a:r>
                      <a:r>
                        <a:rPr lang="ru-RU" sz="1400" baseline="0" dirty="0" smtClean="0"/>
                        <a:t> секунды</a:t>
                      </a:r>
                      <a:endParaRPr lang="ru-RU" sz="1400" dirty="0" smtClean="0"/>
                    </a:p>
                  </a:txBody>
                  <a:tcPr/>
                </a:tc>
              </a:tr>
              <a:tr h="261582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12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18 часов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21</a:t>
                      </a:r>
                      <a:r>
                        <a:rPr lang="ru-RU" sz="1400" baseline="0" dirty="0" smtClean="0"/>
                        <a:t> час</a:t>
                      </a:r>
                      <a:endParaRPr lang="ru-RU" sz="1400" dirty="0"/>
                    </a:p>
                  </a:txBody>
                  <a:tcPr/>
                </a:tc>
              </a:tr>
              <a:tr h="261582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50000 дней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smtClean="0"/>
                        <a:t>50000 дней</a:t>
                      </a:r>
                    </a:p>
                  </a:txBody>
                  <a:tcPr/>
                </a:tc>
              </a:tr>
              <a:tr h="261582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14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6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&lt;</a:t>
                      </a:r>
                      <a:r>
                        <a:rPr lang="ru-RU" sz="1400" dirty="0" smtClean="0"/>
                        <a:t>1</a:t>
                      </a:r>
                      <a:r>
                        <a:rPr lang="ru-RU" sz="1400" baseline="0" dirty="0" smtClean="0"/>
                        <a:t> секунды</a:t>
                      </a:r>
                      <a:endParaRPr lang="ru-RU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&lt;</a:t>
                      </a:r>
                      <a:r>
                        <a:rPr lang="ru-RU" sz="1400" dirty="0" smtClean="0"/>
                        <a:t>1</a:t>
                      </a:r>
                      <a:r>
                        <a:rPr lang="ru-RU" sz="1400" baseline="0" dirty="0" smtClean="0"/>
                        <a:t> секунды</a:t>
                      </a:r>
                      <a:endParaRPr lang="ru-RU" sz="1400" dirty="0" smtClean="0"/>
                    </a:p>
                  </a:txBody>
                  <a:tcPr/>
                </a:tc>
              </a:tr>
              <a:tr h="261582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12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6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3 часа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4 часа</a:t>
                      </a:r>
                      <a:endParaRPr lang="ru-RU" sz="1400" dirty="0"/>
                    </a:p>
                  </a:txBody>
                  <a:tcPr/>
                </a:tc>
              </a:tr>
              <a:tr h="261582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6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8300 дней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12000 дней</a:t>
                      </a:r>
                      <a:endParaRPr lang="ru-RU" sz="1400" dirty="0"/>
                    </a:p>
                  </a:txBody>
                  <a:tcPr/>
                </a:tc>
              </a:tr>
              <a:tr h="261582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14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12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&lt;</a:t>
                      </a:r>
                      <a:r>
                        <a:rPr lang="ru-RU" sz="1400" dirty="0" smtClean="0"/>
                        <a:t>1</a:t>
                      </a:r>
                      <a:r>
                        <a:rPr lang="ru-RU" sz="1400" baseline="0" dirty="0" smtClean="0"/>
                        <a:t> секунды</a:t>
                      </a:r>
                      <a:endParaRPr lang="ru-RU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&lt;</a:t>
                      </a:r>
                      <a:r>
                        <a:rPr lang="ru-RU" sz="1400" dirty="0" smtClean="0"/>
                        <a:t>1</a:t>
                      </a:r>
                      <a:r>
                        <a:rPr lang="ru-RU" sz="1400" baseline="0" dirty="0" smtClean="0"/>
                        <a:t> секунды</a:t>
                      </a:r>
                      <a:endParaRPr lang="ru-RU" sz="1400" dirty="0" smtClean="0"/>
                    </a:p>
                  </a:txBody>
                  <a:tcPr/>
                </a:tc>
              </a:tr>
              <a:tr h="261582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12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12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1.5 часа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2 часа</a:t>
                      </a:r>
                      <a:endParaRPr lang="ru-RU" sz="1400" dirty="0"/>
                    </a:p>
                  </a:txBody>
                  <a:tcPr/>
                </a:tc>
              </a:tr>
              <a:tr h="261582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12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4500 дней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6000 дней</a:t>
                      </a:r>
                      <a:endParaRPr lang="ru-RU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8483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Графики</a:t>
            </a:r>
            <a:endParaRPr lang="ru-RU" dirty="0">
              <a:latin typeface="Bahnschrift Light" panose="020B0502040204020203" pitchFamily="34" charset="0"/>
            </a:endParaRP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93" y="2061634"/>
            <a:ext cx="5675507" cy="3405304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61634"/>
            <a:ext cx="5675507" cy="340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07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Графики</a:t>
            </a:r>
            <a:endParaRPr lang="ru-RU" dirty="0">
              <a:latin typeface="Bahnschrift Light" panose="020B0502040204020203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91854"/>
            <a:ext cx="5719046" cy="343142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52" y="2091854"/>
            <a:ext cx="5719048" cy="343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38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ahnschrift Light" panose="020B0502040204020203" pitchFamily="34" charset="0"/>
              </a:rPr>
              <a:t>AES-CBC </a:t>
            </a:r>
            <a:r>
              <a:rPr lang="ru-RU" dirty="0" smtClean="0">
                <a:latin typeface="Bahnschrift Light" panose="020B0502040204020203" pitchFamily="34" charset="0"/>
              </a:rPr>
              <a:t>атака предсказанием, фаза 1</a:t>
            </a:r>
            <a:endParaRPr lang="ru-RU" dirty="0">
              <a:latin typeface="Bahnschrift Light" panose="020B0502040204020203" pitchFamily="34" charset="0"/>
            </a:endParaRPr>
          </a:p>
        </p:txBody>
      </p:sp>
      <p:pic>
        <p:nvPicPr>
          <p:cNvPr id="1026" name="Picture 2" descr="https://sun9-65.vkuserphoto.ru/s/v1/ig2/gKFkjxtznwflcDqTWM6hINdC7gIELh4tR-oBE5Gx8pTEaLLiJJE38N2gLpbXapTytpgZcwh2XVg1QxlqnW5SBfpJly4weg.jpg?quality=95&amp;as=32x16,48x24,72x36,108x54,160x80,240x120,360x180,480x240,540x270,640x320,720x360,1080x541,1280x641,1440x721,1582x792&amp;from=bu&amp;u=GEdYwjlOjS-PbECOE0QS8OS4D-9MHff6zp0eyJhJuJU&amp;cs=1582x0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798"/>
          <a:stretch/>
        </p:blipFill>
        <p:spPr bwMode="auto">
          <a:xfrm>
            <a:off x="639827" y="1889633"/>
            <a:ext cx="10912345" cy="3999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561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ahnschrift Light" panose="020B0502040204020203" pitchFamily="34" charset="0"/>
              </a:rPr>
              <a:t>AES-CBC </a:t>
            </a:r>
            <a:r>
              <a:rPr lang="ru-RU" dirty="0" smtClean="0">
                <a:latin typeface="Bahnschrift Light" panose="020B0502040204020203" pitchFamily="34" charset="0"/>
              </a:rPr>
              <a:t>атака предсказанием, фаза 2</a:t>
            </a:r>
            <a:endParaRPr lang="ru-RU" dirty="0">
              <a:latin typeface="Bahnschrift Light" panose="020B0502040204020203" pitchFamily="34" charset="0"/>
            </a:endParaRPr>
          </a:p>
        </p:txBody>
      </p:sp>
      <p:pic>
        <p:nvPicPr>
          <p:cNvPr id="2054" name="Picture 6" descr="https://sun9-15.vkuserphoto.ru/s/v1/ig2/Y7Wv0w25QqeA1PsNONQecf5WEfo_jbJxRdO8qWjIX2wCuF0lKV4yDCch7l1tp8v7PN6SHnxUzbbMUguk5ZSj-Hp7.jpg?quality=95&amp;as=32x19,48x28,72x42,108x63,160x94,240x141,360x211,480x281,540x316,640x375,720x422,1080x632,1280x749,1356x794&amp;from=bu&amp;u=auUKGbAKKWeHf9yxHGmiIHi-c8sSgvK2kLOJhE1PEck&amp;cs=1356x0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9" t="16674" r="2954" b="26378"/>
          <a:stretch/>
        </p:blipFill>
        <p:spPr bwMode="auto">
          <a:xfrm>
            <a:off x="1340827" y="1891856"/>
            <a:ext cx="9510346" cy="4097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411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ahnschrift Light" panose="020B0502040204020203" pitchFamily="34" charset="0"/>
              </a:rPr>
              <a:t>AES-CBC </a:t>
            </a:r>
            <a:r>
              <a:rPr lang="ru-RU" dirty="0" smtClean="0">
                <a:latin typeface="Bahnschrift Light" panose="020B0502040204020203" pitchFamily="34" charset="0"/>
              </a:rPr>
              <a:t>атака предсказанием, фаза 3</a:t>
            </a:r>
            <a:endParaRPr lang="ru-RU" dirty="0">
              <a:latin typeface="Bahnschrift Light" panose="020B0502040204020203" pitchFamily="34" charset="0"/>
            </a:endParaRPr>
          </a:p>
        </p:txBody>
      </p:sp>
      <p:pic>
        <p:nvPicPr>
          <p:cNvPr id="1026" name="Picture 2" descr="https://sun9-77.vkuserphoto.ru/s/v1/ig2/Q6rJ_9mY8EEAz3SvaUbeKVvXwKly61soK-8JBUHAYmiHvVNSdWZhPOXvMiMWNiBwTWv8vOTk4l1HMTPiNj2-YpFZ.jpg?quality=95&amp;as=32x16,48x24,72x36,108x53,160x79,240x119,360x178,480x237,540x267,640x316,720x356,1080x534,1280x632,1440x712,1451x717&amp;from=bu&amp;u=0eBXjXE5zqb_UgxfqscOpRvRbgSIqQfrYX3F4cm2Lmo&amp;cs=1451x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46" t="12630" r="3868" b="28725"/>
          <a:stretch/>
        </p:blipFill>
        <p:spPr bwMode="auto">
          <a:xfrm>
            <a:off x="1149096" y="1998757"/>
            <a:ext cx="9893808" cy="4005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8232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3128" y="1033795"/>
            <a:ext cx="3810000" cy="5715000"/>
          </a:xfrm>
          <a:prstGeom prst="rect">
            <a:avLst/>
          </a:prstGeom>
        </p:spPr>
      </p:pic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>
                <a:latin typeface="Bahnschrift Light" panose="020B0502040204020203" pitchFamily="34" charset="0"/>
              </a:rPr>
              <a:t>Инфографика</a:t>
            </a:r>
            <a:r>
              <a:rPr lang="ru-RU" dirty="0" smtClean="0">
                <a:latin typeface="Bahnschrift Light" panose="020B0502040204020203" pitchFamily="34" charset="0"/>
              </a:rPr>
              <a:t> расшифровки и действия нарушителя</a:t>
            </a:r>
            <a:endParaRPr lang="ru-RU" dirty="0">
              <a:latin typeface="Bahnschrift Light" panose="020B0502040204020203" pitchFamily="34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81" y="2202732"/>
            <a:ext cx="7423103" cy="2113235"/>
          </a:xfrm>
        </p:spPr>
      </p:pic>
      <p:sp>
        <p:nvSpPr>
          <p:cNvPr id="9" name="TextBox 8"/>
          <p:cNvSpPr txBox="1"/>
          <p:nvPr/>
        </p:nvSpPr>
        <p:spPr>
          <a:xfrm>
            <a:off x="2730327" y="4288534"/>
            <a:ext cx="25202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err="1" smtClean="0">
                <a:latin typeface="Bahnschrift Light" panose="020B0502040204020203" pitchFamily="34" charset="0"/>
              </a:rPr>
              <a:t>Инфографика</a:t>
            </a:r>
            <a:r>
              <a:rPr lang="ru-RU" sz="1400" dirty="0" smtClean="0">
                <a:latin typeface="Bahnschrift Light" panose="020B0502040204020203" pitchFamily="34" charset="0"/>
              </a:rPr>
              <a:t> расшифровки</a:t>
            </a:r>
            <a:endParaRPr lang="ru-RU" sz="1400" dirty="0">
              <a:latin typeface="Bahnschrift Light" panose="020B05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19506" y="6379463"/>
            <a:ext cx="2047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>
                <a:latin typeface="Bahnschrift Light" panose="020B0502040204020203" pitchFamily="34" charset="0"/>
              </a:rPr>
              <a:t>Действия нарушителя</a:t>
            </a:r>
            <a:endParaRPr lang="ru-RU" sz="14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42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" panose="020B0502040204020203" pitchFamily="34" charset="0"/>
              </a:rPr>
              <a:t>Шифр Кузнечик (ГОСТ Р 34.12-2015)</a:t>
            </a:r>
          </a:p>
        </p:txBody>
      </p:sp>
      <p:sp>
        <p:nvSpPr>
          <p:cNvPr id="4" name="Объект 2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>
              <a:buNone/>
            </a:pPr>
            <a:r>
              <a:rPr lang="ru-RU" sz="2600" dirty="0">
                <a:latin typeface="Bahnschrift Light" panose="020B0502040204020203" pitchFamily="34" charset="0"/>
              </a:rPr>
              <a:t>Основные параметры</a:t>
            </a:r>
            <a:r>
              <a:rPr lang="ru-RU" sz="2600" dirty="0" smtClean="0">
                <a:latin typeface="Bahnschrift Light" panose="020B0502040204020203" pitchFamily="34" charset="0"/>
              </a:rPr>
              <a:t>:</a:t>
            </a:r>
            <a:endParaRPr lang="ru-RU" sz="2600" dirty="0">
              <a:latin typeface="Bahnschrift Light" panose="020B0502040204020203" pitchFamily="34" charset="0"/>
            </a:endParaRPr>
          </a:p>
          <a:p>
            <a:r>
              <a:rPr lang="ru-RU" sz="2600" dirty="0">
                <a:latin typeface="Bahnschrift Light" panose="020B0502040204020203" pitchFamily="34" charset="0"/>
              </a:rPr>
              <a:t>Размер блока: 128 бит (16 байт)</a:t>
            </a:r>
          </a:p>
          <a:p>
            <a:r>
              <a:rPr lang="ru-RU" sz="2600" dirty="0" smtClean="0">
                <a:latin typeface="Bahnschrift Light" panose="020B0502040204020203" pitchFamily="34" charset="0"/>
              </a:rPr>
              <a:t>Размер </a:t>
            </a:r>
            <a:r>
              <a:rPr lang="ru-RU" sz="2600" dirty="0">
                <a:latin typeface="Bahnschrift Light" panose="020B0502040204020203" pitchFamily="34" charset="0"/>
              </a:rPr>
              <a:t>ключа: 256 бит (32 байта)</a:t>
            </a:r>
          </a:p>
          <a:p>
            <a:r>
              <a:rPr lang="ru-RU" sz="2600" dirty="0" smtClean="0">
                <a:latin typeface="Bahnschrift Light" panose="020B0502040204020203" pitchFamily="34" charset="0"/>
              </a:rPr>
              <a:t>Число </a:t>
            </a:r>
            <a:r>
              <a:rPr lang="ru-RU" sz="2600" dirty="0">
                <a:latin typeface="Bahnschrift Light" panose="020B0502040204020203" pitchFamily="34" charset="0"/>
              </a:rPr>
              <a:t>раундов: 9 (плюс начальное и финальное добавление ключа)</a:t>
            </a:r>
          </a:p>
          <a:p>
            <a:r>
              <a:rPr lang="ru-RU" sz="2600" dirty="0" smtClean="0">
                <a:latin typeface="Bahnschrift Light" panose="020B0502040204020203" pitchFamily="34" charset="0"/>
              </a:rPr>
              <a:t>Структура</a:t>
            </a:r>
            <a:r>
              <a:rPr lang="ru-RU" sz="2600" dirty="0">
                <a:latin typeface="Bahnschrift Light" panose="020B0502040204020203" pitchFamily="34" charset="0"/>
              </a:rPr>
              <a:t>: SP-сеть (подстановочно-перестановочная)</a:t>
            </a:r>
          </a:p>
          <a:p>
            <a:r>
              <a:rPr lang="ru-RU" sz="2600" dirty="0" smtClean="0">
                <a:latin typeface="Bahnschrift Light" panose="020B0502040204020203" pitchFamily="34" charset="0"/>
              </a:rPr>
              <a:t>Длина </a:t>
            </a:r>
            <a:r>
              <a:rPr lang="ru-RU" sz="2600" dirty="0">
                <a:latin typeface="Bahnschrift Light" panose="020B0502040204020203" pitchFamily="34" charset="0"/>
              </a:rPr>
              <a:t>раундового ключа: 128 бит (генерируется 10 </a:t>
            </a:r>
            <a:r>
              <a:rPr lang="ru-RU" sz="2600" dirty="0" smtClean="0">
                <a:latin typeface="Bahnschrift Light" panose="020B0502040204020203" pitchFamily="34" charset="0"/>
              </a:rPr>
              <a:t>ключей)</a:t>
            </a:r>
          </a:p>
          <a:p>
            <a:pPr marL="0" indent="0">
              <a:buNone/>
            </a:pPr>
            <a:r>
              <a:rPr lang="ru-RU" sz="2600" dirty="0" smtClean="0">
                <a:latin typeface="Bahnschrift Light" panose="020B0502040204020203" pitchFamily="34" charset="0"/>
              </a:rPr>
              <a:t>Вход: </a:t>
            </a:r>
          </a:p>
          <a:p>
            <a:r>
              <a:rPr lang="ru-RU" sz="2600" dirty="0">
                <a:latin typeface="Bahnschrift Light" panose="020B0502040204020203" pitchFamily="34" charset="0"/>
              </a:rPr>
              <a:t>M (открытый текст, 128 бит</a:t>
            </a:r>
            <a:r>
              <a:rPr lang="ru-RU" sz="2600" dirty="0" smtClean="0">
                <a:latin typeface="Bahnschrift Light" panose="020B0502040204020203" pitchFamily="34" charset="0"/>
              </a:rPr>
              <a:t>),</a:t>
            </a:r>
            <a:endParaRPr lang="ru-RU" sz="2600" dirty="0">
              <a:latin typeface="Bahnschrift Light" panose="020B0502040204020203" pitchFamily="34" charset="0"/>
            </a:endParaRPr>
          </a:p>
          <a:p>
            <a:r>
              <a:rPr lang="ru-RU" sz="2600" dirty="0">
                <a:latin typeface="Bahnschrift Light" panose="020B0502040204020203" pitchFamily="34" charset="0"/>
              </a:rPr>
              <a:t>K (ключ, 256 бит</a:t>
            </a:r>
            <a:r>
              <a:rPr lang="ru-RU" sz="2600" dirty="0" smtClean="0">
                <a:latin typeface="Bahnschrift Light" panose="020B0502040204020203" pitchFamily="34" charset="0"/>
              </a:rPr>
              <a:t>)</a:t>
            </a:r>
          </a:p>
          <a:p>
            <a:endParaRPr lang="ru-RU" sz="2600" dirty="0" smtClean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sz="2600" dirty="0" smtClean="0">
                <a:latin typeface="Bahnschrift Light" panose="020B0502040204020203" pitchFamily="34" charset="0"/>
              </a:rPr>
              <a:t>Выход: </a:t>
            </a:r>
          </a:p>
          <a:p>
            <a:r>
              <a:rPr lang="ru-RU" sz="2600" dirty="0" smtClean="0">
                <a:latin typeface="Bahnschrift Light" panose="020B0502040204020203" pitchFamily="34" charset="0"/>
              </a:rPr>
              <a:t>C (</a:t>
            </a:r>
            <a:r>
              <a:rPr lang="ru-RU" sz="2600" dirty="0" err="1" smtClean="0">
                <a:latin typeface="Bahnschrift Light" panose="020B0502040204020203" pitchFamily="34" charset="0"/>
              </a:rPr>
              <a:t>шифртекст</a:t>
            </a:r>
            <a:r>
              <a:rPr lang="ru-RU" sz="2600" dirty="0" smtClean="0">
                <a:latin typeface="Bahnschrift Light" panose="020B0502040204020203" pitchFamily="34" charset="0"/>
              </a:rPr>
              <a:t>, 128 бита)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348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Формулировка варианта 2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11751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1400" dirty="0">
                <a:latin typeface="Bahnschrift Light" panose="020B0502040204020203" pitchFamily="34" charset="0"/>
              </a:rPr>
              <a:t>Трансформировать блок фиксированной длины n </a:t>
            </a:r>
            <a:r>
              <a:rPr lang="ru-RU" sz="1400" dirty="0" smtClean="0">
                <a:latin typeface="Bahnschrift Light" panose="020B0502040204020203" pitchFamily="34" charset="0"/>
              </a:rPr>
              <a:t>способом, основанным </a:t>
            </a:r>
            <a:r>
              <a:rPr lang="ru-RU" sz="1400" dirty="0">
                <a:latin typeface="Bahnschrift Light" panose="020B0502040204020203" pitchFamily="34" charset="0"/>
              </a:rPr>
              <a:t>на использовании табличной замены байт (прототипом </a:t>
            </a:r>
            <a:r>
              <a:rPr lang="ru-RU" sz="1400" dirty="0" smtClean="0">
                <a:latin typeface="Bahnschrift Light" panose="020B0502040204020203" pitchFamily="34" charset="0"/>
              </a:rPr>
              <a:t>служит операция </a:t>
            </a:r>
            <a:r>
              <a:rPr lang="ru-RU" sz="1400" dirty="0">
                <a:latin typeface="Bahnschrift Light" panose="020B0502040204020203" pitchFamily="34" charset="0"/>
              </a:rPr>
              <a:t>подстановки (S-бокс) раундовой функции шифра Кузнечик</a:t>
            </a:r>
            <a:r>
              <a:rPr lang="ru-RU" sz="1400" dirty="0" smtClean="0">
                <a:latin typeface="Bahnschrift Light" panose="020B0502040204020203" pitchFamily="34" charset="0"/>
              </a:rPr>
              <a:t>). Таблица </a:t>
            </a:r>
            <a:r>
              <a:rPr lang="ru-RU" sz="1400" dirty="0">
                <a:latin typeface="Bahnschrift Light" panose="020B0502040204020203" pitchFamily="34" charset="0"/>
              </a:rPr>
              <a:t>замен размера 4x4 содержит байты, на которые заменяются </a:t>
            </a:r>
            <a:r>
              <a:rPr lang="ru-RU" sz="1400" dirty="0" smtClean="0">
                <a:latin typeface="Bahnschrift Light" panose="020B0502040204020203" pitchFamily="34" charset="0"/>
              </a:rPr>
              <a:t>байты исходного </a:t>
            </a:r>
            <a:r>
              <a:rPr lang="ru-RU" sz="1400" dirty="0">
                <a:latin typeface="Bahnschrift Light" panose="020B0502040204020203" pitchFamily="34" charset="0"/>
              </a:rPr>
              <a:t>блока размера n байт. Каждый заменяемый байт b </a:t>
            </a:r>
            <a:r>
              <a:rPr lang="ru-RU" sz="1400" dirty="0" smtClean="0">
                <a:latin typeface="Bahnschrift Light" panose="020B0502040204020203" pitchFamily="34" charset="0"/>
              </a:rPr>
              <a:t>блока представляется </a:t>
            </a:r>
            <a:r>
              <a:rPr lang="ru-RU" sz="1400" dirty="0">
                <a:latin typeface="Bahnschrift Light" panose="020B0502040204020203" pitchFamily="34" charset="0"/>
              </a:rPr>
              <a:t>двоичным кодом (октетом), в котором два старших </a:t>
            </a:r>
            <a:r>
              <a:rPr lang="ru-RU" sz="1400" dirty="0" smtClean="0">
                <a:latin typeface="Bahnschrift Light" panose="020B0502040204020203" pitchFamily="34" charset="0"/>
              </a:rPr>
              <a:t>бита указываются </a:t>
            </a:r>
            <a:r>
              <a:rPr lang="ru-RU" sz="1400" dirty="0">
                <a:latin typeface="Bahnschrift Light" panose="020B0502040204020203" pitchFamily="34" charset="0"/>
              </a:rPr>
              <a:t>на номер строки i, а два младших - на номер столбца j </a:t>
            </a:r>
            <a:r>
              <a:rPr lang="ru-RU" sz="1400" dirty="0" smtClean="0">
                <a:latin typeface="Bahnschrift Light" panose="020B0502040204020203" pitchFamily="34" charset="0"/>
              </a:rPr>
              <a:t>таблицы, на </a:t>
            </a:r>
            <a:r>
              <a:rPr lang="ru-RU" sz="1400" dirty="0">
                <a:latin typeface="Bahnschrift Light" panose="020B0502040204020203" pitchFamily="34" charset="0"/>
              </a:rPr>
              <a:t>пересечении которых находится новое значение b* заменяемого байта.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00" dirty="0">
                <a:latin typeface="Bahnschrift Light" panose="020B0502040204020203" pitchFamily="34" charset="0"/>
              </a:rPr>
              <a:t>ПРИМЕР: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00" dirty="0" smtClean="0">
                <a:latin typeface="Bahnschrift Light" panose="020B0502040204020203" pitchFamily="34" charset="0"/>
              </a:rPr>
              <a:t>     252 </a:t>
            </a:r>
            <a:r>
              <a:rPr lang="ru-RU" sz="1400" dirty="0">
                <a:latin typeface="Bahnschrift Light" panose="020B0502040204020203" pitchFamily="34" charset="0"/>
              </a:rPr>
              <a:t>238 221 017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00" dirty="0">
                <a:latin typeface="Bahnschrift Light" panose="020B0502040204020203" pitchFamily="34" charset="0"/>
              </a:rPr>
              <a:t>S= 223 119 240 219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00" dirty="0" smtClean="0">
                <a:latin typeface="Bahnschrift Light" panose="020B0502040204020203" pitchFamily="34" charset="0"/>
              </a:rPr>
              <a:t>     249 </a:t>
            </a:r>
            <a:r>
              <a:rPr lang="ru-RU" sz="1400" dirty="0">
                <a:latin typeface="Bahnschrift Light" panose="020B0502040204020203" pitchFamily="34" charset="0"/>
              </a:rPr>
              <a:t>024 101 090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00" dirty="0" smtClean="0">
                <a:latin typeface="Bahnschrift Light" panose="020B0502040204020203" pitchFamily="34" charset="0"/>
              </a:rPr>
              <a:t>     005 </a:t>
            </a:r>
            <a:r>
              <a:rPr lang="ru-RU" sz="1400" dirty="0">
                <a:latin typeface="Bahnschrift Light" panose="020B0502040204020203" pitchFamily="34" charset="0"/>
              </a:rPr>
              <a:t>132 002 </a:t>
            </a:r>
            <a:r>
              <a:rPr lang="ru-RU" sz="1400" dirty="0" smtClean="0">
                <a:latin typeface="Bahnschrift Light" panose="020B0502040204020203" pitchFamily="34" charset="0"/>
              </a:rPr>
              <a:t>174</a:t>
            </a:r>
            <a:endParaRPr lang="ru-RU" sz="1400" dirty="0">
              <a:latin typeface="Bahnschrift Light" panose="020B0502040204020203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1400" dirty="0" smtClean="0">
              <a:latin typeface="Bahnschrift Light" panose="020B0502040204020203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ru-RU" sz="1400" dirty="0" smtClean="0">
                <a:latin typeface="Bahnschrift Light" panose="020B0502040204020203" pitchFamily="34" charset="0"/>
              </a:rPr>
              <a:t>b = </a:t>
            </a:r>
            <a:r>
              <a:rPr lang="ru-RU" sz="1400" dirty="0">
                <a:latin typeface="Bahnschrift Light" panose="020B0502040204020203" pitchFamily="34" charset="0"/>
              </a:rPr>
              <a:t>231</a:t>
            </a:r>
            <a:r>
              <a:rPr lang="ru-RU" sz="1400" baseline="-25000" dirty="0">
                <a:latin typeface="Bahnschrift Light" panose="020B0502040204020203" pitchFamily="34" charset="0"/>
              </a:rPr>
              <a:t>10</a:t>
            </a:r>
            <a:r>
              <a:rPr lang="ru-RU" sz="1400" dirty="0">
                <a:latin typeface="Bahnschrift Light" panose="020B0502040204020203" pitchFamily="34" charset="0"/>
              </a:rPr>
              <a:t> = 10011001111</a:t>
            </a:r>
            <a:r>
              <a:rPr lang="ru-RU" sz="1400" baseline="-25000" dirty="0">
                <a:latin typeface="Bahnschrift Light" panose="020B0502040204020203" pitchFamily="34" charset="0"/>
              </a:rPr>
              <a:t>2</a:t>
            </a:r>
            <a:r>
              <a:rPr lang="ru-RU" sz="1400" dirty="0">
                <a:latin typeface="Bahnschrift Light" panose="020B0502040204020203" pitchFamily="34" charset="0"/>
              </a:rPr>
              <a:t> 0011001111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00" dirty="0">
                <a:latin typeface="Bahnschrift Light" panose="020B0502040204020203" pitchFamily="34" charset="0"/>
              </a:rPr>
              <a:t>i=2, j=3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00" dirty="0">
                <a:latin typeface="Bahnschrift Light" panose="020B0502040204020203" pitchFamily="34" charset="0"/>
              </a:rPr>
              <a:t>b* = </a:t>
            </a:r>
            <a:r>
              <a:rPr lang="ru-RU" sz="1400" dirty="0" smtClean="0">
                <a:latin typeface="Bahnschrift Light" panose="020B0502040204020203" pitchFamily="34" charset="0"/>
              </a:rPr>
              <a:t>240</a:t>
            </a:r>
            <a:r>
              <a:rPr lang="ru-RU" sz="1400" baseline="-25000" dirty="0" smtClean="0">
                <a:latin typeface="Bahnschrift Light" panose="020B0502040204020203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36135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044" y="1010576"/>
            <a:ext cx="3425148" cy="5137722"/>
          </a:xfrm>
        </p:spPr>
      </p:pic>
      <p:pic>
        <p:nvPicPr>
          <p:cNvPr id="2052" name="Picture 4" descr="https://sun9-81.vkuserphoto.ru/s/v1/ig2/jKlCpXanVriuNuaq1lNfHldPFG0cR6-iugg9yWR2NOQ3aC_bXFgd9vbTaSeopVA2gvCgB6a7aWlavho8QTi3tuiF.jpg?quality=95&amp;as=32x5,48x8,72x11,108x17,160x25,240x38,360x56,480x75,540x85,640x100,720x113,1080x169,1280x201,1390x218&amp;from=bu&amp;u=Xb8SumUe9nfB1cvbAAaCXLiJxb6iWk7Xyg9mC6sLfTo&amp;cs=1390x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97" y="4892665"/>
            <a:ext cx="7777311" cy="1219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Раундовые преобразования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34789" y="6112416"/>
            <a:ext cx="4859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Bahnschrift Light" panose="020B0502040204020203" pitchFamily="34" charset="0"/>
              </a:rPr>
              <a:t>Результат работы программы упрощённого преобразования цифра Кузнечик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36308" y="6148298"/>
            <a:ext cx="3148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Bahnschrift Light" panose="020B0502040204020203" pitchFamily="34" charset="0"/>
              </a:rPr>
              <a:t>Преобразования алгоритма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32744" y="4016248"/>
            <a:ext cx="4859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Bahnschrift Light" panose="020B0502040204020203" pitchFamily="34" charset="0"/>
              </a:rPr>
              <a:t>Код программы упрощённого преобразования цифра Кузнечик</a:t>
            </a:r>
            <a:endParaRPr lang="ru-RU" dirty="0">
              <a:latin typeface="Bahnschrift Light" panose="020B0502040204020203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4"/>
          <a:srcRect l="3181" t="2327"/>
          <a:stretch/>
        </p:blipFill>
        <p:spPr>
          <a:xfrm>
            <a:off x="5126636" y="1382259"/>
            <a:ext cx="3339712" cy="2628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5" y="1697466"/>
            <a:ext cx="45079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Во время решение варианта была найдена ошибка в формулировке варианта: в задании указано, что </a:t>
            </a:r>
            <a:r>
              <a:rPr lang="ru-RU" dirty="0"/>
              <a:t>после преобразования 231 (</a:t>
            </a:r>
            <a:r>
              <a:rPr lang="ru-RU" dirty="0" smtClean="0"/>
              <a:t>11100111</a:t>
            </a:r>
            <a:r>
              <a:rPr lang="en-US" baseline="-25000" dirty="0" smtClean="0"/>
              <a:t>2</a:t>
            </a:r>
            <a:r>
              <a:rPr lang="ru-RU" dirty="0" smtClean="0"/>
              <a:t>)</a:t>
            </a:r>
            <a:r>
              <a:rPr lang="en-US" dirty="0" smtClean="0"/>
              <a:t> </a:t>
            </a:r>
            <a:r>
              <a:rPr lang="ru-RU" dirty="0" smtClean="0"/>
              <a:t>нужно получить 240, но правильный ответ 101. Чтобы получить 240 нужно взять другое число из варианта – 10011001111</a:t>
            </a:r>
            <a:r>
              <a:rPr lang="en-US" baseline="-25000" dirty="0" smtClean="0"/>
              <a:t>2</a:t>
            </a:r>
            <a:r>
              <a:rPr lang="ru-RU" dirty="0" smtClean="0"/>
              <a:t> (1231</a:t>
            </a:r>
            <a:r>
              <a:rPr lang="ru-RU" baseline="-25000" dirty="0" smtClean="0"/>
              <a:t>10</a:t>
            </a:r>
            <a:r>
              <a:rPr lang="ru-RU" dirty="0" smtClean="0"/>
              <a:t>). В варианте 231</a:t>
            </a:r>
            <a:r>
              <a:rPr lang="ru-RU" baseline="-25000" dirty="0" smtClean="0"/>
              <a:t>10</a:t>
            </a:r>
            <a:r>
              <a:rPr lang="ru-RU" dirty="0" smtClean="0"/>
              <a:t>=</a:t>
            </a:r>
            <a:r>
              <a:rPr lang="ru-RU" dirty="0"/>
              <a:t> </a:t>
            </a:r>
            <a:r>
              <a:rPr lang="ru-RU" dirty="0" smtClean="0"/>
              <a:t>10011001111</a:t>
            </a:r>
            <a:r>
              <a:rPr lang="en-US" baseline="-25000" dirty="0" smtClean="0"/>
              <a:t>2</a:t>
            </a:r>
            <a:r>
              <a:rPr lang="ru-RU" baseline="-25000" dirty="0" smtClean="0"/>
              <a:t> </a:t>
            </a:r>
            <a:r>
              <a:rPr lang="ru-RU" dirty="0" smtClean="0"/>
              <a:t>, что неверно.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7203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Расчёт </a:t>
            </a:r>
            <a:r>
              <a:rPr lang="ru-RU" dirty="0"/>
              <a:t>итерационной </a:t>
            </a:r>
            <a:r>
              <a:rPr lang="ru-RU" dirty="0" smtClean="0"/>
              <a:t>константы С</a:t>
            </a:r>
            <a:r>
              <a:rPr lang="ru-RU" baseline="-25000" dirty="0" smtClean="0"/>
              <a:t>24</a:t>
            </a:r>
            <a:endParaRPr lang="ru-RU" baseline="-250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6510" y="1690688"/>
            <a:ext cx="4740595" cy="43513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27812" y="2043590"/>
            <a:ext cx="56687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Bahnschrift Light" panose="020B0502040204020203" pitchFamily="34" charset="0"/>
              </a:rPr>
              <a:t>Расчёт итерационной константы совпадает с эталоном с </a:t>
            </a:r>
            <a:r>
              <a:rPr lang="ru-RU" dirty="0" err="1" smtClean="0">
                <a:latin typeface="Bahnschrift Light" panose="020B0502040204020203" pitchFamily="34" charset="0"/>
              </a:rPr>
              <a:t>Хабра</a:t>
            </a:r>
            <a:r>
              <a:rPr lang="ru-RU" dirty="0" smtClean="0">
                <a:latin typeface="Bahnschrift Light" panose="020B0502040204020203" pitchFamily="34" charset="0"/>
              </a:rPr>
              <a:t>.</a:t>
            </a:r>
            <a:br>
              <a:rPr lang="ru-RU" dirty="0" smtClean="0">
                <a:latin typeface="Bahnschrift Light" panose="020B0502040204020203" pitchFamily="34" charset="0"/>
              </a:rPr>
            </a:br>
            <a:r>
              <a:rPr lang="ru-RU" dirty="0" smtClean="0">
                <a:latin typeface="Bahnschrift Light" panose="020B0502040204020203" pitchFamily="34" charset="0"/>
              </a:rPr>
              <a:t>С</a:t>
            </a:r>
            <a:r>
              <a:rPr lang="ru-RU" baseline="-25000" dirty="0" smtClean="0">
                <a:latin typeface="Bahnschrift Light" panose="020B0502040204020203" pitchFamily="34" charset="0"/>
              </a:rPr>
              <a:t>24</a:t>
            </a:r>
            <a:r>
              <a:rPr lang="ru-RU" dirty="0" smtClean="0">
                <a:latin typeface="Bahnschrift Light" panose="020B0502040204020203" pitchFamily="34" charset="0"/>
              </a:rPr>
              <a:t> = </a:t>
            </a:r>
            <a:r>
              <a:rPr lang="en-US" dirty="0" smtClean="0">
                <a:latin typeface="Bahnschrift Light" panose="020B0502040204020203" pitchFamily="34" charset="0"/>
              </a:rPr>
              <a:t>187E3D694320CE3458FA0FE93A5AEBD9</a:t>
            </a:r>
            <a:r>
              <a:rPr lang="ru-RU" dirty="0" smtClean="0">
                <a:latin typeface="Bahnschrift Light" panose="020B0502040204020203" pitchFamily="34" charset="0"/>
              </a:rPr>
              <a:t/>
            </a:r>
            <a:br>
              <a:rPr lang="ru-RU" dirty="0" smtClean="0">
                <a:latin typeface="Bahnschrift Light" panose="020B0502040204020203" pitchFamily="34" charset="0"/>
              </a:rPr>
            </a:br>
            <a:r>
              <a:rPr lang="en-US" dirty="0" smtClean="0">
                <a:latin typeface="Bahnschrift Light" panose="020B0502040204020203" pitchFamily="34" charset="0"/>
              </a:rPr>
              <a:t>N = 22</a:t>
            </a:r>
          </a:p>
          <a:p>
            <a:r>
              <a:rPr lang="en-US" dirty="0" smtClean="0">
                <a:latin typeface="Bahnschrift Light" panose="020B0502040204020203" pitchFamily="34" charset="0"/>
              </a:rPr>
              <a:t>N + 2 = 24</a:t>
            </a:r>
            <a:endParaRPr lang="ru-RU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829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Заключение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600" dirty="0" smtClean="0">
                <a:latin typeface="Bahnschrift Light" panose="020B0502040204020203" pitchFamily="34" charset="0"/>
              </a:rPr>
              <a:t>Повышена компетентность в сфере симметричных блочных шифров: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Bahnschrift Light" panose="020B0502040204020203" pitchFamily="34" charset="0"/>
              </a:rPr>
              <a:t>Изучен шифр AES (SP-сеть, ключ 128/192/256 бит). Визуализированы его раундовые преобразования</a:t>
            </a:r>
            <a:r>
              <a:rPr lang="ru-RU" sz="2600" dirty="0" smtClean="0">
                <a:latin typeface="Bahnschrift Light" panose="020B0502040204020203" pitchFamily="34" charset="0"/>
              </a:rPr>
              <a:t>.</a:t>
            </a:r>
            <a:endParaRPr lang="ru-RU" sz="2600" dirty="0">
              <a:latin typeface="Bahnschrift Light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Bahnschrift Light" panose="020B0502040204020203" pitchFamily="34" charset="0"/>
              </a:rPr>
              <a:t>Исследована </a:t>
            </a:r>
            <a:r>
              <a:rPr lang="ru-RU" sz="2600" dirty="0" err="1">
                <a:latin typeface="Bahnschrift Light" panose="020B0502040204020203" pitchFamily="34" charset="0"/>
              </a:rPr>
              <a:t>криптостойкость</a:t>
            </a:r>
            <a:r>
              <a:rPr lang="ru-RU" sz="2600" dirty="0">
                <a:latin typeface="Bahnschrift Light" panose="020B0502040204020203" pitchFamily="34" charset="0"/>
              </a:rPr>
              <a:t> AES-CBC. Подтверждена экспоненциальная сложность </a:t>
            </a:r>
            <a:r>
              <a:rPr lang="ru-RU" sz="2600" dirty="0" err="1">
                <a:latin typeface="Bahnschrift Light" panose="020B0502040204020203" pitchFamily="34" charset="0"/>
              </a:rPr>
              <a:t>brute-force</a:t>
            </a:r>
            <a:r>
              <a:rPr lang="ru-RU" sz="2600" dirty="0">
                <a:latin typeface="Bahnschrift Light" panose="020B0502040204020203" pitchFamily="34" charset="0"/>
              </a:rPr>
              <a:t> атаки и эффективность распараллеливания</a:t>
            </a:r>
            <a:r>
              <a:rPr lang="ru-RU" sz="2600" dirty="0" smtClean="0">
                <a:latin typeface="Bahnschrift Light" panose="020B0502040204020203" pitchFamily="34" charset="0"/>
              </a:rPr>
              <a:t>.</a:t>
            </a:r>
            <a:endParaRPr lang="ru-RU" sz="2600" dirty="0">
              <a:latin typeface="Bahnschrift Light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Bahnschrift Light" panose="020B0502040204020203" pitchFamily="34" charset="0"/>
              </a:rPr>
              <a:t>Успешно проведена атака </a:t>
            </a:r>
            <a:r>
              <a:rPr lang="ru-RU" sz="2600" dirty="0" err="1">
                <a:latin typeface="Bahnschrift Light" panose="020B0502040204020203" pitchFamily="34" charset="0"/>
              </a:rPr>
              <a:t>Padding</a:t>
            </a:r>
            <a:r>
              <a:rPr lang="ru-RU" sz="2600" dirty="0">
                <a:latin typeface="Bahnschrift Light" panose="020B0502040204020203" pitchFamily="34" charset="0"/>
              </a:rPr>
              <a:t> </a:t>
            </a:r>
            <a:r>
              <a:rPr lang="ru-RU" sz="2600" dirty="0" err="1">
                <a:latin typeface="Bahnschrift Light" panose="020B0502040204020203" pitchFamily="34" charset="0"/>
              </a:rPr>
              <a:t>Oracle</a:t>
            </a:r>
            <a:r>
              <a:rPr lang="ru-RU" sz="2600" dirty="0">
                <a:latin typeface="Bahnschrift Light" panose="020B0502040204020203" pitchFamily="34" charset="0"/>
              </a:rPr>
              <a:t> на AES-CBC, позволившая восстановить текст без знания ключа</a:t>
            </a:r>
            <a:r>
              <a:rPr lang="ru-RU" sz="2600" dirty="0" smtClean="0">
                <a:latin typeface="Bahnschrift Light" panose="020B0502040204020203" pitchFamily="34" charset="0"/>
              </a:rPr>
              <a:t>.</a:t>
            </a:r>
            <a:endParaRPr lang="ru-RU" sz="2600" dirty="0">
              <a:latin typeface="Bahnschrift Light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Bahnschrift Light" panose="020B0502040204020203" pitchFamily="34" charset="0"/>
              </a:rPr>
              <a:t>Изучен шифр «Кузнечик» (ГОСТ Р 34.12-2015</a:t>
            </a:r>
            <a:r>
              <a:rPr lang="ru-RU" sz="2600" dirty="0" smtClean="0">
                <a:latin typeface="Bahnschrift Light" panose="020B0502040204020203" pitchFamily="34" charset="0"/>
              </a:rPr>
              <a:t>).</a:t>
            </a:r>
            <a:endParaRPr lang="ru-RU" sz="2600" dirty="0">
              <a:latin typeface="Bahnschrift Light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Bahnschrift Light" panose="020B0502040204020203" pitchFamily="34" charset="0"/>
              </a:rPr>
              <a:t>Разработана программа упрощенного преобразования S-бокс (Вариант 2</a:t>
            </a:r>
            <a:r>
              <a:rPr lang="ru-RU" sz="2600" dirty="0" smtClean="0">
                <a:latin typeface="Bahnschrift Light" panose="020B0502040204020203" pitchFamily="34" charset="0"/>
              </a:rPr>
              <a:t>).</a:t>
            </a:r>
            <a:endParaRPr lang="ru-RU" sz="2600" dirty="0">
              <a:latin typeface="Bahnschrift Light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Bahnschrift Light" panose="020B0502040204020203" pitchFamily="34" charset="0"/>
              </a:rPr>
              <a:t>Выполнен расчет итерационной константы </a:t>
            </a:r>
            <a:r>
              <a:rPr lang="ru-RU" sz="2600" dirty="0" smtClean="0">
                <a:latin typeface="Bahnschrift Light" panose="020B0502040204020203" pitchFamily="34" charset="0"/>
              </a:rPr>
              <a:t>C</a:t>
            </a:r>
            <a:r>
              <a:rPr lang="ru-RU" sz="2600" baseline="-25000" dirty="0" smtClean="0">
                <a:latin typeface="Bahnschrift Light" panose="020B0502040204020203" pitchFamily="34" charset="0"/>
              </a:rPr>
              <a:t>24</a:t>
            </a:r>
            <a:r>
              <a:rPr lang="ru-RU" sz="2600" dirty="0" smtClean="0">
                <a:latin typeface="Bahnschrift Light" panose="020B0502040204020203" pitchFamily="34" charset="0"/>
              </a:rPr>
              <a:t> для N=22</a:t>
            </a:r>
            <a:r>
              <a:rPr lang="ru-RU" sz="2600" dirty="0">
                <a:latin typeface="Bahnschrift Light" panose="020B0502040204020203" pitchFamily="34" charset="0"/>
              </a:rPr>
              <a:t>, результат совпал с эталоном.</a:t>
            </a:r>
          </a:p>
        </p:txBody>
      </p:sp>
    </p:spTree>
    <p:extLst>
      <p:ext uri="{BB962C8B-B14F-4D97-AF65-F5344CB8AC3E}">
        <p14:creationId xmlns:p14="http://schemas.microsoft.com/office/powerpoint/2010/main" val="62160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</TotalTime>
  <Words>638</Words>
  <Application>Microsoft Office PowerPoint</Application>
  <PresentationFormat>Широкоэкранный</PresentationFormat>
  <Paragraphs>121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Bahnschrift Light</vt:lpstr>
      <vt:lpstr>Calibri</vt:lpstr>
      <vt:lpstr>Calibri Light</vt:lpstr>
      <vt:lpstr>Тема Office</vt:lpstr>
      <vt:lpstr>Изучение шифров AES и Кузнечик</vt:lpstr>
      <vt:lpstr>Цель и задачи</vt:lpstr>
      <vt:lpstr>Шифр AES</vt:lpstr>
      <vt:lpstr>Раундовые преобразования ключа в Cryptool 2 раунд 1</vt:lpstr>
      <vt:lpstr>Преобразования раунда 1</vt:lpstr>
      <vt:lpstr>AES-CBC атака грубой силой</vt:lpstr>
      <vt:lpstr>Графики</vt:lpstr>
      <vt:lpstr>Графики</vt:lpstr>
      <vt:lpstr>AES-CBC атака предсказанием, фаза 1</vt:lpstr>
      <vt:lpstr>AES-CBC атака предсказанием, фаза 2</vt:lpstr>
      <vt:lpstr>AES-CBC атака предсказанием, фаза 3</vt:lpstr>
      <vt:lpstr>Инфографика расшифровки и действия нарушителя</vt:lpstr>
      <vt:lpstr>Шифр Кузнечик (ГОСТ Р 34.12-2015)</vt:lpstr>
      <vt:lpstr>Формулировка варианта 2</vt:lpstr>
      <vt:lpstr>Раундовые преобразования</vt:lpstr>
      <vt:lpstr>Расчёт итерационной константы С24</vt:lpstr>
      <vt:lpstr>Заключение</vt:lpstr>
    </vt:vector>
  </TitlesOfParts>
  <Company>diakov.net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Изучение к</dc:title>
  <dc:creator>mazer300</dc:creator>
  <cp:lastModifiedBy>mazer300</cp:lastModifiedBy>
  <cp:revision>102</cp:revision>
  <dcterms:created xsi:type="dcterms:W3CDTF">2026-09-17T17:31:40Z</dcterms:created>
  <dcterms:modified xsi:type="dcterms:W3CDTF">2026-10-18T21:07:24Z</dcterms:modified>
</cp:coreProperties>
</file>