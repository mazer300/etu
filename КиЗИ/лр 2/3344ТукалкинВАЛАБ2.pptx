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1" r:id="rId9"/>
    <p:sldId id="272" r:id="rId10"/>
    <p:sldId id="273" r:id="rId11"/>
    <p:sldId id="274" r:id="rId12"/>
    <p:sldId id="277" r:id="rId13"/>
    <p:sldId id="275" r:id="rId14"/>
    <p:sldId id="276" r:id="rId15"/>
    <p:sldId id="26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4946423-BCAA-41E6-8C1C-457C5AA0622B}">
          <p14:sldIdLst>
            <p14:sldId id="256"/>
            <p14:sldId id="257"/>
            <p14:sldId id="258"/>
            <p14:sldId id="266"/>
            <p14:sldId id="267"/>
            <p14:sldId id="268"/>
            <p14:sldId id="269"/>
            <p14:sldId id="271"/>
            <p14:sldId id="272"/>
            <p14:sldId id="273"/>
            <p14:sldId id="274"/>
            <p14:sldId id="277"/>
            <p14:sldId id="275"/>
            <p14:sldId id="276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3556" autoAdjust="0"/>
  </p:normalViewPr>
  <p:slideViewPr>
    <p:cSldViewPr snapToGrid="0" showGuides="1">
      <p:cViewPr>
        <p:scale>
          <a:sx n="100" d="100"/>
          <a:sy n="100" d="100"/>
        </p:scale>
        <p:origin x="1098" y="19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7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29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51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25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54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19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04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9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36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39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06866-A500-44C9-916D-E8E8D08F175A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58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53077"/>
            <a:ext cx="9144000" cy="1870547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Изучение шифров </a:t>
            </a:r>
            <a:r>
              <a:rPr lang="en-US" dirty="0">
                <a:latin typeface="Bahnschrift Light" panose="020B0502040204020203" pitchFamily="34" charset="0"/>
              </a:rPr>
              <a:t>DES, </a:t>
            </a:r>
            <a:r>
              <a:rPr lang="en-US" dirty="0" smtClean="0">
                <a:latin typeface="Bahnschrift Light" panose="020B0502040204020203" pitchFamily="34" charset="0"/>
              </a:rPr>
              <a:t>3DES </a:t>
            </a:r>
            <a:r>
              <a:rPr lang="ru-RU" dirty="0" smtClean="0">
                <a:latin typeface="Bahnschrift Light" panose="020B0502040204020203" pitchFamily="34" charset="0"/>
              </a:rPr>
              <a:t>и Магма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42931" y="2271178"/>
            <a:ext cx="9144000" cy="444862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Лабораторная работа №2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0" i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Санкт-Петербургский государственный электротехнический университет «ЛЭТИ» им. В.И. Ульянова (Ленина)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899486" y="6488668"/>
            <a:ext cx="2584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Санкт-Петербург 2026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6000" y="50223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Студент: </a:t>
            </a:r>
            <a:r>
              <a:rPr lang="ru-RU" b="0" dirty="0" err="1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Тукалкин</a:t>
            </a:r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 В.А., группа 3344</a:t>
            </a:r>
          </a:p>
          <a:p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Преподаватель: Племянников А.К., доцент каф. ИБ</a:t>
            </a:r>
            <a:endParaRPr lang="ru-RU" b="0" dirty="0">
              <a:solidFill>
                <a:srgbClr val="000000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04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Цель и задачи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Цель: повышение компетентности в сфере симметричных блочных шифров: изучение </a:t>
            </a:r>
            <a:r>
              <a:rPr lang="en-US" dirty="0" smtClean="0">
                <a:latin typeface="Bahnschrift Light" panose="020B0502040204020203" pitchFamily="34" charset="0"/>
              </a:rPr>
              <a:t>DES </a:t>
            </a:r>
            <a:r>
              <a:rPr lang="ru-RU" dirty="0" smtClean="0">
                <a:latin typeface="Bahnschrift Light" panose="020B0502040204020203" pitchFamily="34" charset="0"/>
              </a:rPr>
              <a:t>и Магма.</a:t>
            </a:r>
          </a:p>
          <a:p>
            <a:pPr marL="0" indent="0">
              <a:buNone/>
            </a:pP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Задачи:</a:t>
            </a:r>
            <a:br>
              <a:rPr lang="ru-RU" dirty="0" smtClean="0">
                <a:latin typeface="Bahnschrift Light" panose="020B0502040204020203" pitchFamily="34" charset="0"/>
              </a:rPr>
            </a:br>
            <a:r>
              <a:rPr lang="ru-RU" dirty="0" smtClean="0">
                <a:latin typeface="Bahnschrift Light" panose="020B0502040204020203" pitchFamily="34" charset="0"/>
              </a:rPr>
              <a:t>1) Изучить шифр </a:t>
            </a:r>
            <a:r>
              <a:rPr lang="en-US" dirty="0" smtClean="0">
                <a:latin typeface="Bahnschrift Light" panose="020B0502040204020203" pitchFamily="34" charset="0"/>
              </a:rPr>
              <a:t>DES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2) Изучить шифр </a:t>
            </a:r>
            <a:r>
              <a:rPr lang="en-US" dirty="0" smtClean="0">
                <a:latin typeface="Bahnschrift Light" panose="020B0502040204020203" pitchFamily="34" charset="0"/>
              </a:rPr>
              <a:t>DES </a:t>
            </a:r>
            <a:r>
              <a:rPr lang="ru-RU" dirty="0" smtClean="0">
                <a:latin typeface="Bahnschrift Light" panose="020B0502040204020203" pitchFamily="34" charset="0"/>
              </a:rPr>
              <a:t>в режимах </a:t>
            </a:r>
            <a:r>
              <a:rPr lang="en-US" dirty="0" smtClean="0">
                <a:latin typeface="Bahnschrift Light" panose="020B0502040204020203" pitchFamily="34" charset="0"/>
              </a:rPr>
              <a:t>ECB </a:t>
            </a:r>
            <a:r>
              <a:rPr lang="ru-RU" dirty="0" smtClean="0">
                <a:latin typeface="Bahnschrift Light" panose="020B0502040204020203" pitchFamily="34" charset="0"/>
              </a:rPr>
              <a:t>и </a:t>
            </a:r>
            <a:r>
              <a:rPr lang="en-US" dirty="0" smtClean="0">
                <a:latin typeface="Bahnschrift Light" panose="020B0502040204020203" pitchFamily="34" charset="0"/>
              </a:rPr>
              <a:t>CBC</a:t>
            </a:r>
            <a:r>
              <a:rPr lang="ru-RU" dirty="0" smtClean="0">
                <a:latin typeface="Bahnschrift Light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3)  Изучить шифр «Магма»</a:t>
            </a:r>
          </a:p>
          <a:p>
            <a:pPr marL="0" indent="0">
              <a:buNone/>
            </a:pPr>
            <a:r>
              <a:rPr lang="ru-RU" dirty="0">
                <a:latin typeface="Bahnschrift Light" panose="020B0502040204020203" pitchFamily="34" charset="0"/>
              </a:rPr>
              <a:t>4</a:t>
            </a:r>
            <a:r>
              <a:rPr lang="ru-RU" dirty="0" smtClean="0">
                <a:latin typeface="Bahnschrift Light" panose="020B0502040204020203" pitchFamily="34" charset="0"/>
              </a:rPr>
              <a:t>) Изучить раундовые преобразования </a:t>
            </a:r>
            <a:r>
              <a:rPr lang="en-US" dirty="0" smtClean="0">
                <a:latin typeface="Bahnschrift Light" panose="020B0502040204020203" pitchFamily="34" charset="0"/>
              </a:rPr>
              <a:t>DES </a:t>
            </a:r>
            <a:r>
              <a:rPr lang="ru-RU" dirty="0" smtClean="0">
                <a:latin typeface="Bahnschrift Light" panose="020B0502040204020203" pitchFamily="34" charset="0"/>
              </a:rPr>
              <a:t>в </a:t>
            </a:r>
            <a:r>
              <a:rPr lang="en-US" dirty="0" err="1" smtClean="0">
                <a:latin typeface="Bahnschrift Light" panose="020B0502040204020203" pitchFamily="34" charset="0"/>
              </a:rPr>
              <a:t>cryptool</a:t>
            </a:r>
            <a:r>
              <a:rPr lang="en-US" dirty="0" smtClean="0">
                <a:latin typeface="Bahnschrift Light" panose="020B0502040204020203" pitchFamily="34" charset="0"/>
              </a:rPr>
              <a:t> 2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latin typeface="Bahnschrift Light" panose="020B0502040204020203" pitchFamily="34" charset="0"/>
              </a:rPr>
              <a:t>5</a:t>
            </a:r>
            <a:r>
              <a:rPr lang="ru-RU" dirty="0" smtClean="0">
                <a:latin typeface="Bahnschrift Light" panose="020B0502040204020203" pitchFamily="34" charset="0"/>
              </a:rPr>
              <a:t>) Изучить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ru-RU" dirty="0" smtClean="0">
                <a:latin typeface="Bahnschrift Light" panose="020B0502040204020203" pitchFamily="34" charset="0"/>
              </a:rPr>
              <a:t>дифференциальный анализ в </a:t>
            </a:r>
            <a:r>
              <a:rPr lang="en-US" dirty="0" err="1" smtClean="0">
                <a:latin typeface="Bahnschrift Light" panose="020B0502040204020203" pitchFamily="34" charset="0"/>
              </a:rPr>
              <a:t>DA_Tutor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6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</a:t>
            </a:r>
            <a:r>
              <a:rPr lang="en-US" dirty="0" smtClean="0">
                <a:latin typeface="Bahnschrift Light" panose="020B0502040204020203" pitchFamily="34" charset="0"/>
              </a:rPr>
              <a:t>DES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9899211" cy="435133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ru-RU" sz="2600" dirty="0">
                <a:latin typeface="Bahnschrift Light" panose="020B0502040204020203" pitchFamily="34" charset="0"/>
              </a:rPr>
              <a:t>Основные параметры</a:t>
            </a:r>
            <a:r>
              <a:rPr lang="ru-RU" sz="2600" dirty="0" smtClean="0">
                <a:latin typeface="Bahnschrift Light" panose="020B0502040204020203" pitchFamily="34" charset="0"/>
              </a:rPr>
              <a:t>: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Размер блока: 64 </a:t>
            </a:r>
            <a:r>
              <a:rPr lang="ru-RU" sz="2600" dirty="0" smtClean="0">
                <a:latin typeface="Bahnschrift Light" panose="020B0502040204020203" pitchFamily="34" charset="0"/>
              </a:rPr>
              <a:t>бита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Размер </a:t>
            </a:r>
            <a:r>
              <a:rPr lang="ru-RU" sz="2600" dirty="0">
                <a:latin typeface="Bahnschrift Light" panose="020B0502040204020203" pitchFamily="34" charset="0"/>
              </a:rPr>
              <a:t>ключа: 64 бита (56 значащих + 8 бит чётности</a:t>
            </a:r>
            <a:r>
              <a:rPr lang="ru-RU" sz="2600" dirty="0" smtClean="0">
                <a:latin typeface="Bahnschrift Light" panose="020B0502040204020203" pitchFamily="34" charset="0"/>
              </a:rPr>
              <a:t>)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Число раундов: </a:t>
            </a:r>
            <a:r>
              <a:rPr lang="ru-RU" sz="2600" dirty="0" smtClean="0">
                <a:latin typeface="Bahnschrift Light" panose="020B0502040204020203" pitchFamily="34" charset="0"/>
              </a:rPr>
              <a:t>16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Структура: сеть </a:t>
            </a:r>
            <a:r>
              <a:rPr lang="ru-RU" sz="2600" dirty="0" err="1" smtClean="0">
                <a:latin typeface="Bahnschrift Light" panose="020B0502040204020203" pitchFamily="34" charset="0"/>
              </a:rPr>
              <a:t>Фейстеля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Длина </a:t>
            </a:r>
            <a:r>
              <a:rPr lang="ru-RU" sz="2600" dirty="0">
                <a:latin typeface="Bahnschrift Light" panose="020B0502040204020203" pitchFamily="34" charset="0"/>
              </a:rPr>
              <a:t>раундового ключа: 48 </a:t>
            </a:r>
            <a:r>
              <a:rPr lang="ru-RU" sz="2600" dirty="0" smtClean="0">
                <a:latin typeface="Bahnschrift Light" panose="020B0502040204020203" pitchFamily="34" charset="0"/>
              </a:rPr>
              <a:t>бит</a:t>
            </a:r>
          </a:p>
          <a:p>
            <a:pPr marL="0" indent="0">
              <a:buNone/>
            </a:pPr>
            <a:endParaRPr lang="ru-RU" sz="2600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Вход: 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M (открытый текст, 64 бита), 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K (ключ, 64 бита)</a:t>
            </a:r>
          </a:p>
          <a:p>
            <a:pPr marL="0" indent="0">
              <a:buNone/>
            </a:pPr>
            <a:endParaRPr lang="ru-RU" sz="2600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Выход: 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C (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шифртекст</a:t>
            </a:r>
            <a:r>
              <a:rPr lang="ru-RU" sz="2600" dirty="0" smtClean="0">
                <a:latin typeface="Bahnschrift Light" panose="020B0502040204020203" pitchFamily="34" charset="0"/>
              </a:rPr>
              <a:t>, 64 бита)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Раундовые преобразования ключа и блоков текста в </a:t>
            </a:r>
            <a:r>
              <a:rPr lang="en-US" dirty="0" err="1" smtClean="0">
                <a:latin typeface="Bahnschrift Light" panose="020B0502040204020203" pitchFamily="34" charset="0"/>
              </a:rPr>
              <a:t>Cryptool</a:t>
            </a:r>
            <a:r>
              <a:rPr lang="en-US" dirty="0" smtClean="0">
                <a:latin typeface="Bahnschrift Light" panose="020B0502040204020203" pitchFamily="34" charset="0"/>
              </a:rPr>
              <a:t> 2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4" t="6315" r="5315" b="4426"/>
          <a:stretch/>
        </p:blipFill>
        <p:spPr>
          <a:xfrm>
            <a:off x="6409852" y="2264810"/>
            <a:ext cx="4943948" cy="3420893"/>
          </a:xfr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4" t="7332" r="5956" b="6449"/>
          <a:stretch/>
        </p:blipFill>
        <p:spPr>
          <a:xfrm>
            <a:off x="838199" y="2264810"/>
            <a:ext cx="4978901" cy="34190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28388" y="5683826"/>
            <a:ext cx="448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Преобразования ключа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1631" y="5683826"/>
            <a:ext cx="448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Преобразования текста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36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Блок-схема </a:t>
            </a:r>
            <a:r>
              <a:rPr lang="ru-RU" dirty="0" err="1" smtClean="0">
                <a:latin typeface="Bahnschrift Light" panose="020B0502040204020203" pitchFamily="34" charset="0"/>
              </a:rPr>
              <a:t>зашифрования</a:t>
            </a:r>
            <a:r>
              <a:rPr lang="ru-RU" dirty="0" smtClean="0">
                <a:latin typeface="Bahnschrift Light" panose="020B0502040204020203" pitchFamily="34" charset="0"/>
              </a:rPr>
              <a:t> </a:t>
            </a:r>
            <a:r>
              <a:rPr lang="en-US" dirty="0" smtClean="0">
                <a:latin typeface="Bahnschrift Light" panose="020B0502040204020203" pitchFamily="34" charset="0"/>
              </a:rPr>
              <a:t>DES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90" y="1690688"/>
            <a:ext cx="6592220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37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Изучение упрощённого блочного шифра в </a:t>
            </a:r>
            <a:r>
              <a:rPr lang="en-US" dirty="0" err="1" smtClean="0">
                <a:latin typeface="Bahnschrift Light" panose="020B0502040204020203" pitchFamily="34" charset="0"/>
              </a:rPr>
              <a:t>DA_Tutor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9926370" cy="4366945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Bahnschrift Light" panose="020B0502040204020203" pitchFamily="34" charset="0"/>
              </a:rPr>
              <a:t>Основные </a:t>
            </a:r>
            <a:r>
              <a:rPr lang="ru-RU" sz="1400" dirty="0" smtClean="0">
                <a:latin typeface="Bahnschrift Light" panose="020B0502040204020203" pitchFamily="34" charset="0"/>
              </a:rPr>
              <a:t>параметры шифра:</a:t>
            </a:r>
            <a:endParaRPr lang="ru-RU" sz="1400" dirty="0">
              <a:latin typeface="Bahnschrift Light" panose="020B0502040204020203" pitchFamily="34" charset="0"/>
            </a:endParaRPr>
          </a:p>
          <a:p>
            <a:r>
              <a:rPr lang="ru-RU" sz="1400" dirty="0">
                <a:latin typeface="Bahnschrift Light" panose="020B0502040204020203" pitchFamily="34" charset="0"/>
              </a:rPr>
              <a:t>Размер блока </a:t>
            </a:r>
            <a:r>
              <a:rPr lang="ru-RU" sz="1400" dirty="0" smtClean="0">
                <a:latin typeface="Bahnschrift Light" panose="020B0502040204020203" pitchFamily="34" charset="0"/>
              </a:rPr>
              <a:t>данных: 32 </a:t>
            </a:r>
            <a:r>
              <a:rPr lang="ru-RU" sz="1400" dirty="0">
                <a:latin typeface="Bahnschrift Light" panose="020B0502040204020203" pitchFamily="34" charset="0"/>
              </a:rPr>
              <a:t>бита</a:t>
            </a:r>
          </a:p>
          <a:p>
            <a:r>
              <a:rPr lang="ru-RU" sz="1400" dirty="0">
                <a:latin typeface="Bahnschrift Light" panose="020B0502040204020203" pitchFamily="34" charset="0"/>
              </a:rPr>
              <a:t>Размер </a:t>
            </a:r>
            <a:r>
              <a:rPr lang="ru-RU" sz="1400" dirty="0" smtClean="0">
                <a:latin typeface="Bahnschrift Light" panose="020B0502040204020203" pitchFamily="34" charset="0"/>
              </a:rPr>
              <a:t>ключа: 64 </a:t>
            </a:r>
            <a:r>
              <a:rPr lang="ru-RU" sz="1400" dirty="0">
                <a:latin typeface="Bahnschrift Light" panose="020B0502040204020203" pitchFamily="34" charset="0"/>
              </a:rPr>
              <a:t>бита</a:t>
            </a:r>
          </a:p>
          <a:p>
            <a:r>
              <a:rPr lang="ru-RU" sz="1400" dirty="0">
                <a:latin typeface="Bahnschrift Light" panose="020B0502040204020203" pitchFamily="34" charset="0"/>
              </a:rPr>
              <a:t>Число </a:t>
            </a:r>
            <a:r>
              <a:rPr lang="ru-RU" sz="1400" dirty="0" smtClean="0">
                <a:latin typeface="Bahnschrift Light" panose="020B0502040204020203" pitchFamily="34" charset="0"/>
              </a:rPr>
              <a:t>раундов: 4</a:t>
            </a:r>
            <a:endParaRPr lang="ru-RU" sz="1400" dirty="0">
              <a:latin typeface="Bahnschrift Light" panose="020B0502040204020203" pitchFamily="34" charset="0"/>
            </a:endParaRPr>
          </a:p>
          <a:p>
            <a:r>
              <a:rPr lang="ru-RU" sz="1400" dirty="0">
                <a:latin typeface="Bahnschrift Light" panose="020B0502040204020203" pitchFamily="34" charset="0"/>
              </a:rPr>
              <a:t>Размер раундового </a:t>
            </a:r>
            <a:r>
              <a:rPr lang="ru-RU" sz="1400" dirty="0" smtClean="0">
                <a:latin typeface="Bahnschrift Light" panose="020B0502040204020203" pitchFamily="34" charset="0"/>
              </a:rPr>
              <a:t>ключа: 16 </a:t>
            </a:r>
            <a:r>
              <a:rPr lang="ru-RU" sz="1400" dirty="0">
                <a:latin typeface="Bahnschrift Light" panose="020B0502040204020203" pitchFamily="34" charset="0"/>
              </a:rPr>
              <a:t>бит</a:t>
            </a:r>
          </a:p>
          <a:p>
            <a:r>
              <a:rPr lang="ru-RU" sz="1400" dirty="0" smtClean="0">
                <a:latin typeface="Bahnschrift Light" panose="020B0502040204020203" pitchFamily="34" charset="0"/>
              </a:rPr>
              <a:t>Структура: Сеть </a:t>
            </a:r>
            <a:r>
              <a:rPr lang="ru-RU" sz="1400" dirty="0" err="1">
                <a:latin typeface="Bahnschrift Light" panose="020B0502040204020203" pitchFamily="34" charset="0"/>
              </a:rPr>
              <a:t>Фейстеля</a:t>
            </a:r>
            <a:endParaRPr lang="ru-RU" sz="1400" dirty="0">
              <a:latin typeface="Bahnschrift Light" panose="020B0502040204020203" pitchFamily="34" charset="0"/>
            </a:endParaRPr>
          </a:p>
          <a:p>
            <a:r>
              <a:rPr lang="ru-RU" sz="1400" dirty="0">
                <a:latin typeface="Bahnschrift Light" panose="020B0502040204020203" pitchFamily="34" charset="0"/>
              </a:rPr>
              <a:t>Развёртывание </a:t>
            </a:r>
            <a:r>
              <a:rPr lang="ru-RU" sz="1400" dirty="0" smtClean="0">
                <a:latin typeface="Bahnschrift Light" panose="020B0502040204020203" pitchFamily="34" charset="0"/>
              </a:rPr>
              <a:t>ключа: 64-битный </a:t>
            </a:r>
            <a:r>
              <a:rPr lang="ru-RU" sz="1400" dirty="0">
                <a:latin typeface="Bahnschrift Light" panose="020B0502040204020203" pitchFamily="34" charset="0"/>
              </a:rPr>
              <a:t>ключ делится на 4 части по 16 бит, используются по очереди</a:t>
            </a:r>
          </a:p>
          <a:p>
            <a:r>
              <a:rPr lang="ru-RU" sz="1400" dirty="0">
                <a:latin typeface="Bahnschrift Light" panose="020B0502040204020203" pitchFamily="34" charset="0"/>
              </a:rPr>
              <a:t>Раундовая </a:t>
            </a:r>
            <a:r>
              <a:rPr lang="ru-RU" sz="1400" dirty="0" smtClean="0">
                <a:latin typeface="Bahnschrift Light" panose="020B0502040204020203" pitchFamily="34" charset="0"/>
              </a:rPr>
              <a:t>функция: 4 </a:t>
            </a:r>
            <a:r>
              <a:rPr lang="ru-RU" sz="1400" dirty="0">
                <a:latin typeface="Bahnschrift Light" panose="020B0502040204020203" pitchFamily="34" charset="0"/>
              </a:rPr>
              <a:t>S-блока (4 → 4 бита) + P-блок (циклический сдвиг влево на 5 бит</a:t>
            </a:r>
            <a:r>
              <a:rPr lang="ru-RU" sz="1400" dirty="0" smtClean="0">
                <a:latin typeface="Bahnschrift Light" panose="020B0502040204020203" pitchFamily="34" charset="0"/>
              </a:rPr>
              <a:t>)</a:t>
            </a:r>
          </a:p>
          <a:p>
            <a:endParaRPr lang="ru-RU" sz="1400" dirty="0" smtClean="0">
              <a:latin typeface="Bahnschrift Light" panose="020B0502040204020203" pitchFamily="34" charset="0"/>
            </a:endParaRPr>
          </a:p>
          <a:p>
            <a:endParaRPr lang="ru-RU" sz="1400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Bahnschrift Light" panose="020B0502040204020203" pitchFamily="34" charset="0"/>
              </a:rPr>
              <a:t>Скриншот сгенерированных</a:t>
            </a:r>
          </a:p>
          <a:p>
            <a:pPr marL="0" indent="0">
              <a:buNone/>
            </a:pPr>
            <a:r>
              <a:rPr lang="ru-RU" sz="1400" dirty="0" smtClean="0">
                <a:latin typeface="Bahnschrift Light" panose="020B0502040204020203" pitchFamily="34" charset="0"/>
              </a:rPr>
              <a:t>                   версий </a:t>
            </a:r>
            <a:r>
              <a:rPr lang="en-US" sz="1400" dirty="0" smtClean="0">
                <a:latin typeface="Bahnschrift Light" panose="020B0502040204020203" pitchFamily="34" charset="0"/>
              </a:rPr>
              <a:t>S</a:t>
            </a:r>
            <a:r>
              <a:rPr lang="ru-RU" sz="1400" dirty="0" smtClean="0">
                <a:latin typeface="Bahnschrift Light" panose="020B0502040204020203" pitchFamily="34" charset="0"/>
              </a:rPr>
              <a:t>-блоков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846" y="4389341"/>
            <a:ext cx="6876570" cy="229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0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20136"/>
            <a:ext cx="9922755" cy="1082739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Алгоритм </a:t>
            </a:r>
            <a:r>
              <a:rPr lang="ru-RU" dirty="0">
                <a:latin typeface="Bahnschrift Light" panose="020B0502040204020203" pitchFamily="34" charset="0"/>
              </a:rPr>
              <a:t>расчёта дифференциальных </a:t>
            </a:r>
            <a:r>
              <a:rPr lang="ru-RU" dirty="0" smtClean="0">
                <a:latin typeface="Bahnschrift Light" panose="020B0502040204020203" pitchFamily="34" charset="0"/>
              </a:rPr>
              <a:t>характеристик </a:t>
            </a:r>
            <a:r>
              <a:rPr lang="en-US" dirty="0" smtClean="0">
                <a:latin typeface="Bahnschrift Light" panose="020B0502040204020203" pitchFamily="34" charset="0"/>
              </a:rPr>
              <a:t>S-</a:t>
            </a:r>
            <a:r>
              <a:rPr lang="ru-RU" dirty="0" smtClean="0">
                <a:latin typeface="Bahnschrift Light" panose="020B0502040204020203" pitchFamily="34" charset="0"/>
              </a:rPr>
              <a:t>блока 1</a:t>
            </a:r>
            <a:endParaRPr lang="ru-RU" dirty="0">
              <a:latin typeface="Bahnschrift Light" panose="020B0502040204020203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8045114"/>
              </p:ext>
            </p:extLst>
          </p:nvPr>
        </p:nvGraphicFramePr>
        <p:xfrm>
          <a:off x="938240" y="1744146"/>
          <a:ext cx="5272437" cy="4339788"/>
        </p:xfrm>
        <a:graphic>
          <a:graphicData uri="http://schemas.openxmlformats.org/drawingml/2006/table">
            <a:tbl>
              <a:tblPr/>
              <a:tblGrid>
                <a:gridCol w="892777"/>
                <a:gridCol w="1094915"/>
                <a:gridCol w="1094915"/>
                <a:gridCol w="1094915"/>
                <a:gridCol w="1094915"/>
              </a:tblGrid>
              <a:tr h="415968">
                <a:tc>
                  <a:txBody>
                    <a:bodyPr/>
                    <a:lstStyle/>
                    <a:p>
                      <a:pPr algn="l"/>
                      <a:r>
                        <a:rPr lang="ru-RU" sz="1000" b="0" dirty="0">
                          <a:effectLst/>
                          <a:latin typeface="Bahnschrift Light" panose="020B0502040204020203" pitchFamily="34" charset="0"/>
                        </a:rPr>
                        <a:t>№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000" b="0" dirty="0">
                          <a:effectLst/>
                          <a:latin typeface="Bahnschrift Light" panose="020B0502040204020203" pitchFamily="34" charset="0"/>
                        </a:rPr>
                        <a:t>Δ</a:t>
                      </a:r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X (hex)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000" b="0" dirty="0">
                          <a:effectLst/>
                          <a:latin typeface="Bahnschrift Light" panose="020B0502040204020203" pitchFamily="34" charset="0"/>
                        </a:rPr>
                        <a:t>Δ</a:t>
                      </a:r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Y (hex)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dirty="0">
                          <a:effectLst/>
                          <a:latin typeface="Bahnschrift Light" panose="020B0502040204020203" pitchFamily="34" charset="0"/>
                        </a:rPr>
                        <a:t>Число совпадений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dirty="0">
                          <a:effectLst/>
                          <a:latin typeface="Bahnschrift Light" panose="020B0502040204020203" pitchFamily="34" charset="0"/>
                        </a:rPr>
                        <a:t>Вероятность </a:t>
                      </a:r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p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0011 (0x3)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1100 (0xC)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  <a:latin typeface="Bahnschrift Light" panose="020B0502040204020203" pitchFamily="34" charset="0"/>
                        </a:rPr>
                        <a:t>12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effectLst/>
                          <a:latin typeface="Bahnschrift Light" panose="020B0502040204020203" pitchFamily="34" charset="0"/>
                        </a:rPr>
                        <a:t>0.7500</a:t>
                      </a:r>
                      <a:endParaRPr lang="ru-RU" sz="1000" b="0" dirty="0">
                        <a:effectLst/>
                        <a:latin typeface="Bahnschrift Light" panose="020B0502040204020203" pitchFamily="34" charset="0"/>
                      </a:endParaRP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2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1100 (0xC)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1111 (0xF)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  <a:latin typeface="Bahnschrift Light" panose="020B0502040204020203" pitchFamily="34" charset="0"/>
                        </a:rPr>
                        <a:t>12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effectLst/>
                          <a:latin typeface="Bahnschrift Light" panose="020B0502040204020203" pitchFamily="34" charset="0"/>
                        </a:rPr>
                        <a:t>0.7500</a:t>
                      </a:r>
                      <a:endParaRPr lang="ru-RU" sz="1000" b="0">
                        <a:effectLst/>
                        <a:latin typeface="Bahnschrift Light" panose="020B0502040204020203" pitchFamily="34" charset="0"/>
                      </a:endParaRP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3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1111 (0xF)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0011 (0x3)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12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effectLst/>
                          <a:latin typeface="Bahnschrift Light" panose="020B0502040204020203" pitchFamily="34" charset="0"/>
                        </a:rPr>
                        <a:t>0.7500</a:t>
                      </a:r>
                      <a:endParaRPr lang="ru-RU" sz="1000" b="0">
                        <a:effectLst/>
                        <a:latin typeface="Bahnschrift Light" panose="020B0502040204020203" pitchFamily="34" charset="0"/>
                      </a:endParaRP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4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0001 (0x1)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0001 (0x1)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5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0010 (0x2)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Bahnschrift Light" panose="020B0502040204020203" pitchFamily="34" charset="0"/>
                        </a:rPr>
                        <a:t>1101 (0xD)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6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0100 (0x4)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0100 (0x4)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7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0101 (0x5)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0101 (0x5)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8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0110 (0x6)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1001 (0x9)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9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0111 (0x7)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1000 (0x8)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1000 (0x8)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1011 (0xB)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11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1001 (0x9)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1010 (0xA)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12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1010 (0xA)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0110 (0x6)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13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1011 (0xB)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0111 (0x7)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14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1101 (0xD)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1110 (0xE)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88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15</a:t>
                      </a:r>
                    </a:p>
                  </a:txBody>
                  <a:tcPr marL="51597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1110 (0xE)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Bahnschrift Light" panose="020B0502040204020203" pitchFamily="34" charset="0"/>
                        </a:rPr>
                        <a:t>0010 (0x2)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Bahnschrift Light" panose="020B0502040204020203" pitchFamily="34" charset="0"/>
                        </a:rPr>
                        <a:t>10</a:t>
                      </a:r>
                    </a:p>
                  </a:txBody>
                  <a:tcPr marL="85995" marR="85995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  <a:latin typeface="Bahnschrift Light" panose="020B0502040204020203" pitchFamily="34" charset="0"/>
                        </a:rPr>
                        <a:t>0.6250</a:t>
                      </a:r>
                    </a:p>
                  </a:txBody>
                  <a:tcPr marL="85995" marR="51597" marT="53747" marB="537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813" y="1594428"/>
            <a:ext cx="2436507" cy="1995817"/>
          </a:xfrm>
          <a:prstGeom prst="rect">
            <a:avLst/>
          </a:prstGeom>
        </p:spPr>
      </p:pic>
      <p:pic>
        <p:nvPicPr>
          <p:cNvPr id="9" name="Объект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996" y="0"/>
            <a:ext cx="2180004" cy="6676262"/>
          </a:xfrm>
          <a:prstGeom prst="rect">
            <a:avLst/>
          </a:prstGeom>
        </p:spPr>
      </p:pic>
      <p:pic>
        <p:nvPicPr>
          <p:cNvPr id="3074" name="Picture 2" descr="https://sun9-9.vkuserphoto.ru/s/v1/ig2/Aw7g6NllZKSt7IdCoShY-fLu2iCCOUCWcr4SdKak2qwq30QAjhXwnfHKSFV2ET_D9oElOQmFvX1e8Kjm3fA8hyCn.jpg?quality=95&amp;as=32x15,48x23,72x34,108x52,160x77,240x115,360x172,480x230,540x259,640x307,720x345,1080x517,1280x613,1440x690,1768x847&amp;from=bu&amp;cs=1768x0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69" t="16360" r="5961" b="8188"/>
          <a:stretch/>
        </p:blipFill>
        <p:spPr bwMode="auto">
          <a:xfrm>
            <a:off x="6408528" y="3634552"/>
            <a:ext cx="3729369" cy="270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32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Исследование </a:t>
            </a:r>
            <a:r>
              <a:rPr lang="en-US" dirty="0" smtClean="0">
                <a:latin typeface="Bahnschrift Light" panose="020B0502040204020203" pitchFamily="34" charset="0"/>
              </a:rPr>
              <a:t>DES </a:t>
            </a:r>
            <a:r>
              <a:rPr lang="ru-RU" dirty="0" smtClean="0">
                <a:latin typeface="Bahnschrift Light" panose="020B0502040204020203" pitchFamily="34" charset="0"/>
              </a:rPr>
              <a:t>в режимах </a:t>
            </a:r>
            <a:r>
              <a:rPr lang="en-US" dirty="0" smtClean="0">
                <a:latin typeface="Bahnschrift Light" panose="020B0502040204020203" pitchFamily="34" charset="0"/>
              </a:rPr>
              <a:t>ECB </a:t>
            </a:r>
            <a:r>
              <a:rPr lang="ru-RU" dirty="0" smtClean="0">
                <a:latin typeface="Bahnschrift Light" panose="020B0502040204020203" pitchFamily="34" charset="0"/>
              </a:rPr>
              <a:t>и </a:t>
            </a:r>
            <a:r>
              <a:rPr lang="en-US" dirty="0" smtClean="0">
                <a:latin typeface="Bahnschrift Light" panose="020B0502040204020203" pitchFamily="34" charset="0"/>
              </a:rPr>
              <a:t>CBC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Ключ: 13 37 99 69 42 </a:t>
            </a:r>
            <a:r>
              <a:rPr lang="en-US" dirty="0" smtClean="0">
                <a:latin typeface="Bahnschrift Light" panose="020B0502040204020203" pitchFamily="34" charset="0"/>
              </a:rPr>
              <a:t>AB CD EF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Исходное изображение</a:t>
            </a:r>
          </a:p>
          <a:p>
            <a:pPr marL="0" indent="0">
              <a:buNone/>
            </a:pPr>
            <a:endParaRPr lang="ru-RU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После </a:t>
            </a:r>
            <a:r>
              <a:rPr lang="en-US" dirty="0" smtClean="0">
                <a:latin typeface="Bahnschrift Light" panose="020B0502040204020203" pitchFamily="34" charset="0"/>
              </a:rPr>
              <a:t>ECB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endParaRPr lang="en-US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После </a:t>
            </a:r>
            <a:r>
              <a:rPr lang="en-US" dirty="0" smtClean="0">
                <a:latin typeface="Bahnschrift Light" panose="020B0502040204020203" pitchFamily="34" charset="0"/>
              </a:rPr>
              <a:t>CBC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4" name="Объект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96" y="5815329"/>
            <a:ext cx="2005021" cy="99314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96" y="4258149"/>
            <a:ext cx="2005021" cy="99314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02" y="2813681"/>
            <a:ext cx="2005021" cy="993141"/>
          </a:xfrm>
          <a:prstGeom prst="rect">
            <a:avLst/>
          </a:prstGeom>
        </p:spPr>
      </p:pic>
      <p:pic>
        <p:nvPicPr>
          <p:cNvPr id="7" name="Объект 3">
            <a:extLst>
              <a:ext uri="{FF2B5EF4-FFF2-40B4-BE49-F238E27FC236}">
                <a16:creationId xmlns:a16="http://schemas.microsoft.com/office/drawing/2014/main" xmlns="" id="{9D52FB04-9B97-4098-83BE-BFB0F300AF6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3" t="12721"/>
          <a:stretch/>
        </p:blipFill>
        <p:spPr>
          <a:xfrm>
            <a:off x="4859806" y="2597143"/>
            <a:ext cx="3476625" cy="3579820"/>
          </a:xfrm>
          <a:prstGeom prst="rect">
            <a:avLst/>
          </a:prstGeom>
        </p:spPr>
      </p:pic>
      <p:pic>
        <p:nvPicPr>
          <p:cNvPr id="8" name="Объект 6">
            <a:extLst>
              <a:ext uri="{FF2B5EF4-FFF2-40B4-BE49-F238E27FC236}">
                <a16:creationId xmlns:a16="http://schemas.microsoft.com/office/drawing/2014/main" xmlns="" id="{C0C72A4E-5353-40EA-9EF2-0A575750509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14" t="14392"/>
          <a:stretch/>
        </p:blipFill>
        <p:spPr>
          <a:xfrm>
            <a:off x="8524815" y="2597143"/>
            <a:ext cx="3238560" cy="388302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473891" y="2282933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ECB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313393" y="2227811"/>
            <a:ext cx="619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CBC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22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Анализ 3</a:t>
            </a:r>
            <a:r>
              <a:rPr lang="en-US" dirty="0" smtClean="0">
                <a:latin typeface="Bahnschrift Light" panose="020B0502040204020203" pitchFamily="34" charset="0"/>
              </a:rPr>
              <a:t>DES</a:t>
            </a:r>
            <a:r>
              <a:rPr lang="ru-RU" dirty="0">
                <a:latin typeface="Bahnschrift Light" panose="020B0502040204020203" pitchFamily="34" charset="0"/>
              </a:rPr>
              <a:t> </a:t>
            </a:r>
            <a:r>
              <a:rPr lang="ru-RU" dirty="0" smtClean="0">
                <a:latin typeface="Bahnschrift Light" panose="020B0502040204020203" pitchFamily="34" charset="0"/>
              </a:rPr>
              <a:t>с ключом 24 байта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" t="23057" r="5427" b="6020"/>
          <a:stretch/>
        </p:blipFill>
        <p:spPr>
          <a:xfrm>
            <a:off x="838200" y="1690688"/>
            <a:ext cx="10662795" cy="4557712"/>
          </a:xfrm>
        </p:spPr>
      </p:pic>
    </p:spTree>
    <p:extLst>
      <p:ext uri="{BB962C8B-B14F-4D97-AF65-F5344CB8AC3E}">
        <p14:creationId xmlns:p14="http://schemas.microsoft.com/office/powerpoint/2010/main" val="369567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Анализ 3</a:t>
            </a:r>
            <a:r>
              <a:rPr lang="en-US" dirty="0" smtClean="0">
                <a:latin typeface="Bahnschrift Light" panose="020B0502040204020203" pitchFamily="34" charset="0"/>
              </a:rPr>
              <a:t>DES</a:t>
            </a:r>
            <a:r>
              <a:rPr lang="ru-RU" dirty="0">
                <a:latin typeface="Bahnschrift Light" panose="020B0502040204020203" pitchFamily="34" charset="0"/>
              </a:rPr>
              <a:t> </a:t>
            </a:r>
            <a:r>
              <a:rPr lang="ru-RU" dirty="0" smtClean="0">
                <a:latin typeface="Bahnschrift Light" panose="020B0502040204020203" pitchFamily="34" charset="0"/>
              </a:rPr>
              <a:t>с ключом </a:t>
            </a:r>
            <a:r>
              <a:rPr lang="en-US" dirty="0" smtClean="0">
                <a:latin typeface="Bahnschrift Light" panose="020B0502040204020203" pitchFamily="34" charset="0"/>
              </a:rPr>
              <a:t>16</a:t>
            </a:r>
            <a:r>
              <a:rPr lang="ru-RU" dirty="0" smtClean="0">
                <a:latin typeface="Bahnschrift Light" panose="020B0502040204020203" pitchFamily="34" charset="0"/>
              </a:rPr>
              <a:t> байт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14520" r="5661" b="2300"/>
          <a:stretch/>
        </p:blipFill>
        <p:spPr>
          <a:xfrm>
            <a:off x="838200" y="1690687"/>
            <a:ext cx="10524322" cy="4586287"/>
          </a:xfrm>
        </p:spPr>
      </p:pic>
    </p:spTree>
    <p:extLst>
      <p:ext uri="{BB962C8B-B14F-4D97-AF65-F5344CB8AC3E}">
        <p14:creationId xmlns:p14="http://schemas.microsoft.com/office/powerpoint/2010/main" val="75805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«Магма»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05"/>
          <a:stretch/>
        </p:blipFill>
        <p:spPr>
          <a:xfrm>
            <a:off x="6840383" y="1357313"/>
            <a:ext cx="2532217" cy="435133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41"/>
          <a:stretch/>
        </p:blipFill>
        <p:spPr>
          <a:xfrm>
            <a:off x="9571536" y="1357313"/>
            <a:ext cx="2534739" cy="421957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972380" y="5835134"/>
            <a:ext cx="3198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Раундовые преобразования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786" t="727"/>
          <a:stretch/>
        </p:blipFill>
        <p:spPr>
          <a:xfrm>
            <a:off x="538399" y="1813434"/>
            <a:ext cx="5726600" cy="364070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171684" y="5454142"/>
            <a:ext cx="2230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Блок-схема шифра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02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Раундовые преобразования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693009"/>
              </p:ext>
            </p:extLst>
          </p:nvPr>
        </p:nvGraphicFramePr>
        <p:xfrm>
          <a:off x="1012926" y="1376128"/>
          <a:ext cx="7805148" cy="5314391"/>
        </p:xfrm>
        <a:graphic>
          <a:graphicData uri="http://schemas.openxmlformats.org/drawingml/2006/table">
            <a:tbl>
              <a:tblPr/>
              <a:tblGrid>
                <a:gridCol w="1094373"/>
                <a:gridCol w="1342155"/>
                <a:gridCol w="1342155"/>
                <a:gridCol w="1342155"/>
                <a:gridCol w="1342155"/>
                <a:gridCol w="1342155"/>
              </a:tblGrid>
              <a:tr h="313655"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  <a:latin typeface="+mn-lt"/>
                        </a:rPr>
                        <a:t>Раунд</a:t>
                      </a: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  <a:latin typeface="+mn-lt"/>
                        </a:rPr>
                        <a:t>Левый </a:t>
                      </a:r>
                      <a:r>
                        <a:rPr lang="ru-RU" sz="800" b="0" dirty="0" smtClean="0">
                          <a:effectLst/>
                          <a:latin typeface="+mn-lt"/>
                        </a:rPr>
                        <a:t>вход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 smtClean="0">
                          <a:effectLst/>
                          <a:latin typeface="+mn-lt"/>
                        </a:rPr>
                        <a:t>Левый выход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  <a:latin typeface="+mn-lt"/>
                        </a:rPr>
                        <a:t>Ключ </a:t>
                      </a:r>
                      <a:r>
                        <a:rPr lang="ru-RU" sz="800" b="0" dirty="0" smtClean="0">
                          <a:effectLst/>
                          <a:latin typeface="+mn-lt"/>
                        </a:rPr>
                        <a:t>раунда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 smtClean="0">
                          <a:effectLst/>
                          <a:latin typeface="+mn-lt"/>
                        </a:rPr>
                        <a:t>Правый вход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  <a:latin typeface="+mn-lt"/>
                        </a:rPr>
                        <a:t>Правый </a:t>
                      </a:r>
                      <a:r>
                        <a:rPr lang="ru-RU" sz="800" b="0" dirty="0" smtClean="0">
                          <a:effectLst/>
                          <a:latin typeface="+mn-lt"/>
                        </a:rPr>
                        <a:t>выход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44A40F6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866B9E7E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K0 = FFEEDDCC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36C97D6A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36C97D6A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36C97D6A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 smtClean="0">
                          <a:effectLst/>
                          <a:latin typeface="+mn-lt"/>
                        </a:rPr>
                        <a:t>863A257C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K1 = BBAA9988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866B9E7E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866B9E7E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3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866B9E7E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 smtClean="0">
                          <a:effectLst/>
                          <a:latin typeface="+mn-lt"/>
                        </a:rPr>
                        <a:t>BD567F2A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K2 = 77665544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863A257C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863A257C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4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863A257C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86634C39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K3 = 33221100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BD567F2A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BD567F2A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5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BD567F2A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B5D77ECB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K4 = F0F1F2F3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86634C39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86634C39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6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86634C39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A51EF963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K5 = F4F5F6F7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B5D77ECB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B5D77ECB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7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B5D77ECB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 smtClean="0">
                          <a:effectLst/>
                          <a:latin typeface="+mn-lt"/>
                        </a:rPr>
                        <a:t>30420155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K6 = F8F9FAFB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A51EF963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A51EF963</a:t>
                      </a:r>
                      <a:endParaRPr lang="ru-RU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8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A51EF963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1B43AE37</a:t>
                      </a:r>
                      <a:endParaRPr lang="ru-RU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K7 = FCFDFEFF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  <a:latin typeface="+mn-lt"/>
                        </a:rPr>
                        <a:t>30420155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 smtClean="0">
                          <a:effectLst/>
                          <a:latin typeface="+mn-lt"/>
                        </a:rPr>
                        <a:t>30420155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9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  <a:latin typeface="+mn-lt"/>
                        </a:rPr>
                        <a:t>30420155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1BA112D6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K0 = FFEEDDCC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1B43AE37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1B43AE37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10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1B43AE37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EE26D053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K1 = BBAA9988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1BA112D6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1BA112D6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11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1BA112D6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BADE5E9B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K2 = 77665544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EE26D053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EE26D053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12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EE26D053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51A1EDC9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K3 = 33221100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BADE5E9B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BADE5E9B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13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BADE5E9B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6E05DE88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K4 = F0F1F2F3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51A1EDC9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51A1EDC9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14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51A1EDC9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26DFE1D9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K5 = F4F5F6F7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6E05DE88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6E05DE88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15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6E05DE88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A1630D31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K6 = F8F9FAFB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26DFE1D9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26DFE1D9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16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26DFE1D9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58BE0647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K7 = FCFDFEFF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A1630D31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A1630D31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17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A1630D31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FDF71FCD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K0 = FFEEDDCC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58BE0647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58BE0647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18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58BE0647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22332D63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K1 = BBAA9988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FDF71FCD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FDF71FCD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19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FDF71FCD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365D506E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K2 = 77665544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22332D63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22332D63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20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22332D63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45A9D146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K3 = 33221100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365D506E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365D506E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21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365D506E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C7CC96E5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K4 = F0F1F2F3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45A9D146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45A9D146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22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45A9D146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6E67522C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K5 = F4F5F6F7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C7CC96E5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C7CC96E5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23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C7CC96E5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B905DA83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K6 = F8F9FAFB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6E67522C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6E67522C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24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6E67522C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B96FE126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K7 = FCFDFEFF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B905DA83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B905DA83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25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B905DA83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9DDCF18D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K7 = FCFDFEFF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B96FE126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B96FE126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26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B96FE126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D8F16AF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K6 = F8F9FAFB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9DDCF18D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9DDCF18D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27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9DDCF18D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1396A918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K5 = F4F5F6F7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D8F16AF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D8F16AF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28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D8F16AF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8DEC2E1A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K4 = F0F1F2F3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1396A918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1396A918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29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1396A918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8312C5EA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K3 = 33221100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8DEC2E1A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8DEC2E1A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30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8DEC2E1A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C1CD5747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K2 = 77665544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8312C5EA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8312C5EA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  <a:latin typeface="+mn-lt"/>
                        </a:rPr>
                        <a:t>31</a:t>
                      </a:r>
                      <a:endParaRPr lang="ru-RU" sz="800" b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8312C5EA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EECF4C3F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K1 = BBAA9988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C1CD5747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C1CD5747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73">
                <a:tc>
                  <a:txBody>
                    <a:bodyPr/>
                    <a:lstStyle/>
                    <a:p>
                      <a:r>
                        <a:rPr lang="ru-RU" sz="800" b="1" dirty="0">
                          <a:effectLst/>
                          <a:latin typeface="+mn-lt"/>
                        </a:rPr>
                        <a:t>32</a:t>
                      </a:r>
                      <a:endParaRPr lang="ru-RU" sz="800" b="0" dirty="0">
                        <a:effectLst/>
                        <a:latin typeface="+mn-lt"/>
                      </a:endParaRPr>
                    </a:p>
                  </a:txBody>
                  <a:tcPr marL="16131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C1CD5747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50F66ADF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+mn-lt"/>
                        </a:rPr>
                        <a:t>K0 = FFEEDDCC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+mn-lt"/>
                        </a:rPr>
                        <a:t>EECF4C3F</a:t>
                      </a:r>
                    </a:p>
                  </a:txBody>
                  <a:tcPr marL="26885" marR="26885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 smtClean="0">
                          <a:effectLst/>
                          <a:latin typeface="+mn-lt"/>
                        </a:rPr>
                        <a:t>EECF4C3F</a:t>
                      </a:r>
                      <a:endParaRPr lang="en-US" sz="800" b="0" dirty="0">
                        <a:effectLst/>
                        <a:latin typeface="+mn-lt"/>
                      </a:endParaRPr>
                    </a:p>
                  </a:txBody>
                  <a:tcPr marL="26885" marR="16131" marT="16803" marB="16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7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536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Результаты </a:t>
            </a:r>
            <a:r>
              <a:rPr lang="ru-RU" dirty="0">
                <a:latin typeface="Bahnschrift Light" panose="020B0502040204020203" pitchFamily="34" charset="0"/>
              </a:rPr>
              <a:t>расчёта дифференциальных характеристик </a:t>
            </a:r>
            <a:r>
              <a:rPr lang="ru-RU" dirty="0" smtClean="0">
                <a:latin typeface="Bahnschrift Light" panose="020B0502040204020203" pitchFamily="34" charset="0"/>
              </a:rPr>
              <a:t>S-блока 1</a:t>
            </a:r>
            <a:endParaRPr lang="ru-RU" dirty="0">
              <a:latin typeface="Bahnschrift Light" panose="020B0502040204020203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905820"/>
              </p:ext>
            </p:extLst>
          </p:nvPr>
        </p:nvGraphicFramePr>
        <p:xfrm>
          <a:off x="5341104" y="1690688"/>
          <a:ext cx="6766712" cy="783668"/>
        </p:xfrm>
        <a:graphic>
          <a:graphicData uri="http://schemas.openxmlformats.org/drawingml/2006/table">
            <a:tbl>
              <a:tblPr/>
              <a:tblGrid>
                <a:gridCol w="715664"/>
                <a:gridCol w="330200"/>
                <a:gridCol w="433625"/>
                <a:gridCol w="383972"/>
                <a:gridCol w="394626"/>
                <a:gridCol w="380245"/>
                <a:gridCol w="371192"/>
                <a:gridCol w="389299"/>
                <a:gridCol w="362139"/>
                <a:gridCol w="389299"/>
                <a:gridCol w="353085"/>
                <a:gridCol w="380245"/>
                <a:gridCol w="443620"/>
                <a:gridCol w="362139"/>
                <a:gridCol w="380245"/>
                <a:gridCol w="334979"/>
                <a:gridCol w="362138"/>
              </a:tblGrid>
              <a:tr h="244238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Вход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52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Выход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716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548539"/>
              </p:ext>
            </p:extLst>
          </p:nvPr>
        </p:nvGraphicFramePr>
        <p:xfrm>
          <a:off x="265569" y="2482129"/>
          <a:ext cx="4822479" cy="4010669"/>
        </p:xfrm>
        <a:graphic>
          <a:graphicData uri="http://schemas.openxmlformats.org/drawingml/2006/table">
            <a:tbl>
              <a:tblPr/>
              <a:tblGrid>
                <a:gridCol w="422494"/>
                <a:gridCol w="278162"/>
                <a:gridCol w="177412"/>
                <a:gridCol w="311882"/>
                <a:gridCol w="311882"/>
                <a:gridCol w="311882"/>
                <a:gridCol w="311882"/>
                <a:gridCol w="311882"/>
                <a:gridCol w="311882"/>
                <a:gridCol w="311882"/>
                <a:gridCol w="231201"/>
                <a:gridCol w="289711"/>
                <a:gridCol w="226336"/>
                <a:gridCol w="235391"/>
                <a:gridCol w="253497"/>
                <a:gridCol w="253497"/>
                <a:gridCol w="271604"/>
              </a:tblGrid>
              <a:tr h="295981">
                <a:tc>
                  <a:txBody>
                    <a:bodyPr/>
                    <a:lstStyle/>
                    <a:p>
                      <a:pPr algn="l"/>
                      <a:r>
                        <a:rPr lang="el-GR" sz="900" b="0" dirty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 i="1" dirty="0">
                          <a:effectLst/>
                          <a:latin typeface="+mn-lt"/>
                        </a:rPr>
                        <a:t>X</a:t>
                      </a:r>
                      <a:r>
                        <a:rPr lang="en-US" sz="900" b="0" dirty="0">
                          <a:effectLst/>
                          <a:latin typeface="+mn-lt"/>
                        </a:rPr>
                        <a:t>\</a:t>
                      </a:r>
                      <a:r>
                        <a:rPr lang="el-GR" sz="900" b="0" dirty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 i="1" dirty="0">
                          <a:effectLst/>
                          <a:latin typeface="+mn-lt"/>
                        </a:rPr>
                        <a:t>Y</a:t>
                      </a:r>
                      <a:endParaRPr lang="en-US" sz="900" b="0" dirty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0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1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2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3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4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5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6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+mn-lt"/>
                        </a:rPr>
                        <a:t>6</a:t>
                      </a:r>
                      <a:endParaRPr lang="ru-RU" sz="900" b="0" dirty="0">
                        <a:effectLst/>
                        <a:latin typeface="+mn-lt"/>
                      </a:endParaRP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7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8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9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  <a:latin typeface="+mn-lt"/>
                        </a:rPr>
                        <a:t>A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+mn-lt"/>
                        </a:rPr>
                        <a:t>6</a:t>
                      </a:r>
                      <a:endParaRPr lang="ru-RU" sz="900" b="0">
                        <a:effectLst/>
                        <a:latin typeface="+mn-lt"/>
                      </a:endParaRP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  <a:latin typeface="+mn-lt"/>
                        </a:rPr>
                        <a:t>B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  <a:latin typeface="+mn-lt"/>
                        </a:rPr>
                        <a:t>C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  <a:latin typeface="+mn-lt"/>
                        </a:rPr>
                        <a:t>D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  <a:latin typeface="+mn-lt"/>
                        </a:rPr>
                        <a:t>E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818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  <a:latin typeface="+mn-lt"/>
                        </a:rPr>
                        <a:t>F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45604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7600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006" marR="45604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5441069" y="2961449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>
                <a:solidFill>
                  <a:srgbClr val="0F1115"/>
                </a:solidFill>
                <a:latin typeface="Bahnschrift Light" panose="020B0502040204020203" pitchFamily="34" charset="0"/>
              </a:rPr>
              <a:t>Подсчёт для </a:t>
            </a:r>
            <a:r>
              <a:rPr lang="ru-RU" sz="1600" dirty="0" smtClean="0">
                <a:solidFill>
                  <a:srgbClr val="0F1115"/>
                </a:solidFill>
                <a:latin typeface="Bahnschrift Light" panose="020B0502040204020203" pitchFamily="34" charset="0"/>
              </a:rPr>
              <a:t>ΔX=1:</a:t>
            </a:r>
            <a:r>
              <a:rPr lang="ru-RU" sz="1600" dirty="0">
                <a:solidFill>
                  <a:srgbClr val="0F1115"/>
                </a:solidFill>
                <a:latin typeface="Bahnschrift Light" panose="020B0502040204020203" pitchFamily="34" charset="0"/>
              </a:rPr>
              <a:t> значения ΔY∈{2,3,4,6,8,A,E,F</a:t>
            </a:r>
            <a:r>
              <a:rPr lang="ru-RU" sz="1600" dirty="0" smtClean="0">
                <a:solidFill>
                  <a:srgbClr val="0F1115"/>
                </a:solidFill>
                <a:latin typeface="Bahnschrift Light" panose="020B0502040204020203" pitchFamily="34" charset="0"/>
              </a:rPr>
              <a:t>} </a:t>
            </a:r>
            <a:r>
              <a:rPr lang="ru-RU" sz="1600" dirty="0">
                <a:solidFill>
                  <a:srgbClr val="0F1115"/>
                </a:solidFill>
                <a:latin typeface="Bahnschrift Light" panose="020B0502040204020203" pitchFamily="34" charset="0"/>
              </a:rPr>
              <a:t> встречаются по 2 раза. Вероятность каждого: </a:t>
            </a:r>
            <a:r>
              <a:rPr lang="ru-RU" sz="1600" dirty="0" smtClean="0">
                <a:solidFill>
                  <a:srgbClr val="0F1115"/>
                </a:solidFill>
                <a:latin typeface="Bahnschrift Light" panose="020B0502040204020203" pitchFamily="34" charset="0"/>
              </a:rPr>
              <a:t>2/16=0,125.</a:t>
            </a:r>
            <a:endParaRPr lang="ru-RU" sz="1600" dirty="0">
              <a:latin typeface="Bahnschrift Light" panose="020B0502040204020203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690917" y="2430976"/>
            <a:ext cx="2978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0F1115"/>
                </a:solidFill>
                <a:latin typeface="Bahnschrift Light" panose="020B0502040204020203" pitchFamily="34" charset="0"/>
              </a:rPr>
              <a:t>Таблица замена </a:t>
            </a:r>
            <a:r>
              <a:rPr lang="en-US" dirty="0" smtClean="0">
                <a:solidFill>
                  <a:srgbClr val="0F1115"/>
                </a:solidFill>
                <a:latin typeface="Bahnschrift Light" panose="020B0502040204020203" pitchFamily="34" charset="0"/>
              </a:rPr>
              <a:t>S-</a:t>
            </a:r>
            <a:r>
              <a:rPr lang="ru-RU" dirty="0" smtClean="0">
                <a:solidFill>
                  <a:srgbClr val="0F1115"/>
                </a:solidFill>
                <a:latin typeface="Bahnschrift Light" panose="020B0502040204020203" pitchFamily="34" charset="0"/>
              </a:rPr>
              <a:t>блока 1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34990" y="6488668"/>
            <a:ext cx="5601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F1115"/>
                </a:solidFill>
                <a:latin typeface="Bahnschrift Light" panose="020B0502040204020203" pitchFamily="34" charset="0"/>
              </a:rPr>
              <a:t>Таблица дифференциальных характеристик (</a:t>
            </a:r>
            <a:r>
              <a:rPr lang="en-US" dirty="0">
                <a:solidFill>
                  <a:srgbClr val="0F1115"/>
                </a:solidFill>
                <a:latin typeface="Bahnschrift Light" panose="020B0502040204020203" pitchFamily="34" charset="0"/>
              </a:rPr>
              <a:t>DDT)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43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Результаты расчёта дифференциальных характеристик S-блока 1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635857"/>
              </p:ext>
            </p:extLst>
          </p:nvPr>
        </p:nvGraphicFramePr>
        <p:xfrm>
          <a:off x="914941" y="1886050"/>
          <a:ext cx="2525376" cy="4389380"/>
        </p:xfrm>
        <a:graphic>
          <a:graphicData uri="http://schemas.openxmlformats.org/drawingml/2006/table">
            <a:tbl>
              <a:tblPr/>
              <a:tblGrid>
                <a:gridCol w="397811"/>
                <a:gridCol w="516048"/>
                <a:gridCol w="769545"/>
                <a:gridCol w="841972"/>
              </a:tblGrid>
              <a:tr h="229018">
                <a:tc>
                  <a:txBody>
                    <a:bodyPr/>
                    <a:lstStyle/>
                    <a:p>
                      <a:pPr algn="l"/>
                      <a:r>
                        <a:rPr lang="el-GR" sz="900" b="0" dirty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 i="1" dirty="0">
                          <a:effectLst/>
                          <a:latin typeface="+mn-lt"/>
                        </a:rPr>
                        <a:t>X</a:t>
                      </a:r>
                      <a:endParaRPr lang="en-US" sz="900" b="0" dirty="0">
                        <a:effectLst/>
                        <a:latin typeface="+mn-lt"/>
                      </a:endParaRP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900" b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>
                          <a:effectLst/>
                          <a:latin typeface="+mn-lt"/>
                        </a:rPr>
                        <a:t>Y</a:t>
                      </a:r>
                      <a:r>
                        <a:rPr lang="el-GR" sz="900" b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 i="1">
                          <a:effectLst/>
                          <a:latin typeface="+mn-lt"/>
                        </a:rPr>
                        <a:t>Y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Количество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Вероятность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9018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45053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5088" marR="75088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0,25</a:t>
                      </a:r>
                    </a:p>
                  </a:txBody>
                  <a:tcPr marL="75088" marR="45053" marT="46930" marB="46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009588"/>
              </p:ext>
            </p:extLst>
          </p:nvPr>
        </p:nvGraphicFramePr>
        <p:xfrm>
          <a:off x="5883230" y="1886050"/>
          <a:ext cx="2781144" cy="982980"/>
        </p:xfrm>
        <a:graphic>
          <a:graphicData uri="http://schemas.openxmlformats.org/drawingml/2006/table">
            <a:tbl>
              <a:tblPr/>
              <a:tblGrid>
                <a:gridCol w="384018"/>
                <a:gridCol w="571500"/>
                <a:gridCol w="890588"/>
                <a:gridCol w="935038"/>
              </a:tblGrid>
              <a:tr h="316304">
                <a:tc>
                  <a:txBody>
                    <a:bodyPr/>
                    <a:lstStyle/>
                    <a:p>
                      <a:pPr algn="l"/>
                      <a:r>
                        <a:rPr lang="el-GR" sz="900" b="0" dirty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 i="1" dirty="0">
                          <a:effectLst/>
                          <a:latin typeface="+mn-lt"/>
                        </a:rPr>
                        <a:t>X</a:t>
                      </a:r>
                      <a:endParaRPr lang="en-US" sz="9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900" b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>
                          <a:effectLst/>
                          <a:latin typeface="+mn-lt"/>
                        </a:rPr>
                        <a:t>Y</a:t>
                      </a:r>
                      <a:r>
                        <a:rPr lang="el-GR" sz="900" b="0">
                          <a:effectLst/>
                          <a:latin typeface="+mn-lt"/>
                        </a:rPr>
                        <a:t>Δ</a:t>
                      </a:r>
                      <a:r>
                        <a:rPr lang="en-US" sz="900" b="0" i="1">
                          <a:effectLst/>
                          <a:latin typeface="+mn-lt"/>
                        </a:rPr>
                        <a:t>Y</a:t>
                      </a:r>
                      <a:endParaRPr lang="en-US" sz="900" b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Количество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0" dirty="0">
                          <a:effectLst/>
                          <a:latin typeface="+mn-lt"/>
                        </a:rPr>
                        <a:t>Вероятность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0,375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+mn-lt"/>
                        </a:rPr>
                        <a:t>0,375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694918" y="2879726"/>
            <a:ext cx="6239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Наиболее сильные дифференциальные характеристики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57634" y="6285862"/>
            <a:ext cx="3483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Характеристики средней силы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694918" y="3732949"/>
            <a:ext cx="643097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Вывод: Максимальная </a:t>
            </a:r>
            <a:r>
              <a:rPr lang="ru-RU" dirty="0">
                <a:latin typeface="Bahnschrift Light" panose="020B0502040204020203" pitchFamily="34" charset="0"/>
              </a:rPr>
              <a:t>вероятность дифференциальной характеристики S-блока 1 составляет 0,375, что превышает порог 0,25. Однако в полном 32-раундовом шифре «Магма» вероятность сохранения такой характеристики падает до </a:t>
            </a:r>
            <a:r>
              <a:rPr lang="ru-RU" dirty="0" smtClean="0">
                <a:latin typeface="Bahnschrift Light" panose="020B0502040204020203" pitchFamily="34" charset="0"/>
              </a:rPr>
              <a:t>0,375</a:t>
            </a:r>
            <a:r>
              <a:rPr lang="ru-RU" baseline="30000" dirty="0" smtClean="0">
                <a:latin typeface="Bahnschrift Light" panose="020B0502040204020203" pitchFamily="34" charset="0"/>
              </a:rPr>
              <a:t>32 </a:t>
            </a:r>
            <a:r>
              <a:rPr lang="ru-RU" dirty="0" smtClean="0">
                <a:latin typeface="Bahnschrift Light" panose="020B0502040204020203" pitchFamily="34" charset="0"/>
              </a:rPr>
              <a:t>≈ 10</a:t>
            </a:r>
            <a:r>
              <a:rPr lang="ru-RU" baseline="30000" dirty="0">
                <a:latin typeface="Bahnschrift Light" panose="020B0502040204020203" pitchFamily="34" charset="0"/>
              </a:rPr>
              <a:t>−</a:t>
            </a:r>
            <a:r>
              <a:rPr lang="ru-RU" baseline="30000" dirty="0" smtClean="0">
                <a:latin typeface="Bahnschrift Light" panose="020B0502040204020203" pitchFamily="34" charset="0"/>
              </a:rPr>
              <a:t>14</a:t>
            </a:r>
            <a:r>
              <a:rPr lang="ru-RU" dirty="0" smtClean="0">
                <a:latin typeface="Bahnschrift Light" panose="020B0502040204020203" pitchFamily="34" charset="0"/>
              </a:rPr>
              <a:t>, </a:t>
            </a:r>
            <a:r>
              <a:rPr lang="ru-RU" dirty="0">
                <a:latin typeface="Bahnschrift Light" panose="020B0502040204020203" pitchFamily="34" charset="0"/>
              </a:rPr>
              <a:t>что делает дифференциальный </a:t>
            </a:r>
            <a:r>
              <a:rPr lang="ru-RU" dirty="0" err="1">
                <a:latin typeface="Bahnschrift Light" panose="020B0502040204020203" pitchFamily="34" charset="0"/>
              </a:rPr>
              <a:t>криптоанализ</a:t>
            </a:r>
            <a:r>
              <a:rPr lang="ru-RU" dirty="0">
                <a:latin typeface="Bahnschrift Light" panose="020B0502040204020203" pitchFamily="34" charset="0"/>
              </a:rPr>
              <a:t> вычислительно невозможным.</a:t>
            </a:r>
          </a:p>
        </p:txBody>
      </p:sp>
    </p:spTree>
    <p:extLst>
      <p:ext uri="{BB962C8B-B14F-4D97-AF65-F5344CB8AC3E}">
        <p14:creationId xmlns:p14="http://schemas.microsoft.com/office/powerpoint/2010/main" val="24255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Заключение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Повышена компетентность в сфере симметричных блочных шифров: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Изучен шифр </a:t>
            </a:r>
            <a:r>
              <a:rPr lang="en-US" sz="2600" dirty="0">
                <a:latin typeface="Bahnschrift Light" panose="020B0502040204020203" pitchFamily="34" charset="0"/>
              </a:rPr>
              <a:t>DES — </a:t>
            </a:r>
            <a:r>
              <a:rPr lang="ru-RU" sz="2600" dirty="0">
                <a:latin typeface="Bahnschrift Light" panose="020B0502040204020203" pitchFamily="34" charset="0"/>
              </a:rPr>
              <a:t>блочный симметричный, сеть </a:t>
            </a:r>
            <a:r>
              <a:rPr lang="ru-RU" sz="2600" dirty="0" err="1">
                <a:latin typeface="Bahnschrift Light" panose="020B0502040204020203" pitchFamily="34" charset="0"/>
              </a:rPr>
              <a:t>Фейстеля</a:t>
            </a:r>
            <a:r>
              <a:rPr lang="ru-RU" sz="2600" dirty="0">
                <a:latin typeface="Bahnschrift Light" panose="020B0502040204020203" pitchFamily="34" charset="0"/>
              </a:rPr>
              <a:t>; ключ — 56 бит; сложность </a:t>
            </a:r>
            <a:r>
              <a:rPr lang="en-US" sz="2600" dirty="0" smtClean="0">
                <a:latin typeface="Bahnschrift Light" panose="020B0502040204020203" pitchFamily="34" charset="0"/>
              </a:rPr>
              <a:t>O(2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56</a:t>
            </a:r>
            <a:r>
              <a:rPr lang="en-US" sz="2600" dirty="0" smtClean="0">
                <a:latin typeface="Bahnschrift Light" panose="020B0502040204020203" pitchFamily="34" charset="0"/>
              </a:rPr>
              <a:t>).</a:t>
            </a:r>
            <a:endParaRPr lang="en-US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Изучен шифр 3</a:t>
            </a:r>
            <a:r>
              <a:rPr lang="en-US" sz="2600" dirty="0">
                <a:latin typeface="Bahnschrift Light" panose="020B0502040204020203" pitchFamily="34" charset="0"/>
              </a:rPr>
              <a:t>DES — </a:t>
            </a:r>
            <a:r>
              <a:rPr lang="ru-RU" sz="2600" dirty="0">
                <a:latin typeface="Bahnschrift Light" panose="020B0502040204020203" pitchFamily="34" charset="0"/>
              </a:rPr>
              <a:t>блочный симметричный, трёхкратный </a:t>
            </a:r>
            <a:r>
              <a:rPr lang="en-US" sz="2600" dirty="0">
                <a:latin typeface="Bahnschrift Light" panose="020B0502040204020203" pitchFamily="34" charset="0"/>
              </a:rPr>
              <a:t>DES; </a:t>
            </a:r>
            <a:r>
              <a:rPr lang="ru-RU" sz="2600" dirty="0">
                <a:latin typeface="Bahnschrift Light" panose="020B0502040204020203" pitchFamily="34" charset="0"/>
              </a:rPr>
              <a:t>ключ — 112/168 бит; сложность </a:t>
            </a:r>
            <a:r>
              <a:rPr lang="en-US" sz="2600" dirty="0" smtClean="0">
                <a:latin typeface="Bahnschrift Light" panose="020B0502040204020203" pitchFamily="34" charset="0"/>
              </a:rPr>
              <a:t>O(2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112</a:t>
            </a:r>
            <a:r>
              <a:rPr lang="en-US" sz="2600" dirty="0" smtClean="0">
                <a:latin typeface="Bahnschrift Light" panose="020B0502040204020203" pitchFamily="34" charset="0"/>
              </a:rPr>
              <a:t>)/O(2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168</a:t>
            </a:r>
            <a:r>
              <a:rPr lang="en-US" sz="2600" dirty="0" smtClean="0">
                <a:latin typeface="Bahnschrift Light" panose="020B0502040204020203" pitchFamily="34" charset="0"/>
              </a:rPr>
              <a:t>).</a:t>
            </a:r>
            <a:endParaRPr lang="en-US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Изучен шифр «Магма» — блочный симметричный, сеть </a:t>
            </a:r>
            <a:r>
              <a:rPr lang="ru-RU" sz="2600" dirty="0" err="1">
                <a:latin typeface="Bahnschrift Light" panose="020B0502040204020203" pitchFamily="34" charset="0"/>
              </a:rPr>
              <a:t>Фейстеля</a:t>
            </a:r>
            <a:r>
              <a:rPr lang="ru-RU" sz="2600" dirty="0">
                <a:latin typeface="Bahnschrift Light" panose="020B0502040204020203" pitchFamily="34" charset="0"/>
              </a:rPr>
              <a:t>; ключ — 256 бит; сложность </a:t>
            </a:r>
            <a:r>
              <a:rPr lang="en-US" sz="2600" dirty="0" smtClean="0">
                <a:latin typeface="Bahnschrift Light" panose="020B0502040204020203" pitchFamily="34" charset="0"/>
              </a:rPr>
              <a:t>O(2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256</a:t>
            </a:r>
            <a:r>
              <a:rPr lang="en-US" sz="2600" dirty="0" smtClean="0">
                <a:latin typeface="Bahnschrift Light" panose="020B0502040204020203" pitchFamily="34" charset="0"/>
              </a:rPr>
              <a:t>).</a:t>
            </a:r>
            <a:endParaRPr lang="en-US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Изучен упрощённый блочный шифр (</a:t>
            </a:r>
            <a:r>
              <a:rPr lang="en-US" sz="2600" dirty="0" err="1">
                <a:latin typeface="Bahnschrift Light" panose="020B0502040204020203" pitchFamily="34" charset="0"/>
              </a:rPr>
              <a:t>DA_Tutor</a:t>
            </a:r>
            <a:r>
              <a:rPr lang="en-US" sz="2600" dirty="0">
                <a:latin typeface="Bahnschrift Light" panose="020B0502040204020203" pitchFamily="34" charset="0"/>
              </a:rPr>
              <a:t>) — </a:t>
            </a:r>
            <a:r>
              <a:rPr lang="ru-RU" sz="2600" dirty="0">
                <a:latin typeface="Bahnschrift Light" panose="020B0502040204020203" pitchFamily="34" charset="0"/>
              </a:rPr>
              <a:t>сеть </a:t>
            </a:r>
            <a:r>
              <a:rPr lang="ru-RU" sz="2600" dirty="0" err="1">
                <a:latin typeface="Bahnschrift Light" panose="020B0502040204020203" pitchFamily="34" charset="0"/>
              </a:rPr>
              <a:t>Фейстеля</a:t>
            </a:r>
            <a:r>
              <a:rPr lang="ru-RU" sz="2600" dirty="0">
                <a:latin typeface="Bahnschrift Light" panose="020B0502040204020203" pitchFamily="34" charset="0"/>
              </a:rPr>
              <a:t>; ключ — 64 бита; сложность </a:t>
            </a:r>
            <a:r>
              <a:rPr lang="en-US" sz="2600" dirty="0" smtClean="0">
                <a:latin typeface="Bahnschrift Light" panose="020B0502040204020203" pitchFamily="34" charset="0"/>
              </a:rPr>
              <a:t>O(2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64</a:t>
            </a:r>
            <a:r>
              <a:rPr lang="en-US" sz="2600" dirty="0" smtClean="0">
                <a:latin typeface="Bahnschrift Light" panose="020B0502040204020203" pitchFamily="34" charset="0"/>
              </a:rPr>
              <a:t>).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60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1313</Words>
  <Application>Microsoft Office PowerPoint</Application>
  <PresentationFormat>Широкоэкранный</PresentationFormat>
  <Paragraphs>767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Bahnschrift Light</vt:lpstr>
      <vt:lpstr>Calibri</vt:lpstr>
      <vt:lpstr>Calibri Light</vt:lpstr>
      <vt:lpstr>Тема Office</vt:lpstr>
      <vt:lpstr>Изучение шифров DES, 3DES и Магма</vt:lpstr>
      <vt:lpstr>Цель и задачи</vt:lpstr>
      <vt:lpstr>Шифр DES</vt:lpstr>
      <vt:lpstr>Раундовые преобразования ключа и блоков текста в Cryptool 2</vt:lpstr>
      <vt:lpstr>Блок-схема зашифрования DES</vt:lpstr>
      <vt:lpstr>Изучение упрощённого блочного шифра в DA_Tutor</vt:lpstr>
      <vt:lpstr>Алгоритм расчёта дифференциальных характеристик S-блока 1</vt:lpstr>
      <vt:lpstr>Исследование DES в режимах ECB и CBC</vt:lpstr>
      <vt:lpstr>Анализ 3DES с ключом 24 байта</vt:lpstr>
      <vt:lpstr>Анализ 3DES с ключом 16 байт</vt:lpstr>
      <vt:lpstr>Шифр «Магма»</vt:lpstr>
      <vt:lpstr>Раундовые преобразования</vt:lpstr>
      <vt:lpstr>Результаты расчёта дифференциальных характеристик S-блока 1</vt:lpstr>
      <vt:lpstr>Результаты расчёта дифференциальных характеристик S-блока 1</vt:lpstr>
      <vt:lpstr>Заключение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Изучение к</dc:title>
  <dc:creator>mazer300</dc:creator>
  <cp:lastModifiedBy>mazer300</cp:lastModifiedBy>
  <cp:revision>61</cp:revision>
  <dcterms:created xsi:type="dcterms:W3CDTF">2026-09-17T17:31:40Z</dcterms:created>
  <dcterms:modified xsi:type="dcterms:W3CDTF">2026-10-11T19:47:14Z</dcterms:modified>
</cp:coreProperties>
</file>