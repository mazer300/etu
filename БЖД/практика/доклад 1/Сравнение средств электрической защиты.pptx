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Archivo Black" panose="020B0604020202020204" charset="0"/>
      <p:regular r:id="rId23"/>
    </p:embeddedFont>
    <p:embeddedFont>
      <p:font typeface="Open Sans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8" roundtripDataSignature="AMtx7mhcLj/TNfdEe1JYX+G5r5P7v9wi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5414EE1-0D6F-46C7-ACF3-A23413AE6FBE}">
  <a:tblStyle styleId="{05414EE1-0D6F-46C7-ACF3-A23413AE6FB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57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38483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17384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12749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31695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27299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136085a50b166d32_2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" name="Google Shape;175;h136085a50b166d32_2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966110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136085a50b166d32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7" name="Google Shape;207;h136085a50b166d32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4269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136085a50b166d32_2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9" name="Google Shape;239;h136085a50b166d32_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703105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136085a50b166d32_3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1" name="Google Shape;271;h136085a50b166d32_3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949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h136085a50b166d32_3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3" name="Google Shape;303;h136085a50b166d32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20632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h136085a50b166d32_3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5" name="Google Shape;335;h136085a50b166d32_3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3383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7" name="Google Shape;3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83493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h136085a50b166d32_3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1" name="Google Shape;381;h136085a50b166d32_3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2175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72083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h136085a50b166d32_3_1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2" name="Google Shape;402;h136085a50b166d32_3_1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011207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h136085a50b166d32_3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5" name="Google Shape;415;h136085a50b166d32_3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72301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26" name="Google Shape;4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2630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23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2" name="Google Shape;12;p23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3" name="Google Shape;13;p23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" name="Google Shape;1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3"/>
          <p:cNvSpPr txBox="1">
            <a:spLocks noGrp="1"/>
          </p:cNvSpPr>
          <p:nvPr>
            <p:ph type="ctrTitle"/>
          </p:nvPr>
        </p:nvSpPr>
        <p:spPr>
          <a:xfrm>
            <a:off x="1447800" y="1597025"/>
            <a:ext cx="114171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ubTitle" idx="1"/>
          </p:nvPr>
        </p:nvSpPr>
        <p:spPr>
          <a:xfrm>
            <a:off x="5943600" y="4651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0" name="Google Shape;20;p24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1" name="Google Shape;21;p2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2" name="Google Shape;22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4"/>
          <p:cNvSpPr txBox="1">
            <a:spLocks noGrp="1"/>
          </p:cNvSpPr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body" idx="1"/>
          </p:nvPr>
        </p:nvSpPr>
        <p:spPr>
          <a:xfrm>
            <a:off x="5034575" y="4780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25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8" name="Google Shape;28;p25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9" name="Google Shape;29;p25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" name="Google Shape;30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5"/>
          <p:cNvSpPr txBox="1">
            <a:spLocks noGrp="1"/>
          </p:cNvSpPr>
          <p:nvPr>
            <p:ph type="title"/>
          </p:nvPr>
        </p:nvSpPr>
        <p:spPr>
          <a:xfrm>
            <a:off x="1406800" y="1135650"/>
            <a:ext cx="11320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1"/>
          </p:nvPr>
        </p:nvSpPr>
        <p:spPr>
          <a:xfrm>
            <a:off x="5257788" y="6188088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6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36" name="Google Shape;36;p26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37" name="Google Shape;37;p26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" name="Google Shape;38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6"/>
          <p:cNvSpPr txBox="1">
            <a:spLocks noGrp="1"/>
          </p:cNvSpPr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1"/>
          </p:nvPr>
        </p:nvSpPr>
        <p:spPr>
          <a:xfrm>
            <a:off x="2943175" y="4176975"/>
            <a:ext cx="5062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2"/>
          </p:nvPr>
        </p:nvSpPr>
        <p:spPr>
          <a:xfrm>
            <a:off x="8196503" y="4176975"/>
            <a:ext cx="5062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27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45" name="Google Shape;45;p27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46" name="Google Shape;46;p27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7" name="Google Shape;47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7"/>
          <p:cNvSpPr txBox="1">
            <a:spLocks noGrp="1"/>
          </p:cNvSpPr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body" idx="1"/>
          </p:nvPr>
        </p:nvSpPr>
        <p:spPr>
          <a:xfrm>
            <a:off x="2923050" y="4550350"/>
            <a:ext cx="5073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7"/>
          <p:cNvSpPr txBox="1">
            <a:spLocks noGrp="1"/>
          </p:cNvSpPr>
          <p:nvPr>
            <p:ph type="body" idx="2"/>
          </p:nvPr>
        </p:nvSpPr>
        <p:spPr>
          <a:xfrm>
            <a:off x="8182623" y="4550350"/>
            <a:ext cx="50763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28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54" name="Google Shape;54;p28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55" name="Google Shape;55;p28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6" name="Google Shape;5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8"/>
          <p:cNvSpPr txBox="1">
            <a:spLocks noGrp="1"/>
          </p:cNvSpPr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29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61" name="Google Shape;61;p29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62" name="Google Shape;62;p29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3" name="Google Shape;6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9"/>
          <p:cNvSpPr txBox="1">
            <a:spLocks noGrp="1"/>
          </p:cNvSpPr>
          <p:nvPr>
            <p:ph type="title"/>
          </p:nvPr>
        </p:nvSpPr>
        <p:spPr>
          <a:xfrm>
            <a:off x="1413350" y="2304800"/>
            <a:ext cx="110013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65" name="Google Shape;65;p29"/>
          <p:cNvSpPr txBox="1">
            <a:spLocks noGrp="1"/>
          </p:cNvSpPr>
          <p:nvPr>
            <p:ph type="body" idx="1"/>
          </p:nvPr>
        </p:nvSpPr>
        <p:spPr>
          <a:xfrm>
            <a:off x="8408750" y="4172925"/>
            <a:ext cx="5111700" cy="37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195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2pPr>
            <a:lvl3pPr marL="1371600" lvl="2" indent="-36195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3pPr>
            <a:lvl4pPr marL="1828800" lvl="3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/>
            </a:lvl4pPr>
            <a:lvl5pPr marL="2286000" lvl="4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/>
            </a:lvl5pPr>
            <a:lvl6pPr marL="2743200" lvl="5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6pPr>
            <a:lvl7pPr marL="3200400" lvl="6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7pPr>
            <a:lvl8pPr marL="3657600" lvl="7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8pPr>
            <a:lvl9pPr marL="4114800" lvl="8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9"/>
          <p:cNvSpPr txBox="1">
            <a:spLocks noGrp="1"/>
          </p:cNvSpPr>
          <p:nvPr>
            <p:ph type="body" idx="2"/>
          </p:nvPr>
        </p:nvSpPr>
        <p:spPr>
          <a:xfrm>
            <a:off x="2399625" y="4172925"/>
            <a:ext cx="56379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9" name="Google Shape;69;p30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70" name="Google Shape;70;p30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71" name="Google Shape;71;p30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2" name="Google Shape;7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0"/>
          <p:cNvSpPr txBox="1">
            <a:spLocks noGrp="1"/>
          </p:cNvSpPr>
          <p:nvPr>
            <p:ph type="title"/>
          </p:nvPr>
        </p:nvSpPr>
        <p:spPr>
          <a:xfrm>
            <a:off x="1362424" y="2905300"/>
            <a:ext cx="1103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Font typeface="Archivo Black"/>
              <a:buNone/>
              <a:defRPr sz="7000"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4" name="Google Shape;74;p30"/>
          <p:cNvSpPr>
            <a:spLocks noGrp="1"/>
          </p:cNvSpPr>
          <p:nvPr>
            <p:ph type="pic" idx="2"/>
          </p:nvPr>
        </p:nvSpPr>
        <p:spPr>
          <a:xfrm>
            <a:off x="11092863" y="392272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30"/>
          <p:cNvSpPr txBox="1">
            <a:spLocks noGrp="1"/>
          </p:cNvSpPr>
          <p:nvPr>
            <p:ph type="body" idx="1"/>
          </p:nvPr>
        </p:nvSpPr>
        <p:spPr>
          <a:xfrm>
            <a:off x="2808788" y="43454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1443625" y="1703950"/>
            <a:ext cx="11645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0"/>
              <a:buFont typeface="Archivo Black"/>
              <a:buNone/>
              <a:defRPr sz="7000" b="0" i="0" u="none" strike="noStrike" cap="none">
                <a:solidFill>
                  <a:schemeClr val="accen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5034575" y="47809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–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L="1371600" marR="0" lvl="2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L="1828800" marR="0" lvl="3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–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L="2286000" marR="0" lvl="4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»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L="2743200" marR="0" lvl="5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L="3200400" marR="0" lvl="6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L="3657600" marR="0" lvl="7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L="4114800" marR="0" lvl="8" indent="-3619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chivo Black"/>
              <a:buChar char="•"/>
              <a:defRPr sz="2100" b="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2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1"/>
          <p:cNvGrpSpPr/>
          <p:nvPr/>
        </p:nvGrpSpPr>
        <p:grpSpPr>
          <a:xfrm>
            <a:off x="629084" y="573226"/>
            <a:ext cx="17029837" cy="8995886"/>
            <a:chOff x="0" y="-38100"/>
            <a:chExt cx="4485224" cy="2369287"/>
          </a:xfrm>
        </p:grpSpPr>
        <p:sp>
          <p:nvSpPr>
            <p:cNvPr id="83" name="Google Shape;83;p1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84" name="Google Shape;84;p1"/>
            <p:cNvSpPr txBox="1"/>
            <p:nvPr/>
          </p:nvSpPr>
          <p:spPr>
            <a:xfrm>
              <a:off x="0" y="-38100"/>
              <a:ext cx="4485223" cy="23692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5" name="Google Shape;85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5625" y="1502800"/>
            <a:ext cx="4664700" cy="7262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822070" y="2640415"/>
            <a:ext cx="1971800" cy="475551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" name="Google Shape;87;p1"/>
          <p:cNvGrpSpPr/>
          <p:nvPr/>
        </p:nvGrpSpPr>
        <p:grpSpPr>
          <a:xfrm>
            <a:off x="5249458" y="7735638"/>
            <a:ext cx="1182553" cy="1313441"/>
            <a:chOff x="0" y="0"/>
            <a:chExt cx="1576737" cy="1751254"/>
          </a:xfrm>
        </p:grpSpPr>
        <p:cxnSp>
          <p:nvCxnSpPr>
            <p:cNvPr id="88" name="Google Shape;88;p1"/>
            <p:cNvCxnSpPr/>
            <p:nvPr/>
          </p:nvCxnSpPr>
          <p:spPr>
            <a:xfrm>
              <a:off x="0" y="1751254"/>
              <a:ext cx="1576737" cy="0"/>
            </a:xfrm>
            <a:prstGeom prst="straightConnector1">
              <a:avLst/>
            </a:prstGeom>
            <a:noFill/>
            <a:ln w="3302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"/>
            <p:cNvCxnSpPr/>
            <p:nvPr/>
          </p:nvCxnSpPr>
          <p:spPr>
            <a:xfrm rot="10800000">
              <a:off x="1417987" y="0"/>
              <a:ext cx="0" cy="1751254"/>
            </a:xfrm>
            <a:prstGeom prst="straightConnector1">
              <a:avLst/>
            </a:prstGeom>
            <a:noFill/>
            <a:ln w="317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0" name="Google Shape;90;p1"/>
          <p:cNvGrpSpPr/>
          <p:nvPr/>
        </p:nvGrpSpPr>
        <p:grpSpPr>
          <a:xfrm rot="10800000">
            <a:off x="1155820" y="1250791"/>
            <a:ext cx="1182553" cy="1313441"/>
            <a:chOff x="0" y="0"/>
            <a:chExt cx="1576737" cy="1751254"/>
          </a:xfrm>
        </p:grpSpPr>
        <p:cxnSp>
          <p:nvCxnSpPr>
            <p:cNvPr id="91" name="Google Shape;91;p1"/>
            <p:cNvCxnSpPr/>
            <p:nvPr/>
          </p:nvCxnSpPr>
          <p:spPr>
            <a:xfrm>
              <a:off x="0" y="1751254"/>
              <a:ext cx="1576737" cy="0"/>
            </a:xfrm>
            <a:prstGeom prst="straightConnector1">
              <a:avLst/>
            </a:prstGeom>
            <a:noFill/>
            <a:ln w="3302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"/>
            <p:cNvCxnSpPr/>
            <p:nvPr/>
          </p:nvCxnSpPr>
          <p:spPr>
            <a:xfrm rot="10800000">
              <a:off x="1417987" y="0"/>
              <a:ext cx="0" cy="1751254"/>
            </a:xfrm>
            <a:prstGeom prst="straightConnector1">
              <a:avLst/>
            </a:prstGeom>
            <a:noFill/>
            <a:ln w="317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3" name="Google Shape;93;p1"/>
          <p:cNvGrpSpPr/>
          <p:nvPr/>
        </p:nvGrpSpPr>
        <p:grpSpPr>
          <a:xfrm>
            <a:off x="5249458" y="1250791"/>
            <a:ext cx="1182553" cy="1313441"/>
            <a:chOff x="0" y="165100"/>
            <a:chExt cx="1576737" cy="1751254"/>
          </a:xfrm>
        </p:grpSpPr>
        <p:cxnSp>
          <p:nvCxnSpPr>
            <p:cNvPr id="94" name="Google Shape;94;p1"/>
            <p:cNvCxnSpPr/>
            <p:nvPr/>
          </p:nvCxnSpPr>
          <p:spPr>
            <a:xfrm rot="10800000">
              <a:off x="0" y="165100"/>
              <a:ext cx="1576737" cy="0"/>
            </a:xfrm>
            <a:prstGeom prst="straightConnector1">
              <a:avLst/>
            </a:prstGeom>
            <a:noFill/>
            <a:ln w="3302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"/>
            <p:cNvCxnSpPr/>
            <p:nvPr/>
          </p:nvCxnSpPr>
          <p:spPr>
            <a:xfrm>
              <a:off x="1417987" y="165100"/>
              <a:ext cx="0" cy="1751254"/>
            </a:xfrm>
            <a:prstGeom prst="straightConnector1">
              <a:avLst/>
            </a:prstGeom>
            <a:noFill/>
            <a:ln w="317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96" name="Google Shape;96;p1"/>
          <p:cNvGrpSpPr/>
          <p:nvPr/>
        </p:nvGrpSpPr>
        <p:grpSpPr>
          <a:xfrm rot="10800000">
            <a:off x="1155820" y="7735638"/>
            <a:ext cx="1182553" cy="1313441"/>
            <a:chOff x="0" y="165100"/>
            <a:chExt cx="1576737" cy="1751254"/>
          </a:xfrm>
        </p:grpSpPr>
        <p:cxnSp>
          <p:nvCxnSpPr>
            <p:cNvPr id="97" name="Google Shape;97;p1"/>
            <p:cNvCxnSpPr/>
            <p:nvPr/>
          </p:nvCxnSpPr>
          <p:spPr>
            <a:xfrm rot="10800000">
              <a:off x="0" y="165100"/>
              <a:ext cx="1576737" cy="0"/>
            </a:xfrm>
            <a:prstGeom prst="straightConnector1">
              <a:avLst/>
            </a:prstGeom>
            <a:noFill/>
            <a:ln w="3302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"/>
            <p:cNvCxnSpPr/>
            <p:nvPr/>
          </p:nvCxnSpPr>
          <p:spPr>
            <a:xfrm>
              <a:off x="1417987" y="165100"/>
              <a:ext cx="0" cy="1751254"/>
            </a:xfrm>
            <a:prstGeom prst="straightConnector1">
              <a:avLst/>
            </a:prstGeom>
            <a:noFill/>
            <a:ln w="317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99" name="Google Shape;99;p1"/>
          <p:cNvSpPr txBox="1"/>
          <p:nvPr/>
        </p:nvSpPr>
        <p:spPr>
          <a:xfrm>
            <a:off x="7470236" y="1844317"/>
            <a:ext cx="9789000" cy="3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37"/>
              <a:buFont typeface="Arial"/>
              <a:buNone/>
            </a:pPr>
            <a:r>
              <a:rPr lang="en-US" sz="6837" b="1">
                <a:solidFill>
                  <a:srgbClr val="FFFFFF"/>
                </a:solidFill>
              </a:rPr>
              <a:t>Сравнение средств электрической защиты</a:t>
            </a:r>
            <a:endParaRPr sz="100" b="1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100" name="Google Shape;100;p1"/>
          <p:cNvGrpSpPr/>
          <p:nvPr/>
        </p:nvGrpSpPr>
        <p:grpSpPr>
          <a:xfrm>
            <a:off x="7470225" y="5270974"/>
            <a:ext cx="9554609" cy="1870074"/>
            <a:chOff x="0" y="0"/>
            <a:chExt cx="1953069" cy="27951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1953069" cy="279516"/>
            </a:xfrm>
            <a:custGeom>
              <a:avLst/>
              <a:gdLst/>
              <a:ahLst/>
              <a:cxnLst/>
              <a:rect l="l" t="t" r="r" b="b"/>
              <a:pathLst>
                <a:path w="1953069" h="279516" extrusionOk="0">
                  <a:moveTo>
                    <a:pt x="0" y="0"/>
                  </a:moveTo>
                  <a:lnTo>
                    <a:pt x="1953069" y="0"/>
                  </a:lnTo>
                  <a:lnTo>
                    <a:pt x="1953069" y="279516"/>
                  </a:lnTo>
                  <a:lnTo>
                    <a:pt x="0" y="27951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57050" cap="sq" cmpd="sng">
              <a:solidFill>
                <a:srgbClr val="F5C82A"/>
              </a:solidFill>
              <a:prstDash val="solid"/>
              <a:miter lim="80"/>
              <a:headEnd type="none" w="sm" len="sm"/>
              <a:tailEnd type="none" w="sm" len="sm"/>
            </a:ln>
          </p:spPr>
        </p:sp>
        <p:sp>
          <p:nvSpPr>
            <p:cNvPr id="102" name="Google Shape;102;p1"/>
            <p:cNvSpPr txBox="1"/>
            <p:nvPr/>
          </p:nvSpPr>
          <p:spPr>
            <a:xfrm>
              <a:off x="36" y="43394"/>
              <a:ext cx="1919700" cy="23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9800" tIns="69800" rIns="69800" bIns="69800" anchor="ctr" anchorCtr="0">
              <a:noAutofit/>
            </a:bodyPr>
            <a:lstStyle/>
            <a:p>
              <a:pPr marL="0" lvl="0" indent="0" algn="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99"/>
                <a:buFont typeface="Arial"/>
                <a:buNone/>
              </a:pPr>
              <a:r>
                <a:rPr lang="en-US" sz="1899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Подготовили: Тукалкин В.А.</a:t>
              </a:r>
              <a:endParaRPr sz="1899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7315200" lvl="0" indent="457200" algn="ct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99"/>
                <a:buFont typeface="Arial"/>
                <a:buNone/>
              </a:pPr>
              <a:r>
                <a:rPr lang="en-US" sz="1899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Святохо В.В.</a:t>
              </a:r>
              <a:endParaRPr sz="1899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lvl="0" indent="0" algn="r" rtl="0">
                <a:lnSpc>
                  <a:spcPct val="140021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99"/>
                <a:buFont typeface="Arial"/>
                <a:buNone/>
              </a:pPr>
              <a:r>
                <a:rPr lang="en-US" sz="1899">
                  <a:solidFill>
                    <a:schemeClr val="lt1"/>
                  </a:solidFill>
                  <a:latin typeface="Open Sans"/>
                  <a:ea typeface="Open Sans"/>
                  <a:cs typeface="Open Sans"/>
                  <a:sym typeface="Open Sans"/>
                </a:rPr>
                <a:t>Преподаватель: Смирнова Н.В.</a:t>
              </a:r>
              <a:endParaRPr sz="1899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73"/>
                <a:buFont typeface="Arial"/>
                <a:buNone/>
              </a:pPr>
              <a:endParaRPr sz="247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3" name="Google Shape;103;p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" name="Google Shape;109;p3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10" name="Google Shape;110;p3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11" name="Google Shape;111;p3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2" name="Google Shape;11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"/>
          <p:cNvSpPr/>
          <p:nvPr/>
        </p:nvSpPr>
        <p:spPr>
          <a:xfrm rot="-5400000">
            <a:off x="597924" y="1455420"/>
            <a:ext cx="7139719" cy="7626477"/>
          </a:xfrm>
          <a:custGeom>
            <a:avLst/>
            <a:gdLst/>
            <a:ahLst/>
            <a:cxnLst/>
            <a:rect l="l" t="t" r="r" b="b"/>
            <a:pathLst>
              <a:path w="7139719" h="7626477" extrusionOk="0">
                <a:moveTo>
                  <a:pt x="0" y="0"/>
                </a:moveTo>
                <a:lnTo>
                  <a:pt x="7139718" y="0"/>
                </a:lnTo>
                <a:lnTo>
                  <a:pt x="7139718" y="7626477"/>
                </a:lnTo>
                <a:lnTo>
                  <a:pt x="0" y="76264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37101" t="-70589" r="-220950" b="-52885"/>
            </a:stretch>
          </a:blipFill>
          <a:ln>
            <a:noFill/>
          </a:ln>
        </p:spPr>
      </p:sp>
      <p:pic>
        <p:nvPicPr>
          <p:cNvPr id="114" name="Google Shape;114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4550" y="1733858"/>
            <a:ext cx="7626474" cy="7138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8250" y="2891250"/>
            <a:ext cx="5257051" cy="48111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3"/>
          <p:cNvCxnSpPr/>
          <p:nvPr/>
        </p:nvCxnSpPr>
        <p:spPr>
          <a:xfrm rot="10800000">
            <a:off x="8401370" y="1176131"/>
            <a:ext cx="0" cy="1809998"/>
          </a:xfrm>
          <a:prstGeom prst="straightConnector1">
            <a:avLst/>
          </a:prstGeom>
          <a:noFill/>
          <a:ln w="285750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7" name="Google Shape;117;p3"/>
          <p:cNvCxnSpPr/>
          <p:nvPr/>
        </p:nvCxnSpPr>
        <p:spPr>
          <a:xfrm rot="10800000">
            <a:off x="6391037" y="1319006"/>
            <a:ext cx="2010333" cy="0"/>
          </a:xfrm>
          <a:prstGeom prst="straightConnector1">
            <a:avLst/>
          </a:prstGeom>
          <a:noFill/>
          <a:ln w="285750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3"/>
          <p:cNvCxnSpPr/>
          <p:nvPr/>
        </p:nvCxnSpPr>
        <p:spPr>
          <a:xfrm rot="10800000">
            <a:off x="8401370" y="7517995"/>
            <a:ext cx="0" cy="1809998"/>
          </a:xfrm>
          <a:prstGeom prst="straightConnector1">
            <a:avLst/>
          </a:prstGeom>
          <a:noFill/>
          <a:ln w="285750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9" name="Google Shape;119;p3"/>
          <p:cNvCxnSpPr/>
          <p:nvPr/>
        </p:nvCxnSpPr>
        <p:spPr>
          <a:xfrm rot="10800000">
            <a:off x="6391037" y="9185118"/>
            <a:ext cx="2010333" cy="0"/>
          </a:xfrm>
          <a:prstGeom prst="straightConnector1">
            <a:avLst/>
          </a:prstGeom>
          <a:noFill/>
          <a:ln w="285750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0" name="Google Shape;120;p3"/>
          <p:cNvSpPr txBox="1"/>
          <p:nvPr/>
        </p:nvSpPr>
        <p:spPr>
          <a:xfrm>
            <a:off x="9319975" y="819450"/>
            <a:ext cx="80016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7000" b="1">
                <a:solidFill>
                  <a:srgbClr val="F5C82A"/>
                </a:solidFill>
              </a:rPr>
              <a:t>Зачем нужна электрическая защита?</a:t>
            </a:r>
            <a:endParaRPr sz="7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9238225" y="4199725"/>
            <a:ext cx="8165100" cy="366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Основные опасности: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прямое прикосновение к токоведущим частям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появление напряжения на корпусе при повреждении изоляции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короткое замыкание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перегрузка проводки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утечки тока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опасное напряжение прикосновения и шаговое напряжение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13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29" name="Google Shape;129;p13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30" name="Google Shape;130;p13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1" name="Google Shape;13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400" y="2100500"/>
            <a:ext cx="7921700" cy="78363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95700" y="3525702"/>
            <a:ext cx="4025025" cy="5732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13"/>
          <p:cNvCxnSpPr/>
          <p:nvPr/>
        </p:nvCxnSpPr>
        <p:spPr>
          <a:xfrm rot="10800000">
            <a:off x="1028700" y="1631864"/>
            <a:ext cx="2017907" cy="0"/>
          </a:xfrm>
          <a:prstGeom prst="straightConnector1">
            <a:avLst/>
          </a:prstGeom>
          <a:noFill/>
          <a:ln w="314325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5" name="Google Shape;135;p13"/>
          <p:cNvCxnSpPr/>
          <p:nvPr/>
        </p:nvCxnSpPr>
        <p:spPr>
          <a:xfrm>
            <a:off x="1187987" y="1631864"/>
            <a:ext cx="0" cy="2241253"/>
          </a:xfrm>
          <a:prstGeom prst="straightConnector1">
            <a:avLst/>
          </a:prstGeom>
          <a:noFill/>
          <a:ln w="314325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6" name="Google Shape;136;p13"/>
          <p:cNvCxnSpPr/>
          <p:nvPr/>
        </p:nvCxnSpPr>
        <p:spPr>
          <a:xfrm rot="10800000">
            <a:off x="8099031" y="1631864"/>
            <a:ext cx="2017907" cy="0"/>
          </a:xfrm>
          <a:prstGeom prst="straightConnector1">
            <a:avLst/>
          </a:prstGeom>
          <a:noFill/>
          <a:ln w="314325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13"/>
          <p:cNvCxnSpPr/>
          <p:nvPr/>
        </p:nvCxnSpPr>
        <p:spPr>
          <a:xfrm>
            <a:off x="9957651" y="1631864"/>
            <a:ext cx="0" cy="2241253"/>
          </a:xfrm>
          <a:prstGeom prst="straightConnector1">
            <a:avLst/>
          </a:prstGeom>
          <a:noFill/>
          <a:ln w="314325" cap="flat" cmpd="sng">
            <a:solidFill>
              <a:srgbClr val="F5C82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13"/>
          <p:cNvSpPr txBox="1"/>
          <p:nvPr/>
        </p:nvSpPr>
        <p:spPr>
          <a:xfrm>
            <a:off x="10541400" y="1038700"/>
            <a:ext cx="71178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7000" b="1">
                <a:solidFill>
                  <a:srgbClr val="F5C82A"/>
                </a:solidFill>
              </a:rPr>
              <a:t>Обзор средств защиты</a:t>
            </a:r>
            <a:endParaRPr sz="7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39" name="Google Shape;139;p13"/>
          <p:cNvSpPr txBox="1"/>
          <p:nvPr/>
        </p:nvSpPr>
        <p:spPr>
          <a:xfrm>
            <a:off x="10541400" y="3347700"/>
            <a:ext cx="6775200" cy="5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AutoNum type="arabicPeriod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Защитное заземление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AutoNum type="arabicPeriod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Зануление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AutoNum type="arabicPeriod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УЗО (Устройство защитного отключения)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AutoNum type="arabicPeriod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Автоматический выключатель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AutoNum type="arabicPeriod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Изоляция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AutoNum type="arabicPeriod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Защитное ограждение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556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Open Sans"/>
              <a:buAutoNum type="arabicPeriod"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Пониженное безопасное напряжение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Все эти средства делятся на три группы: изолирующие (защита от прикосновения), отключающие (быстрое снятие напряжения) и ограничивающие (снижение напряжения до безопасного уровня).</a:t>
            </a: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0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0" name="Google Shape;140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8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47" name="Google Shape;147;p8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48" name="Google Shape;148;p8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9" name="Google Shape;14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8"/>
          <p:cNvPicPr preferRelativeResize="0"/>
          <p:nvPr/>
        </p:nvPicPr>
        <p:blipFill rotWithShape="1">
          <a:blip r:embed="rId5">
            <a:alphaModFix/>
          </a:blip>
          <a:srcRect l="49400" t="10738"/>
          <a:stretch/>
        </p:blipFill>
        <p:spPr>
          <a:xfrm>
            <a:off x="12769225" y="3401713"/>
            <a:ext cx="3620926" cy="4579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02250" y="3409900"/>
            <a:ext cx="7394326" cy="46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8"/>
          <p:cNvGrpSpPr/>
          <p:nvPr/>
        </p:nvGrpSpPr>
        <p:grpSpPr>
          <a:xfrm rot="10800000">
            <a:off x="1167062" y="3328624"/>
            <a:ext cx="578421" cy="642443"/>
            <a:chOff x="0" y="0"/>
            <a:chExt cx="771229" cy="856590"/>
          </a:xfrm>
        </p:grpSpPr>
        <p:cxnSp>
          <p:nvCxnSpPr>
            <p:cNvPr id="153" name="Google Shape;153;p8"/>
            <p:cNvCxnSpPr/>
            <p:nvPr/>
          </p:nvCxnSpPr>
          <p:spPr>
            <a:xfrm>
              <a:off x="0" y="856590"/>
              <a:ext cx="771229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4" name="Google Shape;154;p8"/>
            <p:cNvCxnSpPr/>
            <p:nvPr/>
          </p:nvCxnSpPr>
          <p:spPr>
            <a:xfrm rot="10800000">
              <a:off x="693579" y="0"/>
              <a:ext cx="0" cy="85659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5" name="Google Shape;155;p8"/>
          <p:cNvGrpSpPr/>
          <p:nvPr/>
        </p:nvGrpSpPr>
        <p:grpSpPr>
          <a:xfrm rot="64172">
            <a:off x="8233168" y="7510130"/>
            <a:ext cx="578445" cy="642469"/>
            <a:chOff x="0" y="0"/>
            <a:chExt cx="771229" cy="856590"/>
          </a:xfrm>
        </p:grpSpPr>
        <p:cxnSp>
          <p:nvCxnSpPr>
            <p:cNvPr id="156" name="Google Shape;156;p8"/>
            <p:cNvCxnSpPr/>
            <p:nvPr/>
          </p:nvCxnSpPr>
          <p:spPr>
            <a:xfrm>
              <a:off x="0" y="856590"/>
              <a:ext cx="771229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7" name="Google Shape;157;p8"/>
            <p:cNvCxnSpPr/>
            <p:nvPr/>
          </p:nvCxnSpPr>
          <p:spPr>
            <a:xfrm rot="10800000">
              <a:off x="693579" y="0"/>
              <a:ext cx="0" cy="85659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58" name="Google Shape;158;p8"/>
          <p:cNvSpPr txBox="1"/>
          <p:nvPr/>
        </p:nvSpPr>
        <p:spPr>
          <a:xfrm>
            <a:off x="1057975" y="1235775"/>
            <a:ext cx="10648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 b="1">
                <a:solidFill>
                  <a:srgbClr val="F5C82A"/>
                </a:solidFill>
              </a:rPr>
              <a:t>Защитное заземление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59" name="Google Shape;159;p8"/>
          <p:cNvSpPr txBox="1"/>
          <p:nvPr/>
        </p:nvSpPr>
        <p:spPr>
          <a:xfrm>
            <a:off x="3046959" y="3489643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Защищает от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8980263" y="3489644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Принцип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3038696" y="6629745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Преимущества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8980263" y="6629745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Ограничения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3038696" y="4106816"/>
            <a:ext cx="30666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Замыкание фазы на корпус (пробой изоляции).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 txBox="1"/>
          <p:nvPr/>
        </p:nvSpPr>
        <p:spPr>
          <a:xfrm>
            <a:off x="8980263" y="4106817"/>
            <a:ext cx="32787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Соединение корпуса с землей. Ток уходит в землю, минуя человека.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3038696" y="7246917"/>
            <a:ext cx="3066600" cy="18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Защита при пробое.</a:t>
            </a:r>
            <a:b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Пассивно, надежно, эффективно в сетях с изолированной нейтралью.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8980738" y="7246917"/>
            <a:ext cx="29781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Не отключает питание автоматически; Требует подходящего грунта и контроля.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991695" y="1458452"/>
            <a:ext cx="1033075" cy="131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63701" y="3808784"/>
            <a:ext cx="806325" cy="77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94796" y="3562499"/>
            <a:ext cx="806325" cy="103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8" title="icons8-плюс-9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429238" y="6807888"/>
            <a:ext cx="1033075" cy="10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8" title="icons8-минус-100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561292" y="6848175"/>
            <a:ext cx="9525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h136085a50b166d32_2_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h136085a50b166d32_2_4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179" name="Google Shape;179;h136085a50b166d32_2_44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180" name="Google Shape;180;h136085a50b166d32_2_4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1" name="Google Shape;181;h136085a50b166d32_2_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h136085a50b166d32_2_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2250" y="3409900"/>
            <a:ext cx="7394326" cy="46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h136085a50b166d32_2_44"/>
          <p:cNvGrpSpPr/>
          <p:nvPr/>
        </p:nvGrpSpPr>
        <p:grpSpPr>
          <a:xfrm rot="10800000">
            <a:off x="1167008" y="3328624"/>
            <a:ext cx="578475" cy="642375"/>
            <a:chOff x="0" y="90"/>
            <a:chExt cx="771300" cy="856500"/>
          </a:xfrm>
        </p:grpSpPr>
        <p:cxnSp>
          <p:nvCxnSpPr>
            <p:cNvPr id="184" name="Google Shape;184;h136085a50b166d32_2_44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5" name="Google Shape;185;h136085a50b166d32_2_44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86" name="Google Shape;186;h136085a50b166d32_2_44"/>
          <p:cNvGrpSpPr/>
          <p:nvPr/>
        </p:nvGrpSpPr>
        <p:grpSpPr>
          <a:xfrm rot="64172">
            <a:off x="8233167" y="7510198"/>
            <a:ext cx="578499" cy="642401"/>
            <a:chOff x="0" y="90"/>
            <a:chExt cx="771300" cy="856500"/>
          </a:xfrm>
        </p:grpSpPr>
        <p:cxnSp>
          <p:nvCxnSpPr>
            <p:cNvPr id="187" name="Google Shape;187;h136085a50b166d32_2_44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8" name="Google Shape;188;h136085a50b166d32_2_44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9" name="Google Shape;189;h136085a50b166d32_2_44"/>
          <p:cNvSpPr txBox="1"/>
          <p:nvPr/>
        </p:nvSpPr>
        <p:spPr>
          <a:xfrm>
            <a:off x="1057975" y="1235775"/>
            <a:ext cx="10648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 b="1">
                <a:solidFill>
                  <a:srgbClr val="F5C82A"/>
                </a:solidFill>
              </a:rPr>
              <a:t>Зануление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90" name="Google Shape;190;h136085a50b166d32_2_44"/>
          <p:cNvSpPr txBox="1"/>
          <p:nvPr/>
        </p:nvSpPr>
        <p:spPr>
          <a:xfrm>
            <a:off x="3046959" y="3489643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Защищает от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91" name="Google Shape;191;h136085a50b166d32_2_44"/>
          <p:cNvSpPr txBox="1"/>
          <p:nvPr/>
        </p:nvSpPr>
        <p:spPr>
          <a:xfrm>
            <a:off x="8980263" y="3489644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Принцип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92" name="Google Shape;192;h136085a50b166d32_2_44"/>
          <p:cNvSpPr txBox="1"/>
          <p:nvPr/>
        </p:nvSpPr>
        <p:spPr>
          <a:xfrm>
            <a:off x="3038696" y="6629745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Преимущества</a:t>
            </a:r>
            <a:endParaRPr sz="3200" b="1">
              <a:solidFill>
                <a:srgbClr val="F5C82A"/>
              </a:solidFill>
            </a:endParaRPr>
          </a:p>
        </p:txBody>
      </p:sp>
      <p:sp>
        <p:nvSpPr>
          <p:cNvPr id="193" name="Google Shape;193;h136085a50b166d32_2_44"/>
          <p:cNvSpPr txBox="1"/>
          <p:nvPr/>
        </p:nvSpPr>
        <p:spPr>
          <a:xfrm>
            <a:off x="8980263" y="6629745"/>
            <a:ext cx="40329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Ограничения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>
              <a:solidFill>
                <a:srgbClr val="F5C82A"/>
              </a:solidFill>
            </a:endParaRPr>
          </a:p>
        </p:txBody>
      </p:sp>
      <p:sp>
        <p:nvSpPr>
          <p:cNvPr id="194" name="Google Shape;194;h136085a50b166d32_2_44"/>
          <p:cNvSpPr txBox="1"/>
          <p:nvPr/>
        </p:nvSpPr>
        <p:spPr>
          <a:xfrm>
            <a:off x="3038696" y="4106816"/>
            <a:ext cx="30666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Поражение током при замыкании на корпус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136085a50b166d32_2_44"/>
          <p:cNvSpPr txBox="1"/>
          <p:nvPr/>
        </p:nvSpPr>
        <p:spPr>
          <a:xfrm>
            <a:off x="8980277" y="4106825"/>
            <a:ext cx="39867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Превращение замыкания на корпус в однофазное КЗ, вызывающее срабатывание защиты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136085a50b166d32_2_44"/>
          <p:cNvSpPr txBox="1"/>
          <p:nvPr/>
        </p:nvSpPr>
        <p:spPr>
          <a:xfrm>
            <a:off x="3038696" y="7246917"/>
            <a:ext cx="30666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Быстрое отключение поврежденного участка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136085a50b166d32_2_44"/>
          <p:cNvSpPr txBox="1"/>
          <p:nvPr/>
        </p:nvSpPr>
        <p:spPr>
          <a:xfrm>
            <a:off x="8980738" y="7246917"/>
            <a:ext cx="29781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Определенная сила для срабатывания защиты и исправная защита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h136085a50b166d32_2_4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h136085a50b166d32_2_4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91695" y="1458452"/>
            <a:ext cx="1033075" cy="131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h136085a50b166d32_2_4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3701" y="3808784"/>
            <a:ext cx="806325" cy="77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h136085a50b166d32_2_4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4796" y="3562499"/>
            <a:ext cx="806325" cy="103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h136085a50b166d32_2_44" title="icons8-плюс-9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9238" y="6807888"/>
            <a:ext cx="1033075" cy="10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h136085a50b166d32_2_44" title="icons8-минус-1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61292" y="68481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h136085a50b166d32_2_44"/>
          <p:cNvPicPr preferRelativeResize="0"/>
          <p:nvPr/>
        </p:nvPicPr>
        <p:blipFill rotWithShape="1">
          <a:blip r:embed="rId12">
            <a:alphaModFix/>
          </a:blip>
          <a:srcRect t="8206" r="55333"/>
          <a:stretch/>
        </p:blipFill>
        <p:spPr>
          <a:xfrm>
            <a:off x="13296875" y="3432487"/>
            <a:ext cx="3066599" cy="4518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h136085a50b166d32_3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" name="Google Shape;210;h136085a50b166d32_3_0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11" name="Google Shape;211;h136085a50b166d32_3_0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12" name="Google Shape;212;h136085a50b166d32_3_0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13" name="Google Shape;213;h136085a50b166d32_3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h136085a50b166d32_3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2250" y="3409900"/>
            <a:ext cx="7394326" cy="46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h136085a50b166d32_3_0"/>
          <p:cNvGrpSpPr/>
          <p:nvPr/>
        </p:nvGrpSpPr>
        <p:grpSpPr>
          <a:xfrm rot="10800000">
            <a:off x="1167008" y="3328624"/>
            <a:ext cx="578475" cy="642375"/>
            <a:chOff x="0" y="90"/>
            <a:chExt cx="771300" cy="856500"/>
          </a:xfrm>
        </p:grpSpPr>
        <p:cxnSp>
          <p:nvCxnSpPr>
            <p:cNvPr id="216" name="Google Shape;216;h136085a50b166d32_3_0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7" name="Google Shape;217;h136085a50b166d32_3_0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18" name="Google Shape;218;h136085a50b166d32_3_0"/>
          <p:cNvGrpSpPr/>
          <p:nvPr/>
        </p:nvGrpSpPr>
        <p:grpSpPr>
          <a:xfrm rot="64172">
            <a:off x="8233167" y="7510198"/>
            <a:ext cx="578499" cy="642401"/>
            <a:chOff x="0" y="90"/>
            <a:chExt cx="771300" cy="856500"/>
          </a:xfrm>
        </p:grpSpPr>
        <p:cxnSp>
          <p:nvCxnSpPr>
            <p:cNvPr id="219" name="Google Shape;219;h136085a50b166d32_3_0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0" name="Google Shape;220;h136085a50b166d32_3_0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21" name="Google Shape;221;h136085a50b166d32_3_0"/>
          <p:cNvSpPr txBox="1"/>
          <p:nvPr/>
        </p:nvSpPr>
        <p:spPr>
          <a:xfrm>
            <a:off x="1072625" y="1264375"/>
            <a:ext cx="15082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 b="1">
                <a:solidFill>
                  <a:srgbClr val="F5C82A"/>
                </a:solidFill>
              </a:rPr>
              <a:t>Автоматический выключатель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22" name="Google Shape;222;h136085a50b166d32_3_0"/>
          <p:cNvSpPr txBox="1"/>
          <p:nvPr/>
        </p:nvSpPr>
        <p:spPr>
          <a:xfrm>
            <a:off x="3046959" y="3489643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Защищает от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23" name="Google Shape;223;h136085a50b166d32_3_0"/>
          <p:cNvSpPr txBox="1"/>
          <p:nvPr/>
        </p:nvSpPr>
        <p:spPr>
          <a:xfrm>
            <a:off x="8980263" y="3489644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Принцип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24" name="Google Shape;224;h136085a50b166d32_3_0"/>
          <p:cNvSpPr txBox="1"/>
          <p:nvPr/>
        </p:nvSpPr>
        <p:spPr>
          <a:xfrm>
            <a:off x="3038696" y="6629745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Преимущества</a:t>
            </a:r>
            <a:endParaRPr sz="3200" b="1">
              <a:solidFill>
                <a:srgbClr val="F5C82A"/>
              </a:solidFill>
            </a:endParaRPr>
          </a:p>
        </p:txBody>
      </p:sp>
      <p:sp>
        <p:nvSpPr>
          <p:cNvPr id="225" name="Google Shape;225;h136085a50b166d32_3_0"/>
          <p:cNvSpPr txBox="1"/>
          <p:nvPr/>
        </p:nvSpPr>
        <p:spPr>
          <a:xfrm>
            <a:off x="8980263" y="6629745"/>
            <a:ext cx="40329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Ограничения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>
              <a:solidFill>
                <a:srgbClr val="F5C82A"/>
              </a:solidFill>
            </a:endParaRPr>
          </a:p>
        </p:txBody>
      </p:sp>
      <p:sp>
        <p:nvSpPr>
          <p:cNvPr id="226" name="Google Shape;226;h136085a50b166d32_3_0"/>
          <p:cNvSpPr txBox="1"/>
          <p:nvPr/>
        </p:nvSpPr>
        <p:spPr>
          <a:xfrm>
            <a:off x="3038696" y="4106816"/>
            <a:ext cx="30666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Защита от КЗ и длительной перегрузки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h136085a50b166d32_3_0"/>
          <p:cNvSpPr txBox="1"/>
          <p:nvPr/>
        </p:nvSpPr>
        <p:spPr>
          <a:xfrm>
            <a:off x="8980263" y="4106817"/>
            <a:ext cx="32787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Использование теплового и электромагнитного расцепителя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136085a50b166d32_3_0"/>
          <p:cNvSpPr txBox="1"/>
          <p:nvPr/>
        </p:nvSpPr>
        <p:spPr>
          <a:xfrm>
            <a:off x="3038701" y="7246925"/>
            <a:ext cx="3870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Многоразовое использование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136085a50b166d32_3_0"/>
          <p:cNvSpPr txBox="1"/>
          <p:nvPr/>
        </p:nvSpPr>
        <p:spPr>
          <a:xfrm>
            <a:off x="8980738" y="7246917"/>
            <a:ext cx="29781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Не защищает от малых токов утечки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h136085a50b166d32_3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h136085a50b166d32_3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91695" y="1458452"/>
            <a:ext cx="1033075" cy="131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h136085a50b166d32_3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3701" y="3808784"/>
            <a:ext cx="806325" cy="77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h136085a50b166d32_3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4796" y="3562499"/>
            <a:ext cx="806325" cy="103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h136085a50b166d32_3_0" title="icons8-плюс-9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9238" y="6807888"/>
            <a:ext cx="1033075" cy="10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h136085a50b166d32_3_0" title="icons8-минус-1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61292" y="68481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h136085a50b166d32_3_0"/>
          <p:cNvPicPr preferRelativeResize="0"/>
          <p:nvPr/>
        </p:nvPicPr>
        <p:blipFill rotWithShape="1">
          <a:blip r:embed="rId12">
            <a:alphaModFix/>
          </a:blip>
          <a:srcRect l="13127" r="7457" b="3138"/>
          <a:stretch/>
        </p:blipFill>
        <p:spPr>
          <a:xfrm>
            <a:off x="13296875" y="3748725"/>
            <a:ext cx="3278700" cy="39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h136085a50b166d32_2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2" name="Google Shape;242;h136085a50b166d32_2_78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43" name="Google Shape;243;h136085a50b166d32_2_78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44" name="Google Shape;244;h136085a50b166d32_2_78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5" name="Google Shape;245;h136085a50b166d32_2_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h136085a50b166d32_2_7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2250" y="3409900"/>
            <a:ext cx="7394326" cy="46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h136085a50b166d32_2_78"/>
          <p:cNvGrpSpPr/>
          <p:nvPr/>
        </p:nvGrpSpPr>
        <p:grpSpPr>
          <a:xfrm rot="10800000">
            <a:off x="1167008" y="3328624"/>
            <a:ext cx="578475" cy="642375"/>
            <a:chOff x="0" y="90"/>
            <a:chExt cx="771300" cy="856500"/>
          </a:xfrm>
        </p:grpSpPr>
        <p:cxnSp>
          <p:nvCxnSpPr>
            <p:cNvPr id="248" name="Google Shape;248;h136085a50b166d32_2_78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9" name="Google Shape;249;h136085a50b166d32_2_78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50" name="Google Shape;250;h136085a50b166d32_2_78"/>
          <p:cNvGrpSpPr/>
          <p:nvPr/>
        </p:nvGrpSpPr>
        <p:grpSpPr>
          <a:xfrm rot="64172">
            <a:off x="8233167" y="7510198"/>
            <a:ext cx="578499" cy="642401"/>
            <a:chOff x="0" y="90"/>
            <a:chExt cx="771300" cy="856500"/>
          </a:xfrm>
        </p:grpSpPr>
        <p:cxnSp>
          <p:nvCxnSpPr>
            <p:cNvPr id="251" name="Google Shape;251;h136085a50b166d32_2_78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2" name="Google Shape;252;h136085a50b166d32_2_78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53" name="Google Shape;253;h136085a50b166d32_2_78"/>
          <p:cNvSpPr txBox="1"/>
          <p:nvPr/>
        </p:nvSpPr>
        <p:spPr>
          <a:xfrm>
            <a:off x="1072625" y="752200"/>
            <a:ext cx="12995100" cy="21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 b="1">
                <a:solidFill>
                  <a:srgbClr val="F5C82A"/>
                </a:solidFill>
              </a:rPr>
              <a:t>УЗО - устройство защитного отключения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54" name="Google Shape;254;h136085a50b166d32_2_78"/>
          <p:cNvSpPr txBox="1"/>
          <p:nvPr/>
        </p:nvSpPr>
        <p:spPr>
          <a:xfrm>
            <a:off x="3046959" y="3489643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Защищает от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55" name="Google Shape;255;h136085a50b166d32_2_78"/>
          <p:cNvSpPr txBox="1"/>
          <p:nvPr/>
        </p:nvSpPr>
        <p:spPr>
          <a:xfrm>
            <a:off x="8980263" y="3489644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Принцип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56" name="Google Shape;256;h136085a50b166d32_2_78"/>
          <p:cNvSpPr txBox="1"/>
          <p:nvPr/>
        </p:nvSpPr>
        <p:spPr>
          <a:xfrm>
            <a:off x="3038696" y="6629745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Преимущества</a:t>
            </a:r>
            <a:endParaRPr sz="3200" b="1">
              <a:solidFill>
                <a:srgbClr val="F5C82A"/>
              </a:solidFill>
            </a:endParaRPr>
          </a:p>
        </p:txBody>
      </p:sp>
      <p:sp>
        <p:nvSpPr>
          <p:cNvPr id="257" name="Google Shape;257;h136085a50b166d32_2_78"/>
          <p:cNvSpPr txBox="1"/>
          <p:nvPr/>
        </p:nvSpPr>
        <p:spPr>
          <a:xfrm>
            <a:off x="8980263" y="6629745"/>
            <a:ext cx="40329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Ограничения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>
              <a:solidFill>
                <a:srgbClr val="F5C82A"/>
              </a:solidFill>
            </a:endParaRPr>
          </a:p>
        </p:txBody>
      </p:sp>
      <p:sp>
        <p:nvSpPr>
          <p:cNvPr id="258" name="Google Shape;258;h136085a50b166d32_2_78"/>
          <p:cNvSpPr txBox="1"/>
          <p:nvPr/>
        </p:nvSpPr>
        <p:spPr>
          <a:xfrm>
            <a:off x="3038696" y="4106816"/>
            <a:ext cx="30666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Утечка тока, прямой контакт человека с фазой.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136085a50b166d32_2_78"/>
          <p:cNvSpPr txBox="1"/>
          <p:nvPr/>
        </p:nvSpPr>
        <p:spPr>
          <a:xfrm>
            <a:off x="8980263" y="4106817"/>
            <a:ext cx="32787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Сравнивает ток фазы и нейтрали, при разности большей установленной отключает питание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136085a50b166d32_2_78"/>
          <p:cNvSpPr txBox="1"/>
          <p:nvPr/>
        </p:nvSpPr>
        <p:spPr>
          <a:xfrm>
            <a:off x="3038701" y="7246925"/>
            <a:ext cx="38709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Высокая чувствительность, защита от прямого прикосновения, быстродействие.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136085a50b166d32_2_78"/>
          <p:cNvSpPr txBox="1"/>
          <p:nvPr/>
        </p:nvSpPr>
        <p:spPr>
          <a:xfrm>
            <a:off x="8980738" y="7246917"/>
            <a:ext cx="2978100" cy="18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УЗО не заменяет автоматический выключатель. Нельзя объединять N и PE после УЗО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2" name="Google Shape;262;h136085a50b166d32_2_7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h136085a50b166d32_2_7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91695" y="1458452"/>
            <a:ext cx="1033075" cy="131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h136085a50b166d32_2_7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3701" y="3808784"/>
            <a:ext cx="806325" cy="77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h136085a50b166d32_2_7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4796" y="3562499"/>
            <a:ext cx="806325" cy="103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h136085a50b166d32_2_78" title="icons8-плюс-9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9238" y="6807888"/>
            <a:ext cx="1033075" cy="10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h136085a50b166d32_2_78" title="icons8-минус-1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61292" y="68481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h136085a50b166d32_2_7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311325" y="3562500"/>
            <a:ext cx="3278700" cy="4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h136085a50b166d32_3_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h136085a50b166d32_3_31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275" name="Google Shape;275;h136085a50b166d32_3_31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276" name="Google Shape;276;h136085a50b166d32_3_31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7" name="Google Shape;277;h136085a50b166d32_3_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h136085a50b166d32_3_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2250" y="3409900"/>
            <a:ext cx="7394326" cy="46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h136085a50b166d32_3_31"/>
          <p:cNvGrpSpPr/>
          <p:nvPr/>
        </p:nvGrpSpPr>
        <p:grpSpPr>
          <a:xfrm rot="10800000">
            <a:off x="1167008" y="3328624"/>
            <a:ext cx="578475" cy="642375"/>
            <a:chOff x="0" y="90"/>
            <a:chExt cx="771300" cy="856500"/>
          </a:xfrm>
        </p:grpSpPr>
        <p:cxnSp>
          <p:nvCxnSpPr>
            <p:cNvPr id="280" name="Google Shape;280;h136085a50b166d32_3_31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1" name="Google Shape;281;h136085a50b166d32_3_31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282" name="Google Shape;282;h136085a50b166d32_3_31"/>
          <p:cNvGrpSpPr/>
          <p:nvPr/>
        </p:nvGrpSpPr>
        <p:grpSpPr>
          <a:xfrm rot="64172">
            <a:off x="8233167" y="7510198"/>
            <a:ext cx="578499" cy="642401"/>
            <a:chOff x="0" y="90"/>
            <a:chExt cx="771300" cy="856500"/>
          </a:xfrm>
        </p:grpSpPr>
        <p:cxnSp>
          <p:nvCxnSpPr>
            <p:cNvPr id="283" name="Google Shape;283;h136085a50b166d32_3_31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4" name="Google Shape;284;h136085a50b166d32_3_31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285" name="Google Shape;285;h136085a50b166d32_3_31"/>
          <p:cNvSpPr txBox="1"/>
          <p:nvPr/>
        </p:nvSpPr>
        <p:spPr>
          <a:xfrm>
            <a:off x="1072625" y="1264375"/>
            <a:ext cx="15082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 b="1">
                <a:solidFill>
                  <a:srgbClr val="F5C82A"/>
                </a:solidFill>
              </a:rPr>
              <a:t>Изоляция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86" name="Google Shape;286;h136085a50b166d32_3_31"/>
          <p:cNvSpPr txBox="1"/>
          <p:nvPr/>
        </p:nvSpPr>
        <p:spPr>
          <a:xfrm>
            <a:off x="3046959" y="3489643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Защищает от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87" name="Google Shape;287;h136085a50b166d32_3_31"/>
          <p:cNvSpPr txBox="1"/>
          <p:nvPr/>
        </p:nvSpPr>
        <p:spPr>
          <a:xfrm>
            <a:off x="8980263" y="3489644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Принцип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88" name="Google Shape;288;h136085a50b166d32_3_31"/>
          <p:cNvSpPr txBox="1"/>
          <p:nvPr/>
        </p:nvSpPr>
        <p:spPr>
          <a:xfrm>
            <a:off x="3038696" y="6629745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Преимущества</a:t>
            </a:r>
            <a:endParaRPr sz="3200" b="1">
              <a:solidFill>
                <a:srgbClr val="F5C82A"/>
              </a:solidFill>
            </a:endParaRPr>
          </a:p>
        </p:txBody>
      </p:sp>
      <p:sp>
        <p:nvSpPr>
          <p:cNvPr id="289" name="Google Shape;289;h136085a50b166d32_3_31"/>
          <p:cNvSpPr txBox="1"/>
          <p:nvPr/>
        </p:nvSpPr>
        <p:spPr>
          <a:xfrm>
            <a:off x="8980263" y="6629745"/>
            <a:ext cx="40329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Ограничения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>
              <a:solidFill>
                <a:srgbClr val="F5C82A"/>
              </a:solidFill>
            </a:endParaRPr>
          </a:p>
        </p:txBody>
      </p:sp>
      <p:sp>
        <p:nvSpPr>
          <p:cNvPr id="290" name="Google Shape;290;h136085a50b166d32_3_31"/>
          <p:cNvSpPr txBox="1"/>
          <p:nvPr/>
        </p:nvSpPr>
        <p:spPr>
          <a:xfrm>
            <a:off x="3038700" y="4106825"/>
            <a:ext cx="34290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Прямого прикосновения к токоведущим частям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h136085a50b166d32_3_31"/>
          <p:cNvSpPr txBox="1"/>
          <p:nvPr/>
        </p:nvSpPr>
        <p:spPr>
          <a:xfrm>
            <a:off x="8980276" y="4106825"/>
            <a:ext cx="36774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Создание диэлектрического барьера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h136085a50b166d32_3_31"/>
          <p:cNvSpPr txBox="1"/>
          <p:nvPr/>
        </p:nvSpPr>
        <p:spPr>
          <a:xfrm>
            <a:off x="3038701" y="7246925"/>
            <a:ext cx="3870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Пассивная защита, дешевизна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h136085a50b166d32_3_31"/>
          <p:cNvSpPr txBox="1"/>
          <p:nvPr/>
        </p:nvSpPr>
        <p:spPr>
          <a:xfrm>
            <a:off x="8980753" y="7246925"/>
            <a:ext cx="36774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Старение, тресканье, плавится при перегреве, может гореть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h136085a50b166d32_3_3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h136085a50b166d32_3_3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91695" y="1458452"/>
            <a:ext cx="1033075" cy="131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h136085a50b166d32_3_3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3701" y="3808784"/>
            <a:ext cx="806325" cy="77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h136085a50b166d32_3_3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4796" y="3562499"/>
            <a:ext cx="806325" cy="103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h136085a50b166d32_3_31" title="icons8-плюс-9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9238" y="6807888"/>
            <a:ext cx="1033075" cy="10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h136085a50b166d32_3_31" title="icons8-минус-1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61292" y="68481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h136085a50b166d32_3_31"/>
          <p:cNvPicPr preferRelativeResize="0"/>
          <p:nvPr/>
        </p:nvPicPr>
        <p:blipFill rotWithShape="1">
          <a:blip r:embed="rId12">
            <a:alphaModFix/>
          </a:blip>
          <a:srcRect l="32268"/>
          <a:stretch/>
        </p:blipFill>
        <p:spPr>
          <a:xfrm>
            <a:off x="13296875" y="3971000"/>
            <a:ext cx="38709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h136085a50b166d32_3_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h136085a50b166d32_3_63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307" name="Google Shape;307;h136085a50b166d32_3_63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308" name="Google Shape;308;h136085a50b166d32_3_63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9" name="Google Shape;309;h136085a50b166d32_3_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h136085a50b166d32_3_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2250" y="3409900"/>
            <a:ext cx="7394326" cy="46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1" name="Google Shape;311;h136085a50b166d32_3_63"/>
          <p:cNvGrpSpPr/>
          <p:nvPr/>
        </p:nvGrpSpPr>
        <p:grpSpPr>
          <a:xfrm rot="10800000">
            <a:off x="1167008" y="3328624"/>
            <a:ext cx="578475" cy="642375"/>
            <a:chOff x="0" y="90"/>
            <a:chExt cx="771300" cy="856500"/>
          </a:xfrm>
        </p:grpSpPr>
        <p:cxnSp>
          <p:nvCxnSpPr>
            <p:cNvPr id="312" name="Google Shape;312;h136085a50b166d32_3_63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3" name="Google Shape;313;h136085a50b166d32_3_63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14" name="Google Shape;314;h136085a50b166d32_3_63"/>
          <p:cNvGrpSpPr/>
          <p:nvPr/>
        </p:nvGrpSpPr>
        <p:grpSpPr>
          <a:xfrm rot="64172">
            <a:off x="8233167" y="7510198"/>
            <a:ext cx="578499" cy="642401"/>
            <a:chOff x="0" y="90"/>
            <a:chExt cx="771300" cy="856500"/>
          </a:xfrm>
        </p:grpSpPr>
        <p:cxnSp>
          <p:nvCxnSpPr>
            <p:cNvPr id="315" name="Google Shape;315;h136085a50b166d32_3_63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6" name="Google Shape;316;h136085a50b166d32_3_63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17" name="Google Shape;317;h136085a50b166d32_3_63"/>
          <p:cNvSpPr txBox="1"/>
          <p:nvPr/>
        </p:nvSpPr>
        <p:spPr>
          <a:xfrm>
            <a:off x="1072625" y="1264375"/>
            <a:ext cx="150822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 b="1">
                <a:solidFill>
                  <a:srgbClr val="F5C82A"/>
                </a:solidFill>
              </a:rPr>
              <a:t>Защитное ограждение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18" name="Google Shape;318;h136085a50b166d32_3_63"/>
          <p:cNvSpPr txBox="1"/>
          <p:nvPr/>
        </p:nvSpPr>
        <p:spPr>
          <a:xfrm>
            <a:off x="3046959" y="3489643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Защищает от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19" name="Google Shape;319;h136085a50b166d32_3_63"/>
          <p:cNvSpPr txBox="1"/>
          <p:nvPr/>
        </p:nvSpPr>
        <p:spPr>
          <a:xfrm>
            <a:off x="8980263" y="3489644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Принцип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20" name="Google Shape;320;h136085a50b166d32_3_63"/>
          <p:cNvSpPr txBox="1"/>
          <p:nvPr/>
        </p:nvSpPr>
        <p:spPr>
          <a:xfrm>
            <a:off x="3038696" y="6629745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Преимущества</a:t>
            </a:r>
            <a:endParaRPr sz="3200" b="1">
              <a:solidFill>
                <a:srgbClr val="F5C82A"/>
              </a:solidFill>
            </a:endParaRPr>
          </a:p>
        </p:txBody>
      </p:sp>
      <p:sp>
        <p:nvSpPr>
          <p:cNvPr id="321" name="Google Shape;321;h136085a50b166d32_3_63"/>
          <p:cNvSpPr txBox="1"/>
          <p:nvPr/>
        </p:nvSpPr>
        <p:spPr>
          <a:xfrm>
            <a:off x="8980263" y="6629745"/>
            <a:ext cx="40329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Ограничения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>
              <a:solidFill>
                <a:srgbClr val="F5C82A"/>
              </a:solidFill>
            </a:endParaRPr>
          </a:p>
        </p:txBody>
      </p:sp>
      <p:sp>
        <p:nvSpPr>
          <p:cNvPr id="322" name="Google Shape;322;h136085a50b166d32_3_63"/>
          <p:cNvSpPr txBox="1"/>
          <p:nvPr/>
        </p:nvSpPr>
        <p:spPr>
          <a:xfrm>
            <a:off x="3038700" y="4106825"/>
            <a:ext cx="38709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Прикосновение к токоведущим частям человека и посторонних предметов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h136085a50b166d32_3_63"/>
          <p:cNvSpPr txBox="1"/>
          <p:nvPr/>
        </p:nvSpPr>
        <p:spPr>
          <a:xfrm>
            <a:off x="8980276" y="4106825"/>
            <a:ext cx="3677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Физическое ограничение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h136085a50b166d32_3_63"/>
          <p:cNvSpPr txBox="1"/>
          <p:nvPr/>
        </p:nvSpPr>
        <p:spPr>
          <a:xfrm>
            <a:off x="3038701" y="7246925"/>
            <a:ext cx="38709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Простота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h136085a50b166d32_3_63"/>
          <p:cNvSpPr txBox="1"/>
          <p:nvPr/>
        </p:nvSpPr>
        <p:spPr>
          <a:xfrm>
            <a:off x="8980753" y="7246925"/>
            <a:ext cx="36774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Не защищает от утечек на корпус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h136085a50b166d32_3_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h136085a50b166d32_3_6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91695" y="1458452"/>
            <a:ext cx="1033075" cy="131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h136085a50b166d32_3_6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3701" y="3808784"/>
            <a:ext cx="806325" cy="77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h136085a50b166d32_3_63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4796" y="3562499"/>
            <a:ext cx="806325" cy="103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h136085a50b166d32_3_63" title="icons8-плюс-9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9238" y="6807888"/>
            <a:ext cx="1033075" cy="10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h136085a50b166d32_3_63" title="icons8-минус-1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61292" y="68481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h136085a50b166d32_3_6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3692250" y="3232700"/>
            <a:ext cx="3786925" cy="378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h136085a50b166d32_3_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h136085a50b166d32_3_9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339" name="Google Shape;339;h136085a50b166d32_3_94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340" name="Google Shape;340;h136085a50b166d32_3_9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1" name="Google Shape;341;h136085a50b166d32_3_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h136085a50b166d32_3_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02250" y="3409900"/>
            <a:ext cx="7394326" cy="466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h136085a50b166d32_3_94"/>
          <p:cNvGrpSpPr/>
          <p:nvPr/>
        </p:nvGrpSpPr>
        <p:grpSpPr>
          <a:xfrm rot="10800000">
            <a:off x="1167008" y="3328624"/>
            <a:ext cx="578475" cy="642375"/>
            <a:chOff x="0" y="90"/>
            <a:chExt cx="771300" cy="856500"/>
          </a:xfrm>
        </p:grpSpPr>
        <p:cxnSp>
          <p:nvCxnSpPr>
            <p:cNvPr id="344" name="Google Shape;344;h136085a50b166d32_3_94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5" name="Google Shape;345;h136085a50b166d32_3_94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46" name="Google Shape;346;h136085a50b166d32_3_94"/>
          <p:cNvGrpSpPr/>
          <p:nvPr/>
        </p:nvGrpSpPr>
        <p:grpSpPr>
          <a:xfrm rot="64172">
            <a:off x="8233167" y="7510198"/>
            <a:ext cx="578499" cy="642401"/>
            <a:chOff x="0" y="90"/>
            <a:chExt cx="771300" cy="856500"/>
          </a:xfrm>
        </p:grpSpPr>
        <p:cxnSp>
          <p:nvCxnSpPr>
            <p:cNvPr id="347" name="Google Shape;347;h136085a50b166d32_3_94"/>
            <p:cNvCxnSpPr/>
            <p:nvPr/>
          </p:nvCxnSpPr>
          <p:spPr>
            <a:xfrm>
              <a:off x="0" y="856590"/>
              <a:ext cx="771300" cy="0"/>
            </a:xfrm>
            <a:prstGeom prst="straightConnector1">
              <a:avLst/>
            </a:prstGeom>
            <a:noFill/>
            <a:ln w="161500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8" name="Google Shape;348;h136085a50b166d32_3_94"/>
            <p:cNvCxnSpPr/>
            <p:nvPr/>
          </p:nvCxnSpPr>
          <p:spPr>
            <a:xfrm rot="10800000">
              <a:off x="693579" y="90"/>
              <a:ext cx="0" cy="856500"/>
            </a:xfrm>
            <a:prstGeom prst="straightConnector1">
              <a:avLst/>
            </a:prstGeom>
            <a:noFill/>
            <a:ln w="155275" cap="flat" cmpd="sng">
              <a:solidFill>
                <a:srgbClr val="F5C82A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49" name="Google Shape;349;h136085a50b166d32_3_94"/>
          <p:cNvSpPr txBox="1"/>
          <p:nvPr/>
        </p:nvSpPr>
        <p:spPr>
          <a:xfrm>
            <a:off x="1087250" y="913175"/>
            <a:ext cx="15082200" cy="21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6999" b="1">
                <a:solidFill>
                  <a:srgbClr val="F5C82A"/>
                </a:solidFill>
              </a:rPr>
              <a:t>Пониженное безопасное напряжение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50" name="Google Shape;350;h136085a50b166d32_3_94"/>
          <p:cNvSpPr txBox="1"/>
          <p:nvPr/>
        </p:nvSpPr>
        <p:spPr>
          <a:xfrm>
            <a:off x="3046959" y="3489643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Защищает от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51" name="Google Shape;351;h136085a50b166d32_3_94"/>
          <p:cNvSpPr txBox="1"/>
          <p:nvPr/>
        </p:nvSpPr>
        <p:spPr>
          <a:xfrm>
            <a:off x="8980263" y="3489644"/>
            <a:ext cx="4032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>
                <a:solidFill>
                  <a:srgbClr val="F5C82A"/>
                </a:solidFill>
              </a:rPr>
              <a:t>Принцип</a:t>
            </a:r>
            <a:endParaRPr sz="1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352" name="Google Shape;352;h136085a50b166d32_3_94"/>
          <p:cNvSpPr txBox="1"/>
          <p:nvPr/>
        </p:nvSpPr>
        <p:spPr>
          <a:xfrm>
            <a:off x="3038696" y="6629745"/>
            <a:ext cx="3870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Преимущества</a:t>
            </a:r>
            <a:endParaRPr sz="3200" b="1">
              <a:solidFill>
                <a:srgbClr val="F5C82A"/>
              </a:solidFill>
            </a:endParaRPr>
          </a:p>
        </p:txBody>
      </p:sp>
      <p:sp>
        <p:nvSpPr>
          <p:cNvPr id="353" name="Google Shape;353;h136085a50b166d32_3_94"/>
          <p:cNvSpPr txBox="1"/>
          <p:nvPr/>
        </p:nvSpPr>
        <p:spPr>
          <a:xfrm>
            <a:off x="8980263" y="6629745"/>
            <a:ext cx="4032900" cy="10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 sz="3200" b="1">
                <a:solidFill>
                  <a:schemeClr val="accent1"/>
                </a:solidFill>
              </a:rPr>
              <a:t>Ограничения</a:t>
            </a:r>
            <a:endParaRPr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>
              <a:solidFill>
                <a:srgbClr val="F5C82A"/>
              </a:solidFill>
            </a:endParaRPr>
          </a:p>
        </p:txBody>
      </p:sp>
      <p:sp>
        <p:nvSpPr>
          <p:cNvPr id="354" name="Google Shape;354;h136085a50b166d32_3_94"/>
          <p:cNvSpPr txBox="1"/>
          <p:nvPr/>
        </p:nvSpPr>
        <p:spPr>
          <a:xfrm>
            <a:off x="3038700" y="4106825"/>
            <a:ext cx="34290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Поражение током в особо опасных помещениях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h136085a50b166d32_3_94"/>
          <p:cNvSpPr txBox="1"/>
          <p:nvPr/>
        </p:nvSpPr>
        <p:spPr>
          <a:xfrm>
            <a:off x="8980276" y="4106825"/>
            <a:ext cx="3677400" cy="1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Использование напряжения 12, 24В вместо 220 В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h136085a50b166d32_3_94"/>
          <p:cNvSpPr txBox="1"/>
          <p:nvPr/>
        </p:nvSpPr>
        <p:spPr>
          <a:xfrm>
            <a:off x="3038701" y="7246925"/>
            <a:ext cx="3870900" cy="7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Существенно снижает риск поражения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h136085a50b166d32_3_94"/>
          <p:cNvSpPr txBox="1"/>
          <p:nvPr/>
        </p:nvSpPr>
        <p:spPr>
          <a:xfrm>
            <a:off x="8980753" y="7246925"/>
            <a:ext cx="3677400" cy="14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99"/>
              <a:buFont typeface="Arial"/>
              <a:buNone/>
            </a:pPr>
            <a:r>
              <a:rPr lang="en-US" sz="20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Ограничение мощности (нельзя подключить мощные приборы), нужны трансформаторы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h136085a50b166d32_3_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h136085a50b166d32_3_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991695" y="1458452"/>
            <a:ext cx="1033075" cy="1315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h136085a50b166d32_3_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3701" y="3808784"/>
            <a:ext cx="806325" cy="77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h136085a50b166d32_3_9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94796" y="3562499"/>
            <a:ext cx="806325" cy="1036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h136085a50b166d32_3_94" title="icons8-плюс-90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429238" y="6807888"/>
            <a:ext cx="1033075" cy="103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h136085a50b166d32_3_94" title="icons8-минус-10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561292" y="6848175"/>
            <a:ext cx="952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h136085a50b166d32_3_94"/>
          <p:cNvPicPr preferRelativeResize="0"/>
          <p:nvPr/>
        </p:nvPicPr>
        <p:blipFill rotWithShape="1">
          <a:blip r:embed="rId12">
            <a:alphaModFix/>
          </a:blip>
          <a:srcRect l="10747" r="9112"/>
          <a:stretch/>
        </p:blipFill>
        <p:spPr>
          <a:xfrm>
            <a:off x="12821300" y="3175325"/>
            <a:ext cx="4032900" cy="5032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0" name="Google Shape;370;p2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371" name="Google Shape;371;p2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372" name="Google Shape;372;p2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73" name="Google Shape;373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2"/>
          <p:cNvSpPr txBox="1"/>
          <p:nvPr/>
        </p:nvSpPr>
        <p:spPr>
          <a:xfrm>
            <a:off x="1267070" y="1255096"/>
            <a:ext cx="10973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7000" b="1">
                <a:solidFill>
                  <a:srgbClr val="F5C82A"/>
                </a:solidFill>
              </a:rPr>
              <a:t>Типичные ошибки</a:t>
            </a:r>
            <a:endParaRPr sz="70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375" name="Google Shape;375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67017" y="1255104"/>
            <a:ext cx="1182550" cy="150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2"/>
          <p:cNvSpPr txBox="1"/>
          <p:nvPr/>
        </p:nvSpPr>
        <p:spPr>
          <a:xfrm>
            <a:off x="1402375" y="2672975"/>
            <a:ext cx="10552800" cy="58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</a:rPr>
              <a:t>Отключение/обрыв PE </a:t>
            </a:r>
            <a:r>
              <a:rPr lang="en-US" sz="2000" b="1">
                <a:solidFill>
                  <a:schemeClr val="lt1"/>
                </a:solidFill>
              </a:rPr>
              <a:t>→ корпус может оказаться под напряжением.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</a:rPr>
              <a:t>УЗО без защиты от сверхтока</a:t>
            </a:r>
            <a:r>
              <a:rPr lang="en-US" sz="2000" b="1">
                <a:solidFill>
                  <a:schemeClr val="lt1"/>
                </a:solidFill>
              </a:rPr>
              <a:t> → перегрузка может остаться без необходимой защиты.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</a:rPr>
              <a:t>Соединение N и PE после УЗО </a:t>
            </a:r>
            <a:r>
              <a:rPr lang="en-US" sz="2000" b="1">
                <a:solidFill>
                  <a:schemeClr val="lt1"/>
                </a:solidFill>
              </a:rPr>
              <a:t>→ ложные срабатывания или нарушение работы защиты.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</a:rPr>
              <a:t>Слишком большой номинал автомата</a:t>
            </a:r>
            <a:r>
              <a:rPr lang="en-US" sz="2000" b="1">
                <a:solidFill>
                  <a:schemeClr val="lt1"/>
                </a:solidFill>
              </a:rPr>
              <a:t> → проводка может перегреваться раньше отключения.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</a:rPr>
              <a:t>Поврежденная изоляция</a:t>
            </a:r>
            <a:r>
              <a:rPr lang="en-US" sz="2000" b="1">
                <a:solidFill>
                  <a:schemeClr val="lt1"/>
                </a:solidFill>
              </a:rPr>
              <a:t> → риск прямого или косвенного прикосновения.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</a:rPr>
              <a:t>Снятое ограждение</a:t>
            </a:r>
            <a:r>
              <a:rPr lang="en-US" sz="2000" b="1">
                <a:solidFill>
                  <a:schemeClr val="lt1"/>
                </a:solidFill>
              </a:rPr>
              <a:t> → доступ к опасным токоведущим частям.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6"/>
                </a:solidFill>
              </a:rPr>
              <a:t>Использование неподходящего понижающего трансформатора</a:t>
            </a:r>
            <a:r>
              <a:rPr lang="en-US" sz="2000" b="1">
                <a:solidFill>
                  <a:schemeClr val="lt1"/>
                </a:solidFill>
              </a:rPr>
              <a:t> → низкое напряжение не гарантирует безопасность, если не обеспечено необходимое защитное разделение цепи.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>
              <a:solidFill>
                <a:schemeClr val="lt1"/>
              </a:solidFill>
            </a:endParaRPr>
          </a:p>
        </p:txBody>
      </p:sp>
      <p:pic>
        <p:nvPicPr>
          <p:cNvPr id="378" name="Google Shape;378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027700" y="3317200"/>
            <a:ext cx="5236550" cy="4307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h136085a50b166d32_3_1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4" name="Google Shape;384;h136085a50b166d32_3_16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385" name="Google Shape;385;h136085a50b166d32_3_164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386" name="Google Shape;386;h136085a50b166d32_3_16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87" name="Google Shape;387;h136085a50b166d32_3_1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h136085a50b166d32_3_164"/>
          <p:cNvSpPr txBox="1"/>
          <p:nvPr/>
        </p:nvSpPr>
        <p:spPr>
          <a:xfrm>
            <a:off x="1267070" y="1255096"/>
            <a:ext cx="10973400" cy="21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7000" b="1">
                <a:solidFill>
                  <a:srgbClr val="F5C82A"/>
                </a:solidFill>
              </a:rPr>
              <a:t>Схема взаимодействия защитных устройств</a:t>
            </a:r>
            <a:endParaRPr sz="70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389" name="Google Shape;389;h136085a50b166d32_3_1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767017" y="1255104"/>
            <a:ext cx="1182550" cy="1505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h136085a50b166d32_3_1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500925" y="8609176"/>
            <a:ext cx="1523850" cy="785369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h136085a50b166d32_3_164"/>
          <p:cNvSpPr txBox="1"/>
          <p:nvPr/>
        </p:nvSpPr>
        <p:spPr>
          <a:xfrm>
            <a:off x="1267075" y="3669675"/>
            <a:ext cx="10428900" cy="48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accent1"/>
                </a:solidFill>
              </a:rPr>
              <a:t>Электрическая цепь:</a:t>
            </a:r>
            <a:r>
              <a:rPr lang="en-US" sz="2000" b="1">
                <a:solidFill>
                  <a:schemeClr val="lt1"/>
                </a:solidFill>
              </a:rPr>
              <a:t> Источник → Автомат → УЗО → Изоляция → Зануление (или Заземление) → Понижающий трансформатор → Потребитель</a:t>
            </a:r>
            <a:endParaRPr sz="2000" b="1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>
                <a:solidFill>
                  <a:schemeClr val="lt1"/>
                </a:solidFill>
              </a:rPr>
              <a:t>Изоляция защищает от касания в нормальном режиме.</a:t>
            </a:r>
            <a:endParaRPr sz="2000" b="1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>
                <a:solidFill>
                  <a:schemeClr val="lt1"/>
                </a:solidFill>
              </a:rPr>
              <a:t>Если изоляция повреждена и фаза попала на корпус, срабатывает Зануление (или Заземление), вызывая КЗ.</a:t>
            </a:r>
            <a:endParaRPr sz="2000" b="1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>
                <a:solidFill>
                  <a:schemeClr val="lt1"/>
                </a:solidFill>
              </a:rPr>
              <a:t>Автоматический выключатель чувствует КЗ и отключает питание.</a:t>
            </a:r>
            <a:endParaRPr sz="2000" b="1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>
                <a:solidFill>
                  <a:schemeClr val="lt1"/>
                </a:solidFill>
              </a:rPr>
              <a:t>Если ток утечки мал (человек коснулся провода), срабатывает УЗО.</a:t>
            </a:r>
            <a:endParaRPr sz="2000" b="1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>
                <a:solidFill>
                  <a:schemeClr val="lt1"/>
                </a:solidFill>
              </a:rPr>
              <a:t>Понижающий трансформатор понижает напряжение до безопасного. </a:t>
            </a:r>
            <a:endParaRPr sz="2000" b="1">
              <a:solidFill>
                <a:schemeClr val="lt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Char char="●"/>
            </a:pPr>
            <a:r>
              <a:rPr lang="en-US" sz="2000" b="1">
                <a:solidFill>
                  <a:schemeClr val="lt1"/>
                </a:solidFill>
              </a:rPr>
              <a:t>Ограждение не дает случайно коснуться опасных частей.</a:t>
            </a: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0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 b="1">
                <a:solidFill>
                  <a:schemeClr val="lt1"/>
                </a:solidFill>
              </a:rPr>
              <a:t>Отсюда можно сделать вывод, что для безопасности нужно использовать </a:t>
            </a:r>
            <a:r>
              <a:rPr lang="en-US" sz="2000" b="1">
                <a:solidFill>
                  <a:schemeClr val="accent6"/>
                </a:solidFill>
              </a:rPr>
              <a:t>несколько</a:t>
            </a:r>
            <a:r>
              <a:rPr lang="en-US" sz="2000" b="1">
                <a:solidFill>
                  <a:schemeClr val="lt1"/>
                </a:solidFill>
              </a:rPr>
              <a:t> защитных устройств.</a:t>
            </a:r>
            <a:endParaRPr sz="2000" b="1">
              <a:solidFill>
                <a:schemeClr val="lt1"/>
              </a:solidFill>
            </a:endParaRPr>
          </a:p>
        </p:txBody>
      </p:sp>
      <p:pic>
        <p:nvPicPr>
          <p:cNvPr id="392" name="Google Shape;392;h136085a50b166d32_3_16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112150" y="3381100"/>
            <a:ext cx="4912625" cy="460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675" y="-170425"/>
            <a:ext cx="17721523" cy="106334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9" name="Google Shape;399;p16"/>
          <p:cNvGraphicFramePr/>
          <p:nvPr>
            <p:extLst>
              <p:ext uri="{D42A27DB-BD31-4B8C-83A1-F6EECF244321}">
                <p14:modId xmlns:p14="http://schemas.microsoft.com/office/powerpoint/2010/main" val="3521151287"/>
              </p:ext>
            </p:extLst>
          </p:nvPr>
        </p:nvGraphicFramePr>
        <p:xfrm>
          <a:off x="565325" y="539875"/>
          <a:ext cx="17157350" cy="9160016"/>
        </p:xfrm>
        <a:graphic>
          <a:graphicData uri="http://schemas.openxmlformats.org/drawingml/2006/table">
            <a:tbl>
              <a:tblPr>
                <a:noFill/>
                <a:tableStyleId>{05414EE1-0D6F-46C7-ACF3-A23413AE6FBE}</a:tableStyleId>
              </a:tblPr>
              <a:tblGrid>
                <a:gridCol w="2451050"/>
                <a:gridCol w="2451050"/>
                <a:gridCol w="2451050"/>
                <a:gridCol w="2451050"/>
                <a:gridCol w="2451050"/>
                <a:gridCol w="2451050"/>
                <a:gridCol w="2451050"/>
              </a:tblGrid>
              <a:tr h="52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 err="1">
                          <a:solidFill>
                            <a:schemeClr val="lt1"/>
                          </a:solidFill>
                        </a:rPr>
                        <a:t>Средство</a:t>
                      </a:r>
                      <a:r>
                        <a:rPr lang="en-US" b="1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b="1" dirty="0" err="1">
                          <a:solidFill>
                            <a:schemeClr val="lt1"/>
                          </a:solidFill>
                        </a:rPr>
                        <a:t>защиты</a:t>
                      </a:r>
                      <a:endParaRPr b="1"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8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От какой опасности защищает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8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Принцип действия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8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Преимущества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8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Ограничения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8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Возможные ошибки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82A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lt1"/>
                          </a:solidFill>
                        </a:rPr>
                        <a:t>Где применяется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C82A"/>
                    </a:solidFill>
                  </a:tcPr>
                </a:tc>
              </a:tr>
              <a:tr h="108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Защитное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заземление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Замыкание фазы на корпус (пробой изоляции).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Соединение корпуса с землей. Ток уходит в землю, минуя человека.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Защита при пробое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Не отключает питание автоматически; Требует подходящего грунта и контроля.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нельзя заменять PE случайными металлическими конструкциями.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В современных системах защитного заземления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108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Зануление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Поражение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током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при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замыкании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на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корпус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Превращение замыкания на корпус в однофазное КЗ, вызывающее срабатывание защиты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Быстрое отключение поврежденного участка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Определенная сила для срабатывания защиты и исправная защита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Обрыв нулевого провода, неправильное подключение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Трехфазная сеть с заземленной нейтралью и напряжением до 1000 В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1251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УЗО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Утечка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тока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прямой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контакт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человека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с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фазой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.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Сравнивает ток фазы и нейтрали, при разности большей установленной отключает питание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Высокая чувствительность, защита от прямого прикосновения, быстродействие.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УЗО не заменяет автоматический выключатель. Нельзя объединять N и PE после УЗО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Подключение без заземления (ложные срабатывания), неправильная полярность.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Влажные помещения, ванные, кухни, уличные розетки, детские комнаты.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108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Автоматический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выключатель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Защита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от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КЗ и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длительной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перегрузки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Использование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теплового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и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электромагнитного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расцепителя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Многоразовое использование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Не защищает от малых токов утечки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Завышенный номинал автоматического выключателя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Вводные щиты, распределительные станции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1086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Изоляция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Прямого прикосновения к токоведущим частям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Создание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диэлектрического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барьера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Пассивная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защита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дешевизна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Старение, тресканье, плавится при перегреве, может гореть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Использование поврежденных проводов, перегрузка сети.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Все кабели, провода, корпуса инструментов, рукоятки.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12517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Защитное ограждение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Прикосновение к токоведущим частям человека и постронних предметов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Физическое ограничение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Простота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Не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защищает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от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утечек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на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корпус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Снятие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ограждения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без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отключение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тока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не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использования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блокирующих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устройств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(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замков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)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Трансформаторы, распределительные станции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  <a:tr h="1737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Пониженное безопасное напряжение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Поражение током в особо опасных помещениях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Использование напряжения 12, 24, 36, 42 В вместо 220 В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Существенно снижает риск поражения;особенно полезно во влажных и тесных помещениях; применяется для переносных и маломощных устройств.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lt1"/>
                          </a:solidFill>
                        </a:rPr>
                        <a:t>Ограничение мощности (нельзя подключить мощные приборы), нужны трансформаторы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Использование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220В в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сырых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подвалах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применение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некачественных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понижающих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трансформаторов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.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Ручные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лампы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в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сырых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местах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металлические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емкости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игрушки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,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системы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 </a:t>
                      </a:r>
                      <a:r>
                        <a:rPr lang="en-US" dirty="0" err="1">
                          <a:solidFill>
                            <a:schemeClr val="lt1"/>
                          </a:solidFill>
                        </a:rPr>
                        <a:t>управления</a:t>
                      </a:r>
                      <a:r>
                        <a:rPr lang="en-US" dirty="0">
                          <a:solidFill>
                            <a:schemeClr val="lt1"/>
                          </a:solidFill>
                        </a:rPr>
                        <a:t>.</a:t>
                      </a:r>
                      <a:endParaRPr dirty="0">
                        <a:solidFill>
                          <a:schemeClr val="lt1"/>
                        </a:solidFill>
                      </a:endParaRPr>
                    </a:p>
                  </a:txBody>
                  <a:tcPr marL="28575" marR="28575" marT="19050" marB="1905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h136085a50b166d32_3_1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5" name="Google Shape;405;h136085a50b166d32_3_194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406" name="Google Shape;406;h136085a50b166d32_3_194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407" name="Google Shape;407;h136085a50b166d32_3_194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8" name="Google Shape;408;h136085a50b166d32_3_1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h136085a50b166d32_3_194"/>
          <p:cNvSpPr txBox="1"/>
          <p:nvPr/>
        </p:nvSpPr>
        <p:spPr>
          <a:xfrm>
            <a:off x="1028700" y="1363875"/>
            <a:ext cx="156822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7000" b="1">
                <a:solidFill>
                  <a:srgbClr val="F5C82A"/>
                </a:solidFill>
              </a:rPr>
              <a:t>Как использовалась нейросеть</a:t>
            </a:r>
            <a:endParaRPr sz="7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10" name="Google Shape;410;h136085a50b166d32_3_194"/>
          <p:cNvSpPr txBox="1"/>
          <p:nvPr/>
        </p:nvSpPr>
        <p:spPr>
          <a:xfrm>
            <a:off x="1028700" y="3114675"/>
            <a:ext cx="11136600" cy="4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Составление сравнительной таблицы (слайд 13) на основе разрозненных данных.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Поиск и оформление списка нормативных документов (ГОСТы) и других источников.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Сбор и систематизация теоретического материала по защитным заземлению, занулению, УЗО, автоматическим выключателям, изоляции, ограждениям и пониженному напряжению.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rPr>
              <a:t>Ошибки нейросети</a:t>
            </a:r>
            <a:endParaRPr sz="2100">
              <a:solidFill>
                <a:schemeClr val="accent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Неточные ссылки на нормативные документы.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Избыточность и дублирование в таблице.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Char char="●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Несоответствие иллюстраций реальным устройствам.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11" name="Google Shape;411;h136085a50b166d32_3_1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333950" y="1509989"/>
            <a:ext cx="1523850" cy="78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h136085a50b166d32_3_1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357673" y="3114675"/>
            <a:ext cx="4643027" cy="503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h136085a50b166d32_3_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8" name="Google Shape;418;h136085a50b166d32_3_206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419" name="Google Shape;419;h136085a50b166d32_3_206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420" name="Google Shape;420;h136085a50b166d32_3_206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21" name="Google Shape;421;h136085a50b166d32_3_20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h136085a50b166d32_3_206"/>
          <p:cNvSpPr txBox="1"/>
          <p:nvPr/>
        </p:nvSpPr>
        <p:spPr>
          <a:xfrm>
            <a:off x="3364175" y="1359600"/>
            <a:ext cx="11570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7000" b="1">
                <a:solidFill>
                  <a:srgbClr val="F5C82A"/>
                </a:solidFill>
              </a:rPr>
              <a:t>Спасибо за внимание!</a:t>
            </a:r>
            <a:endParaRPr sz="7000" b="1" i="0" u="none" strike="noStrike" cap="none">
              <a:solidFill>
                <a:srgbClr val="000000"/>
              </a:solidFill>
            </a:endParaRPr>
          </a:p>
        </p:txBody>
      </p:sp>
      <p:pic>
        <p:nvPicPr>
          <p:cNvPr id="423" name="Google Shape;423;h136085a50b166d32_3_2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0517" y="2929629"/>
            <a:ext cx="5017725" cy="63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9" name="Google Shape;429;p9"/>
          <p:cNvGrpSpPr/>
          <p:nvPr/>
        </p:nvGrpSpPr>
        <p:grpSpPr>
          <a:xfrm>
            <a:off x="629084" y="573225"/>
            <a:ext cx="17030236" cy="8996375"/>
            <a:chOff x="0" y="-38100"/>
            <a:chExt cx="4485300" cy="2369400"/>
          </a:xfrm>
        </p:grpSpPr>
        <p:sp>
          <p:nvSpPr>
            <p:cNvPr id="430" name="Google Shape;430;p9"/>
            <p:cNvSpPr/>
            <p:nvPr/>
          </p:nvSpPr>
          <p:spPr>
            <a:xfrm>
              <a:off x="0" y="0"/>
              <a:ext cx="4485224" cy="2331187"/>
            </a:xfrm>
            <a:custGeom>
              <a:avLst/>
              <a:gdLst/>
              <a:ahLst/>
              <a:cxnLst/>
              <a:rect l="l" t="t" r="r" b="b"/>
              <a:pathLst>
                <a:path w="4485224" h="2331187" extrusionOk="0">
                  <a:moveTo>
                    <a:pt x="0" y="0"/>
                  </a:moveTo>
                  <a:lnTo>
                    <a:pt x="4485224" y="0"/>
                  </a:lnTo>
                  <a:lnTo>
                    <a:pt x="4485224" y="2331187"/>
                  </a:lnTo>
                  <a:lnTo>
                    <a:pt x="0" y="2331187"/>
                  </a:lnTo>
                  <a:close/>
                </a:path>
              </a:pathLst>
            </a:custGeom>
            <a:solidFill>
              <a:srgbClr val="1A1C1F"/>
            </a:solidFill>
            <a:ln>
              <a:noFill/>
            </a:ln>
          </p:spPr>
        </p:sp>
        <p:sp>
          <p:nvSpPr>
            <p:cNvPr id="431" name="Google Shape;431;p9"/>
            <p:cNvSpPr txBox="1"/>
            <p:nvPr/>
          </p:nvSpPr>
          <p:spPr>
            <a:xfrm>
              <a:off x="0" y="-38100"/>
              <a:ext cx="4485300" cy="236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2" name="Google Shape;4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50" y="56804"/>
            <a:ext cx="17719649" cy="1038259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9"/>
          <p:cNvSpPr txBox="1"/>
          <p:nvPr/>
        </p:nvSpPr>
        <p:spPr>
          <a:xfrm>
            <a:off x="1028700" y="1432786"/>
            <a:ext cx="97284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99"/>
              <a:buFont typeface="Arial"/>
              <a:buNone/>
            </a:pPr>
            <a:r>
              <a:rPr lang="en-US" sz="7000" b="1">
                <a:solidFill>
                  <a:srgbClr val="F5C82A"/>
                </a:solidFill>
              </a:rPr>
              <a:t>Источники</a:t>
            </a:r>
            <a:endParaRPr sz="70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34" name="Google Shape;434;p9"/>
          <p:cNvSpPr txBox="1"/>
          <p:nvPr/>
        </p:nvSpPr>
        <p:spPr>
          <a:xfrm>
            <a:off x="1028700" y="3085425"/>
            <a:ext cx="16311300" cy="57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"/>
              <a:buAutoNum type="arabicPeriod"/>
            </a:pPr>
            <a:r>
              <a:rPr lang="en-US" sz="2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ГОСТ 12.1.019-2017. Система стандартов безопасности труда. Электробезопасность. Общие требования и номенклатура видов защиты : межгосударственный стандарт : введ. 01.01.2019. — Москва : Стандартинформ, 2019. — 12 с.</a:t>
            </a:r>
            <a:endParaRPr sz="2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"/>
              <a:buAutoNum type="arabicPeriod"/>
            </a:pPr>
            <a:r>
              <a:rPr lang="en-US" sz="2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ГОСТ IEC 60898-1-2020. Аппаратура малогабаритная электрическая. Автоматические выключатели для защиты от сверхтоков бытового и аналогичного назначения. Часть 1. Автоматические выключатели для переменного тока : межгосударственный стандарт : введ. 01.03.2021. — Москва : Стандартинформ, 2020. — 96 с.</a:t>
            </a:r>
            <a:endParaRPr sz="21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Open Sans"/>
              <a:buAutoNum type="arabicPeriod"/>
            </a:pPr>
            <a:r>
              <a:rPr lang="en-US" sz="2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ГОСТ Р 50571.4.41-2022/МЭК 60364-4-41:2017. Электроустановки низковольтные. Часть 4-41. Защита для обеспечения безопасности. Защита от поражения электрическим током : национальный стандарт Российской Федерации : утв. и введ. 01.10.2022. — Москва : Российский институт стандартизации, 2022. — 28 с.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AutoNum type="arabicPeriod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Заземление и зануление: отличия, принципы работы и область применения // Штиль. — URL: https://www.shtyl.ru/support/articles/zazemlenie-i-zanulenie-otlichiya-principy-raboty-i-oblast-primeneniya/ (дата обращения: 03.10.2026). 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AutoNum type="arabicPeriod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Панев Н.М. Аппараты защиты электросетей. Часть 2. Автоматические выключатели // Портал «Edufire37». — 17.11.2023. — URL: https://portal.edufire37.ru/articles/293 (дата обращения: 03.10.2026). 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619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"/>
              <a:buAutoNum type="arabicPeriod"/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От чего защищает автоматический выключатель // Проект РЗА. — URL: https://pro-rza.ru/ot-chego-zashhishhaet-avtomaticheskij-vyklyuchatel/ (дата обращения: 03.10.2026).</a:t>
            </a:r>
            <a:endParaRPr sz="21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ctrical Hazards Slides   ">
  <a:themeElements>
    <a:clrScheme name="Office">
      <a:dk1>
        <a:srgbClr val="000000"/>
      </a:dk1>
      <a:lt1>
        <a:srgbClr val="FFFFFF"/>
      </a:lt1>
      <a:dk2>
        <a:srgbClr val="1A1C1F"/>
      </a:dk2>
      <a:lt2>
        <a:srgbClr val="5B5C5E"/>
      </a:lt2>
      <a:accent1>
        <a:srgbClr val="F5C82A"/>
      </a:accent1>
      <a:accent2>
        <a:srgbClr val="888888"/>
      </a:accent2>
      <a:accent3>
        <a:srgbClr val="FFFFFF"/>
      </a:accent3>
      <a:accent4>
        <a:srgbClr val="1A1C1F"/>
      </a:accent4>
      <a:accent5>
        <a:srgbClr val="5B5C5E"/>
      </a:accent5>
      <a:accent6>
        <a:srgbClr val="F5C82A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1172</Words>
  <Application>Microsoft Office PowerPoint</Application>
  <PresentationFormat>Произвольный</PresentationFormat>
  <Paragraphs>176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Calibri</vt:lpstr>
      <vt:lpstr>Archivo Black</vt:lpstr>
      <vt:lpstr>Arial</vt:lpstr>
      <vt:lpstr>Open Sans</vt:lpstr>
      <vt:lpstr>Electrical Hazards Slides 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mazer300</dc:creator>
  <cp:lastModifiedBy>mazer300</cp:lastModifiedBy>
  <cp:revision>2</cp:revision>
  <dcterms:modified xsi:type="dcterms:W3CDTF">2026-10-03T17:19:01Z</dcterms:modified>
</cp:coreProperties>
</file>