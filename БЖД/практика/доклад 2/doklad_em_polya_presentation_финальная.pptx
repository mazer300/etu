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3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96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Тема доклада — виды действия электромагнитных полей на человека. Рассмотрим тепловые и нетепловые механизмы воздействия, соматические и генетические эффекты, актуальные научные данные и основные меры защиты.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Источники ЭМП можно условно разделить на бытовые, технологические и медицинские. Однако термин «электромагнитное излучение» объединяет очень разные диапазоны частот и энергий. Поэтому важно не смешивать неионизирующие поля, например радиочастотные, с ионизирующим излучением — рентгеновским и гамма-излучением. Их механизмы воздействия различаются.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учебной классификации эти четыре понятия часто перечисляют рядом, но это не четыре взаимоисключающих физических механизма. «Тепловое» и «нетепловое» говорят о том, как поле действует на ткани. «Соматическое» и «генетическое» — о том, какой результат рассматривается. Один и тот же эффект можно описывать сразу по двум осям.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Тепловое воздействие возникает при поглощении электромагнитной энергии тканями и преобразовании её в тепло. При высокой интенсивности поле способно привести к общему перегреву или локальным ожогам. Важно подчеркнуть, что для оценки риска недостаточно знать только наличие источника: учитываются частота, уровень поля, время воздействия и особенности ситуации.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Нетепловые эффекты изучаются в лабораторных и эпидемиологических исследованиях. Для низкочастотных полей при достаточно высоких уровнях установлен механизм индуцированных токов и стимуляции нервов. Для ряда других предполагаемых эффектов результаты исследований неоднородны. Поэтому корректно отделять зарегистрированную биологическую реакцию от доказанного неблагоприятного последствия для здоровья.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 соматическим эффектам относятся реакции организма человека, подвергшегося воздействию. Уровни, достаточные для перегрева, ожогов или стимуляции нервов и мышц, рассматриваются как известные риски при чрезмерной экспозиции. В то же время жалобы вроде головной боли или усталости неспецифичны и сами по себе не подтверждают, что причиной стало электромагнитное поле.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Генетическим действием называют изменения генетического материала, включая мутации. Здесь необходимо чётко различать два вида воздействия. Ионизирующее излучение может повреждать ДНК непосредственно или через продукты радиолиза. У радиочастотных полей энергия фотонов недостаточна для прямой ионизации; предполагаемые косвенные механизмы продолжают изучаться, но нельзя представлять их как установленный генетический вред при обычных уровнях воздействия.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Научные обзоры различают установленные острые эффекты и вопросы, по которым данные остаются ограниченными или неоднозначными. Международное агентство по изучению рака в 2011 году отнесло радиочастотные электромагнитные поля к группе 2B — возможно канцерогенные для человека. Это классификация опасности, а не количественная оценка риска и не доказательство того, что обычное использование телефона обязательно вызывает рак.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потенциальный риск влияет не один фактор. Важны частота, уровень поля, длительность и расстояние, а также направленность и конфигурация источника. В сложных профессиональных условиях параметры оценивают специализированными приборами и сопоставляют с применимыми гигиеническими нормативами. Простые бытовые советы не заменяют измерения при подозрении на превышение норм.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снижения воздействия в первую очередь применяют инженерные и организационные меры: увеличить безопасную дистанцию, ограничить доступ к опасной зоне, сократить время пребывания, использовать подходящее экранирование и контролировать оборудование. При бытовом использовании телефона наушники или громкая связь могут уменьшить контакт устройства с головой, если пользователь сам хочет сократить экспозицию, но это не следует представлять как обязательную медицинскую меру для всех.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Нормативная база не сводится к одному ГОСТу. СанПиН устанавливают гигиенические нормативы, а отдельные ГОСТы могут задавать методы измерений или правила библиографического описания. Перед сдачей работы полезно уточнить методические требования конкретного колледжа или вуза и проверить актуальную редакцию каждого санитарного документа. ГОСТ Р 7.0.100-2018 касается библиографического описания, а не общего визуального оформления презентации.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Подводя итог, можно сделать четыре вывода. Тепловые эффекты при высоких уровнях радиочастотного воздействия хорошо установлены. Для нетепловых эффектов доказательность неоднородна. Соматические последствия зависят от параметров поля и условий воздействия. Генетические эффекты, которые известны для ионизирующего излучения, нельзя автоматически приписывать радиочастотным полям. Практическая безопасность обеспечивается корректной оценкой, технической защитой и соблюдением действующих нормативов.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презентации использованы материалы Всемирной организации здравоохранения, Международного агентства по изучению рака и российских нормативных и стандартных документов. Электронные источники указаны прямыми ссылками. В письменном докладе библиографические записи следует оформить по ГОСТ Р 7.0.100-2018 или по методическим указаниям учебного заведения, обязательно учитывая актуальность документов.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A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ЭЛЕКТРОМАГНИТНЫЕ ПОЛЯ И ЗДОРОВЬЕ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A9A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A9A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7315200" y="731520"/>
            <a:ext cx="4389120" cy="4389120"/>
          </a:xfrm>
          <a:prstGeom prst="arc">
            <a:avLst/>
          </a:prstGeom>
          <a:solidFill>
            <a:srgbClr val="102238">
              <a:alpha val="0"/>
            </a:srgbClr>
          </a:solidFill>
          <a:ln w="20320">
            <a:solidFill>
              <a:srgbClr val="7AD7DD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7662672" y="932688"/>
            <a:ext cx="4279392" cy="4279392"/>
          </a:xfrm>
          <a:prstGeom prst="arc">
            <a:avLst/>
          </a:prstGeom>
          <a:solidFill>
            <a:srgbClr val="102238">
              <a:alpha val="0"/>
            </a:srgbClr>
          </a:solidFill>
          <a:ln w="20320">
            <a:solidFill>
              <a:srgbClr val="168C95">
                <a:alpha val="6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900000">
            <a:off x="8010144" y="1133856"/>
            <a:ext cx="4169664" cy="4169664"/>
          </a:xfrm>
          <a:prstGeom prst="arc">
            <a:avLst/>
          </a:prstGeom>
          <a:solidFill>
            <a:srgbClr val="102238">
              <a:alpha val="0"/>
            </a:srgbClr>
          </a:solidFill>
          <a:ln w="20320">
            <a:solidFill>
              <a:srgbClr val="7AD7DD">
                <a:alpha val="5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900000">
            <a:off x="8357616" y="1335024"/>
            <a:ext cx="4059936" cy="4059936"/>
          </a:xfrm>
          <a:prstGeom prst="arc">
            <a:avLst/>
          </a:prstGeom>
          <a:solidFill>
            <a:srgbClr val="102238">
              <a:alpha val="0"/>
            </a:srgbClr>
          </a:solidFill>
          <a:ln w="20320">
            <a:solidFill>
              <a:srgbClr val="168C95">
                <a:alpha val="4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900000">
            <a:off x="8705088" y="1536192"/>
            <a:ext cx="3950208" cy="3950208"/>
          </a:xfrm>
          <a:prstGeom prst="arc">
            <a:avLst/>
          </a:prstGeom>
          <a:solidFill>
            <a:srgbClr val="102238">
              <a:alpha val="0"/>
            </a:srgbClr>
          </a:solidFill>
          <a:ln w="20320">
            <a:solidFill>
              <a:srgbClr val="7AD7DD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87968" y="1280160"/>
            <a:ext cx="1234440" cy="1234440"/>
          </a:xfrm>
          <a:prstGeom prst="ellipse">
            <a:avLst/>
          </a:prstGeom>
          <a:solidFill>
            <a:srgbClr val="168C95"/>
          </a:solidFill>
          <a:ln w="10160">
            <a:solidFill>
              <a:srgbClr val="168C9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35440" y="1627632"/>
            <a:ext cx="530352" cy="530352"/>
          </a:xfrm>
          <a:prstGeom prst="ellipse">
            <a:avLst/>
          </a:prstGeom>
          <a:solidFill>
            <a:srgbClr val="17324D"/>
          </a:solidFill>
          <a:ln w="10160">
            <a:solidFill>
              <a:srgbClr val="1732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00032" y="1792224"/>
            <a:ext cx="201168" cy="201168"/>
          </a:xfrm>
          <a:prstGeom prst="ellipse">
            <a:avLst/>
          </a:prstGeom>
          <a:solidFill>
            <a:srgbClr val="7AD7DD"/>
          </a:solidFill>
          <a:ln w="10160">
            <a:solidFill>
              <a:srgbClr val="7AD7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6035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7AD7D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УЧЕБНЫЙ ДОКЛАД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123444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Виды действия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электромагнитных полей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 человека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76732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D9E6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Тепловое • нетепловое • соматическое • генетическое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9808" y="4590288"/>
            <a:ext cx="5148072" cy="0"/>
          </a:xfrm>
          <a:prstGeom prst="line">
            <a:avLst/>
          </a:prstGeom>
          <a:noFill/>
          <a:ln w="25400">
            <a:solidFill>
              <a:srgbClr val="168C9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1341" y="4892040"/>
            <a:ext cx="4754880" cy="80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 smtClean="0">
                <a:solidFill>
                  <a:srgbClr val="B7C5D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Выполнил</a:t>
            </a:r>
            <a:r>
              <a:rPr lang="ru-RU" sz="1200" dirty="0" smtClean="0">
                <a:solidFill>
                  <a:srgbClr val="B7C5D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</a:t>
            </a:r>
            <a:r>
              <a:rPr lang="en-US" sz="1200" dirty="0" smtClean="0">
                <a:solidFill>
                  <a:srgbClr val="B7C5D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</a:t>
            </a:r>
            <a:r>
              <a:rPr lang="ru-RU" sz="1200" dirty="0" smtClean="0">
                <a:solidFill>
                  <a:srgbClr val="B7C5D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</a:t>
            </a:r>
            <a:r>
              <a:rPr lang="ru-RU" sz="1200" dirty="0" err="1" smtClean="0">
                <a:solidFill>
                  <a:srgbClr val="B7C5D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Тукалкин</a:t>
            </a:r>
            <a:r>
              <a:rPr lang="ru-RU" sz="1200" dirty="0" smtClean="0">
                <a:solidFill>
                  <a:srgbClr val="B7C5D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В.А.</a:t>
            </a:r>
          </a:p>
          <a:p>
            <a:pPr marL="0" indent="0" algn="l">
              <a:buNone/>
            </a:pPr>
            <a:r>
              <a:rPr lang="ru-RU" sz="1200" dirty="0">
                <a:solidFill>
                  <a:srgbClr val="B7C5D4"/>
                </a:solidFill>
                <a:ea typeface="Noto Sans" pitchFamily="34" charset="-122"/>
              </a:rPr>
              <a:t>	</a:t>
            </a:r>
            <a:r>
              <a:rPr lang="ru-RU" sz="1200" dirty="0" err="1" smtClean="0">
                <a:solidFill>
                  <a:srgbClr val="B7C5D4"/>
                </a:solidFill>
                <a:ea typeface="Noto Sans" pitchFamily="34" charset="-122"/>
              </a:rPr>
              <a:t>Святохо</a:t>
            </a:r>
            <a:r>
              <a:rPr lang="ru-RU" sz="1200" dirty="0" smtClean="0">
                <a:solidFill>
                  <a:srgbClr val="B7C5D4"/>
                </a:solidFill>
                <a:ea typeface="Noto Sans" pitchFamily="34" charset="-122"/>
              </a:rPr>
              <a:t> В.В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56601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B7C5D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Преподаватель: </a:t>
            </a:r>
            <a:r>
              <a:rPr lang="ru-RU" sz="1200" dirty="0">
                <a:solidFill>
                  <a:srgbClr val="B7C5D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Смирнова Н.В.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10881360" y="62087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7AD7D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60" dirty="0">
                <a:solidFill>
                  <a:srgbClr val="168C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 / ОСНОВНЫЕ ПОНЯТИЯ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Что такое электромагнитные поля?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61872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ЭМП — физические поля, возникающие при электрических зарядах и токах; человек постоянно встречается с ними в быту и на работе.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1874520"/>
            <a:ext cx="3310128" cy="2971800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2084832"/>
            <a:ext cx="502920" cy="502920"/>
          </a:xfrm>
          <a:prstGeom prst="ellipse">
            <a:avLst/>
          </a:prstGeom>
          <a:solidFill>
            <a:srgbClr val="168C95"/>
          </a:solidFill>
          <a:ln w="10160">
            <a:solidFill>
              <a:srgbClr val="168C9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0392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274320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Бытовые источники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77824" y="3328416"/>
            <a:ext cx="82296" cy="82296"/>
          </a:xfrm>
          <a:prstGeom prst="ellipse">
            <a:avLst/>
          </a:prstGeom>
          <a:solidFill>
            <a:srgbClr val="168C95"/>
          </a:solidFill>
          <a:ln w="10160">
            <a:solidFill>
              <a:srgbClr val="168C9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0704" y="3273552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Электропроводка и бытовая техника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77824" y="3767328"/>
            <a:ext cx="82296" cy="82296"/>
          </a:xfrm>
          <a:prstGeom prst="ellipse">
            <a:avLst/>
          </a:prstGeom>
          <a:solidFill>
            <a:srgbClr val="168C95"/>
          </a:solidFill>
          <a:ln w="10160">
            <a:solidFill>
              <a:srgbClr val="168C9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0704" y="371246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Смартфоны, Wi‑Fi и Bluetooth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7824" y="4206240"/>
            <a:ext cx="82296" cy="82296"/>
          </a:xfrm>
          <a:prstGeom prst="ellipse">
            <a:avLst/>
          </a:prstGeom>
          <a:solidFill>
            <a:srgbClr val="168C95"/>
          </a:solidFill>
          <a:ln w="10160">
            <a:solidFill>
              <a:srgbClr val="168C9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0704" y="415137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Индукционные плиты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06240" y="1874520"/>
            <a:ext cx="3310128" cy="2971800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2084832"/>
            <a:ext cx="502920" cy="502920"/>
          </a:xfrm>
          <a:prstGeom prst="ellipse">
            <a:avLst/>
          </a:prstGeom>
          <a:solidFill>
            <a:srgbClr val="3E6FA8"/>
          </a:solidFill>
          <a:ln w="10160">
            <a:solidFill>
              <a:srgbClr val="3E6F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3484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274320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Технологические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62272" y="3328416"/>
            <a:ext cx="82296" cy="82296"/>
          </a:xfrm>
          <a:prstGeom prst="ellipse">
            <a:avLst/>
          </a:prstGeom>
          <a:solidFill>
            <a:srgbClr val="3E6FA8"/>
          </a:solidFill>
          <a:ln w="10160">
            <a:solidFill>
              <a:srgbClr val="3E6F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45152" y="3273552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Линии электропередачи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62272" y="3767328"/>
            <a:ext cx="82296" cy="82296"/>
          </a:xfrm>
          <a:prstGeom prst="ellipse">
            <a:avLst/>
          </a:prstGeom>
          <a:solidFill>
            <a:srgbClr val="3E6FA8"/>
          </a:solidFill>
          <a:ln w="10160">
            <a:solidFill>
              <a:srgbClr val="3E6F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45152" y="371246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Радио- и телепередатчики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62272" y="4206240"/>
            <a:ext cx="82296" cy="82296"/>
          </a:xfrm>
          <a:prstGeom prst="ellipse">
            <a:avLst/>
          </a:prstGeom>
          <a:solidFill>
            <a:srgbClr val="3E6FA8"/>
          </a:solidFill>
          <a:ln w="10160">
            <a:solidFill>
              <a:srgbClr val="3E6FA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45152" y="415137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Радарное и промышленное оборудование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90688" y="1874520"/>
            <a:ext cx="3310128" cy="2971800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19288" y="2084832"/>
            <a:ext cx="502920" cy="502920"/>
          </a:xfrm>
          <a:prstGeom prst="ellipse">
            <a:avLst/>
          </a:prstGeom>
          <a:solidFill>
            <a:srgbClr val="7667A8"/>
          </a:solidFill>
          <a:ln w="10160">
            <a:solidFill>
              <a:srgbClr val="7667A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19288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019288" y="274320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Медицинские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46720" y="3328416"/>
            <a:ext cx="82296" cy="82296"/>
          </a:xfrm>
          <a:prstGeom prst="ellipse">
            <a:avLst/>
          </a:prstGeom>
          <a:solidFill>
            <a:srgbClr val="7667A8"/>
          </a:solidFill>
          <a:ln w="10160">
            <a:solidFill>
              <a:srgbClr val="7667A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0" y="3273552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МРТ и физиотерапевтические установки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46720" y="3767328"/>
            <a:ext cx="82296" cy="82296"/>
          </a:xfrm>
          <a:prstGeom prst="ellipse">
            <a:avLst/>
          </a:prstGeom>
          <a:solidFill>
            <a:srgbClr val="7667A8"/>
          </a:solidFill>
          <a:ln w="10160">
            <a:solidFill>
              <a:srgbClr val="7667A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0" y="371246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Диагностическое и лабораторное оборудование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046720" y="4206240"/>
            <a:ext cx="82296" cy="82296"/>
          </a:xfrm>
          <a:prstGeom prst="ellipse">
            <a:avLst/>
          </a:prstGeom>
          <a:solidFill>
            <a:srgbClr val="7667A8"/>
          </a:solidFill>
          <a:ln w="10160">
            <a:solidFill>
              <a:srgbClr val="7667A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0" y="415137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Профессиональная работа требует специальных правил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792" y="5166360"/>
            <a:ext cx="10488168" cy="777240"/>
          </a:xfrm>
          <a:prstGeom prst="roundRect">
            <a:avLst>
              <a:gd name="adj" fmla="val 18824"/>
            </a:avLst>
          </a:prstGeom>
          <a:solidFill>
            <a:srgbClr val="102238"/>
          </a:solidFill>
          <a:ln w="7620">
            <a:solidFill>
              <a:srgbClr val="10223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68680" y="53218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AD7D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НИЗКАЯ ЧАСТОТА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3429000" y="53218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AD7D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РАДИОЧАСТОТЫ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715000" y="53218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AD7D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ИНФРАКРАСНЫЙ / ВИДИМЫЙ / УФ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961120" y="53218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AD7D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РЕНТГЕН / ГАММА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41248" y="559612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D7E4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Часть спектра — неионизирующая; рентгеновское и гамма-излучение — ионизирующее. Границы отдельных диапазонов зависят от энергии фотонов.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0" y="6537960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493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Источник: ВОЗ, Electromagnetic fields; WHO Q&amp;A, 2007/2016</a:t>
            </a:r>
            <a:endParaRPr lang="en-US" sz="73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A9A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60" dirty="0">
                <a:solidFill>
                  <a:srgbClr val="168C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 / КАК КЛАССИФИЦИРУЮТ ЭФФЕКТЫ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Два разных основания классификации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61872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Тепловое/нетепловое описывает механизм воздействия, а соматическое/генетическое — тип возможного результата.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938528"/>
            <a:ext cx="5166360" cy="3246120"/>
          </a:xfrm>
          <a:prstGeom prst="roundRect">
            <a:avLst>
              <a:gd name="adj" fmla="val 5070"/>
            </a:avLst>
          </a:prstGeom>
          <a:solidFill>
            <a:srgbClr val="E5F5F6"/>
          </a:solidFill>
          <a:ln w="7620">
            <a:solidFill>
              <a:srgbClr val="E5F5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2219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168C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 МЕХАНИЗМУ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724912"/>
            <a:ext cx="219456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7620">
            <a:solidFill>
              <a:srgbClr val="B6E2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" y="2971800"/>
            <a:ext cx="438912" cy="438912"/>
          </a:xfrm>
          <a:prstGeom prst="ellipse">
            <a:avLst/>
          </a:prstGeom>
          <a:solidFill>
            <a:srgbClr val="E97850"/>
          </a:solidFill>
          <a:ln w="10160">
            <a:solidFill>
              <a:srgbClr val="E978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24712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T°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673352" y="295351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Тепловое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" y="35387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Поглощённая энергия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нагревает ткани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2724912"/>
            <a:ext cx="219456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7620">
            <a:solidFill>
              <a:srgbClr val="B6E2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47872" y="2971800"/>
            <a:ext cx="438912" cy="438912"/>
          </a:xfrm>
          <a:prstGeom prst="ellipse">
            <a:avLst/>
          </a:prstGeom>
          <a:solidFill>
            <a:srgbClr val="3E6FA8"/>
          </a:solidFill>
          <a:ln w="10160">
            <a:solidFill>
              <a:srgbClr val="3E6F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47872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↯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096512" y="295351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Нетепловое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547872" y="35387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Эффект не объясняется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заметным нагревом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938528"/>
            <a:ext cx="5212080" cy="3246120"/>
          </a:xfrm>
          <a:prstGeom prst="roundRect">
            <a:avLst>
              <a:gd name="adj" fmla="val 5070"/>
            </a:avLst>
          </a:prstGeom>
          <a:solidFill>
            <a:srgbClr val="E8EFF8"/>
          </a:solidFill>
          <a:ln w="7620">
            <a:solidFill>
              <a:srgbClr val="E8EF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22219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3E6F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 ТИПУ РЕЗУЛЬТАТА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2724912"/>
            <a:ext cx="2212848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7620">
            <a:solidFill>
              <a:srgbClr val="C9D8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0840" y="2971800"/>
            <a:ext cx="438912" cy="438912"/>
          </a:xfrm>
          <a:prstGeom prst="ellipse">
            <a:avLst/>
          </a:prstGeom>
          <a:solidFill>
            <a:srgbClr val="34856D"/>
          </a:solidFill>
          <a:ln w="10160">
            <a:solidFill>
              <a:srgbClr val="34856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20840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↗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29535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Соматическое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353872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Проявляется у самого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облучённого человека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61120" y="2724912"/>
            <a:ext cx="2212848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7620">
            <a:solidFill>
              <a:srgbClr val="C9D8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89720" y="2971800"/>
            <a:ext cx="438912" cy="438912"/>
          </a:xfrm>
          <a:prstGeom prst="ellipse">
            <a:avLst/>
          </a:prstGeom>
          <a:solidFill>
            <a:srgbClr val="7667A8"/>
          </a:solidFill>
          <a:ln w="10160">
            <a:solidFill>
              <a:srgbClr val="7667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89720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DNA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9738360" y="29535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Генетическое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189720" y="353872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Изменения генетического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материала клеток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325880" y="5486400"/>
            <a:ext cx="9464040" cy="493776"/>
          </a:xfrm>
          <a:prstGeom prst="roundRect">
            <a:avLst>
              <a:gd name="adj" fmla="val 25926"/>
            </a:avLst>
          </a:prstGeom>
          <a:solidFill>
            <a:srgbClr val="102238"/>
          </a:solidFill>
          <a:ln w="7620">
            <a:solidFill>
              <a:srgbClr val="10223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572768" y="5586984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Категории могут пересекаться: например, тепловое повреждение — соматический эффект.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0" y="6537960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493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Термины: МР 2.1.10.0061-12; ВОЗ, EMF</a:t>
            </a:r>
            <a:endParaRPr lang="en-US" sz="73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A9A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60" dirty="0">
                <a:solidFill>
                  <a:srgbClr val="168C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 / МЕХАНИЗМЫ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Тепловое действие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61872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Хорошо установленный эффект радиочастотных полей высокой интенсивности — нагрев тканей.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2304288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468880"/>
            <a:ext cx="457200" cy="457200"/>
          </a:xfrm>
          <a:prstGeom prst="ellipse">
            <a:avLst/>
          </a:prstGeom>
          <a:solidFill>
            <a:srgbClr val="3E6FA8"/>
          </a:solidFill>
          <a:ln w="10160">
            <a:solidFill>
              <a:srgbClr val="3E6F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8408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09067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Поглощение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35204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Энергия поля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передаётся тканям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18104" y="3246120"/>
            <a:ext cx="283464" cy="0"/>
          </a:xfrm>
          <a:prstGeom prst="line">
            <a:avLst/>
          </a:prstGeom>
          <a:noFill/>
          <a:ln w="25400">
            <a:solidFill>
              <a:srgbClr val="168C9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00984" y="3108960"/>
            <a:ext cx="201168" cy="274320"/>
          </a:xfrm>
          <a:prstGeom prst="chevron">
            <a:avLst/>
          </a:prstGeom>
          <a:solidFill>
            <a:srgbClr val="168C95"/>
          </a:solidFill>
          <a:ln w="6350">
            <a:solidFill>
              <a:srgbClr val="168C9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2240280"/>
            <a:ext cx="2304288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21608" y="2468880"/>
            <a:ext cx="457200" cy="457200"/>
          </a:xfrm>
          <a:prstGeom prst="ellipse">
            <a:avLst/>
          </a:prstGeom>
          <a:solidFill>
            <a:srgbClr val="168C95"/>
          </a:solidFill>
          <a:ln w="10160">
            <a:solidFill>
              <a:srgbClr val="168C9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21608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21608" y="309067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Нагрев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721608" y="35204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Часть энергии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превращается в тепло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61304" y="3246120"/>
            <a:ext cx="283464" cy="0"/>
          </a:xfrm>
          <a:prstGeom prst="line">
            <a:avLst/>
          </a:prstGeom>
          <a:noFill/>
          <a:ln w="25400">
            <a:solidFill>
              <a:srgbClr val="168C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44184" y="3108960"/>
            <a:ext cx="201168" cy="274320"/>
          </a:xfrm>
          <a:prstGeom prst="chevron">
            <a:avLst/>
          </a:prstGeom>
          <a:solidFill>
            <a:srgbClr val="168C95"/>
          </a:solidFill>
          <a:ln w="6350">
            <a:solidFill>
              <a:srgbClr val="168C9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2240280"/>
            <a:ext cx="2304288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4808" y="2468880"/>
            <a:ext cx="457200" cy="457200"/>
          </a:xfrm>
          <a:prstGeom prst="ellipse">
            <a:avLst/>
          </a:prstGeom>
          <a:solidFill>
            <a:srgbClr val="E97850"/>
          </a:solidFill>
          <a:ln w="10160">
            <a:solidFill>
              <a:srgbClr val="E978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64808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64808" y="309067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Тепловая нагрузка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64808" y="35204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Организм не успевает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отводить тепло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04504" y="3246120"/>
            <a:ext cx="283464" cy="0"/>
          </a:xfrm>
          <a:prstGeom prst="line">
            <a:avLst/>
          </a:prstGeom>
          <a:noFill/>
          <a:ln w="25400">
            <a:solidFill>
              <a:srgbClr val="168C9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87384" y="3108960"/>
            <a:ext cx="201168" cy="274320"/>
          </a:xfrm>
          <a:prstGeom prst="chevron">
            <a:avLst/>
          </a:prstGeom>
          <a:solidFill>
            <a:srgbClr val="168C95"/>
          </a:solidFill>
          <a:ln w="6350">
            <a:solidFill>
              <a:srgbClr val="168C9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0" y="2240280"/>
            <a:ext cx="2304288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08008" y="2468880"/>
            <a:ext cx="457200" cy="457200"/>
          </a:xfrm>
          <a:prstGeom prst="ellipse">
            <a:avLst/>
          </a:prstGeom>
          <a:solidFill>
            <a:srgbClr val="E97850"/>
          </a:solidFill>
          <a:ln w="10160">
            <a:solidFill>
              <a:srgbClr val="E9785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08008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208008" y="309067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Возможное повреждение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208008" y="35204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Перегрев или локальный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ожог при сильном поле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77240" y="4709160"/>
            <a:ext cx="5074920" cy="1051560"/>
          </a:xfrm>
          <a:prstGeom prst="roundRect">
            <a:avLst>
              <a:gd name="adj" fmla="val 15652"/>
            </a:avLst>
          </a:prstGeom>
          <a:solidFill>
            <a:srgbClr val="FCEBE4"/>
          </a:solidFill>
          <a:ln w="7620">
            <a:solidFill>
              <a:srgbClr val="FCEBE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24128" y="49286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978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Что важно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2240280" y="4828032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Риск зависит от частоты, интенсивности, длительности воздействия и того, какие ткани поглощают энергию.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72200" y="4709160"/>
            <a:ext cx="4800600" cy="1051560"/>
          </a:xfrm>
          <a:prstGeom prst="roundRect">
            <a:avLst>
              <a:gd name="adj" fmla="val 15652"/>
            </a:avLst>
          </a:prstGeom>
          <a:solidFill>
            <a:srgbClr val="E4F3EE"/>
          </a:solidFill>
          <a:ln w="7620">
            <a:solidFill>
              <a:srgbClr val="E4F3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19088" y="49286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485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Примеры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635240" y="4828032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Мощные RF-нагреватели, неправильно используемое промышленное или медицинское оборудование.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0" y="6537960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493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Источник: ВОЗ, Radiation: Electromagnetic fields</a:t>
            </a:r>
            <a:endParaRPr lang="en-US" sz="73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A9A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60" dirty="0">
                <a:solidFill>
                  <a:srgbClr val="168C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 / МЕХАНИЗМЫ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Нетепловое действие: что известно?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61872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Так называют эффекты, которые не объясняются заметным повышением температуры; доказательность отдельных эффектов различается.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938528"/>
            <a:ext cx="5212080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960120" y="221284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Возможные механизмы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87552" y="2779776"/>
            <a:ext cx="301752" cy="301752"/>
          </a:xfrm>
          <a:prstGeom prst="ellipse">
            <a:avLst/>
          </a:prstGeom>
          <a:solidFill>
            <a:srgbClr val="3E6FA8"/>
          </a:solidFill>
          <a:ln w="10160">
            <a:solidFill>
              <a:srgbClr val="3E6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987552" y="277977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444752" y="27432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Низкие частоты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907792" y="271576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индуцированные токи в тканях могут стимулировать нервы и мышцы при достаточной интенсивности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7552" y="3538728"/>
            <a:ext cx="301752" cy="301752"/>
          </a:xfrm>
          <a:prstGeom prst="ellipse">
            <a:avLst/>
          </a:prstGeom>
          <a:solidFill>
            <a:srgbClr val="7667A8"/>
          </a:solidFill>
          <a:ln w="10160">
            <a:solidFill>
              <a:srgbClr val="7667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987552" y="353872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444752" y="35021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Клеточные процессы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907792" y="347472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изучаются изменения сигнализации, окислительного стресса и экспрессии генов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87552" y="4297680"/>
            <a:ext cx="301752" cy="301752"/>
          </a:xfrm>
          <a:prstGeom prst="ellipse">
            <a:avLst/>
          </a:prstGeom>
          <a:solidFill>
            <a:srgbClr val="168C95"/>
          </a:solidFill>
          <a:ln w="10160">
            <a:solidFill>
              <a:srgbClr val="168C9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987552" y="429768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444752" y="4261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Биологический ответ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907792" y="423367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сам факт измеримого изменения ещё не означает вред здоровью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1938528"/>
            <a:ext cx="5166360" cy="3520440"/>
          </a:xfrm>
          <a:prstGeom prst="roundRect">
            <a:avLst>
              <a:gd name="adj" fmla="val 4675"/>
            </a:avLst>
          </a:prstGeom>
          <a:solidFill>
            <a:srgbClr val="102238"/>
          </a:solidFill>
          <a:ln w="7620">
            <a:solidFill>
              <a:srgbClr val="1022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6565392" y="221284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Как трактовать исследования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556248" y="2761488"/>
            <a:ext cx="1298448" cy="292608"/>
          </a:xfrm>
          <a:prstGeom prst="roundRect">
            <a:avLst>
              <a:gd name="adj" fmla="val 40625"/>
            </a:avLst>
          </a:prstGeom>
          <a:solidFill>
            <a:srgbClr val="7AD7DD"/>
          </a:solidFill>
          <a:ln w="7620">
            <a:solidFill>
              <a:srgbClr val="7AD7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601968" y="277063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Установлено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028432" y="2724912"/>
            <a:ext cx="2971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 низких частотах сильные поля могут вызывать стимуляцию нервов и мышц.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6556248" y="3529584"/>
            <a:ext cx="1298448" cy="292608"/>
          </a:xfrm>
          <a:prstGeom prst="roundRect">
            <a:avLst>
              <a:gd name="adj" fmla="val 40625"/>
            </a:avLst>
          </a:prstGeom>
          <a:solidFill>
            <a:srgbClr val="E5C47B"/>
          </a:solidFill>
          <a:ln w="7620">
            <a:solidFill>
              <a:srgbClr val="E5C4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6601968" y="35387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Изучается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028432" y="3493008"/>
            <a:ext cx="2971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Некоторые клеточные и долгосрочные эффекты обсуждаются, результаты не всегда воспроизводимы.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6556248" y="4297680"/>
            <a:ext cx="1298448" cy="292608"/>
          </a:xfrm>
          <a:prstGeom prst="roundRect">
            <a:avLst>
              <a:gd name="adj" fmla="val 40625"/>
            </a:avLst>
          </a:prstGeom>
          <a:solidFill>
            <a:srgbClr val="F3A18B"/>
          </a:solidFill>
          <a:ln w="7620">
            <a:solidFill>
              <a:srgbClr val="F3A1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6601968" y="430682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 доказано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028432" y="42062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Убедительных доказательств вредных нетепловых эффектов слабых бытовых RF-полей не получено. По оценке ВОЗ/ICNIRP, данные пока не обосновывают пересмотр пределов; исследования продолжаются.</a:t>
            </a:r>
            <a:endParaRPr lang="en-US" sz="107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5724144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Научная осторожность: «не выявлено» не равно «доказано абсолютное отсутствие риска».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0" y="6537960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493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Источник: ВОЗ, Electromagnetic fields; ICNIRP, RF EMF Guidelines (2020)</a:t>
            </a:r>
            <a:endParaRPr lang="en-US" sz="73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A9A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60" dirty="0">
                <a:solidFill>
                  <a:srgbClr val="168C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 / ПОСЛЕДСТВИЯ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Соматическое действие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61872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Соматические эффекты — изменения в организме самого человека, подвергшегося воздействию.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13232" y="1993392"/>
            <a:ext cx="3246120" cy="338328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993392"/>
            <a:ext cx="64008" cy="3383280"/>
          </a:xfrm>
          <a:prstGeom prst="rect">
            <a:avLst/>
          </a:prstGeom>
          <a:solidFill>
            <a:srgbClr val="E97850"/>
          </a:solidFill>
          <a:ln w="7620">
            <a:solidFill>
              <a:srgbClr val="E978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23544" y="2176272"/>
            <a:ext cx="2843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 чрезмерном RF-воздействии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41832" y="2683764"/>
            <a:ext cx="64008" cy="64008"/>
          </a:xfrm>
          <a:prstGeom prst="ellipse">
            <a:avLst/>
          </a:prstGeom>
          <a:solidFill>
            <a:srgbClr val="E97850"/>
          </a:solidFill>
          <a:ln w="10160">
            <a:solidFill>
              <a:srgbClr val="E978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615184"/>
            <a:ext cx="2624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Перегрев тканей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41832" y="3433572"/>
            <a:ext cx="64008" cy="64008"/>
          </a:xfrm>
          <a:prstGeom prst="ellipse">
            <a:avLst/>
          </a:prstGeom>
          <a:solidFill>
            <a:srgbClr val="E97850"/>
          </a:solidFill>
          <a:ln w="10160">
            <a:solidFill>
              <a:srgbClr val="E978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364992"/>
            <a:ext cx="2624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Локальные ожоги при высокой интенсивности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41832" y="4183380"/>
            <a:ext cx="64008" cy="64008"/>
          </a:xfrm>
          <a:prstGeom prst="ellipse">
            <a:avLst/>
          </a:prstGeom>
          <a:solidFill>
            <a:srgbClr val="E97850"/>
          </a:solidFill>
          <a:ln w="10160">
            <a:solidFill>
              <a:srgbClr val="E978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4114800"/>
            <a:ext cx="2624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Особое внимание — промышленные и медицинские установки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15968" y="1993392"/>
            <a:ext cx="3246120" cy="338328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15968" y="1993392"/>
            <a:ext cx="64008" cy="3383280"/>
          </a:xfrm>
          <a:prstGeom prst="rect">
            <a:avLst/>
          </a:prstGeom>
          <a:solidFill>
            <a:srgbClr val="3E6FA8"/>
          </a:solidFill>
          <a:ln w="7620">
            <a:solidFill>
              <a:srgbClr val="3E6F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2176272"/>
            <a:ext cx="2843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 низкочастотных полях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544568" y="2683764"/>
            <a:ext cx="64008" cy="64008"/>
          </a:xfrm>
          <a:prstGeom prst="ellipse">
            <a:avLst/>
          </a:prstGeom>
          <a:solidFill>
            <a:srgbClr val="3E6FA8"/>
          </a:solidFill>
          <a:ln w="10160">
            <a:solidFill>
              <a:srgbClr val="3E6F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0016" y="2615184"/>
            <a:ext cx="2624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Индуцированные токи в организме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44568" y="3433572"/>
            <a:ext cx="64008" cy="64008"/>
          </a:xfrm>
          <a:prstGeom prst="ellipse">
            <a:avLst/>
          </a:prstGeom>
          <a:solidFill>
            <a:srgbClr val="3E6FA8"/>
          </a:solidFill>
          <a:ln w="10160">
            <a:solidFill>
              <a:srgbClr val="3E6F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00016" y="3364992"/>
            <a:ext cx="2624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 высоком уровне — стимуляция нервов и мышц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44568" y="4183380"/>
            <a:ext cx="64008" cy="64008"/>
          </a:xfrm>
          <a:prstGeom prst="ellipse">
            <a:avLst/>
          </a:prstGeom>
          <a:solidFill>
            <a:srgbClr val="3E6FA8"/>
          </a:solidFill>
          <a:ln w="10160">
            <a:solidFill>
              <a:srgbClr val="3E6F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00016" y="4114800"/>
            <a:ext cx="2624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Оценка проводится с учётом частоты и величины поля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918704" y="1993392"/>
            <a:ext cx="3246120" cy="338328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18704" y="1993392"/>
            <a:ext cx="64008" cy="3383280"/>
          </a:xfrm>
          <a:prstGeom prst="rect">
            <a:avLst/>
          </a:prstGeom>
          <a:solidFill>
            <a:srgbClr val="34856D"/>
          </a:solidFill>
          <a:ln w="7620">
            <a:solidFill>
              <a:srgbClr val="34856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29016" y="2176272"/>
            <a:ext cx="2843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 повседневной среде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147304" y="2683764"/>
            <a:ext cx="64008" cy="64008"/>
          </a:xfrm>
          <a:prstGeom prst="ellipse">
            <a:avLst/>
          </a:prstGeom>
          <a:solidFill>
            <a:srgbClr val="34856D"/>
          </a:solidFill>
          <a:ln w="10160">
            <a:solidFill>
              <a:srgbClr val="34856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02752" y="2615184"/>
            <a:ext cx="2624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Уровни обычно существенно ниже уровней, вызывающих острые эффекты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47304" y="3433572"/>
            <a:ext cx="64008" cy="64008"/>
          </a:xfrm>
          <a:prstGeom prst="ellipse">
            <a:avLst/>
          </a:prstGeom>
          <a:solidFill>
            <a:srgbClr val="34856D"/>
          </a:solidFill>
          <a:ln w="10160">
            <a:solidFill>
              <a:srgbClr val="34856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02752" y="3364992"/>
            <a:ext cx="2624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Неспецифические жалобы сами по себе не доказывают причинную связь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47304" y="4183380"/>
            <a:ext cx="64008" cy="64008"/>
          </a:xfrm>
          <a:prstGeom prst="ellipse">
            <a:avLst/>
          </a:prstGeom>
          <a:solidFill>
            <a:srgbClr val="34856D"/>
          </a:solidFill>
          <a:ln w="10160">
            <a:solidFill>
              <a:srgbClr val="34856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02752" y="4114800"/>
            <a:ext cx="2624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 сомнениях нужна профессиональная оценка экспозиции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051560" y="5641848"/>
            <a:ext cx="10058400" cy="502920"/>
          </a:xfrm>
          <a:prstGeom prst="roundRect">
            <a:avLst>
              <a:gd name="adj" fmla="val 27273"/>
            </a:avLst>
          </a:prstGeom>
          <a:solidFill>
            <a:srgbClr val="E8EFF8"/>
          </a:solidFill>
          <a:ln w="7620">
            <a:solidFill>
              <a:srgbClr val="E8EF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280160" y="574243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Соматический эффект не обязательно означает постоянное повреждение; значение имеют уровень, длительность и условия воздействия.</a:t>
            </a:r>
            <a:endParaRPr lang="en-US" sz="1120" dirty="0"/>
          </a:p>
        </p:txBody>
      </p:sp>
      <p:sp>
        <p:nvSpPr>
          <p:cNvPr id="34" name="Text 32"/>
          <p:cNvSpPr txBox="1"/>
          <p:nvPr/>
        </p:nvSpPr>
        <p:spPr>
          <a:xfrm>
            <a:off x="5486400" y="6537960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493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Источник: ВОЗ, Radiation: Electromagnetic fields</a:t>
            </a:r>
            <a:endParaRPr lang="en-US" sz="73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A9A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60" dirty="0">
                <a:solidFill>
                  <a:srgbClr val="168C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 / ПОСЛЕДСТВИЯ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Генетическое действие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61872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Ключевой вопрос: может ли воздействие повреждать ДНК или вызывать наследуемые изменения?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947672"/>
            <a:ext cx="5074920" cy="3447288"/>
          </a:xfrm>
          <a:prstGeom prst="roundRect">
            <a:avLst>
              <a:gd name="adj" fmla="val 4775"/>
            </a:avLst>
          </a:prstGeom>
          <a:solidFill>
            <a:srgbClr val="EEEAF8"/>
          </a:solidFill>
          <a:ln w="7620">
            <a:solidFill>
              <a:srgbClr val="EE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1024128" y="22860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667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Ионизирующее излучение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70432" y="2990088"/>
            <a:ext cx="128016" cy="128016"/>
          </a:xfrm>
          <a:prstGeom prst="ellipse">
            <a:avLst/>
          </a:prstGeom>
          <a:solidFill>
            <a:srgbClr val="7667A8"/>
          </a:solidFill>
          <a:ln w="10160">
            <a:solidFill>
              <a:srgbClr val="7667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103120" y="2990088"/>
            <a:ext cx="128016" cy="128016"/>
          </a:xfrm>
          <a:prstGeom prst="ellipse">
            <a:avLst/>
          </a:prstGeom>
          <a:solidFill>
            <a:srgbClr val="168C95"/>
          </a:solidFill>
          <a:ln w="10160">
            <a:solidFill>
              <a:srgbClr val="168C9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280160" y="3054096"/>
            <a:ext cx="841248" cy="0"/>
          </a:xfrm>
          <a:prstGeom prst="line">
            <a:avLst/>
          </a:prstGeom>
          <a:noFill/>
          <a:ln w="20320">
            <a:solidFill>
              <a:srgbClr val="A49BC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316736" y="3218688"/>
            <a:ext cx="128016" cy="128016"/>
          </a:xfrm>
          <a:prstGeom prst="ellipse">
            <a:avLst/>
          </a:prstGeom>
          <a:solidFill>
            <a:srgbClr val="7667A8"/>
          </a:solidFill>
          <a:ln w="10160">
            <a:solidFill>
              <a:srgbClr val="7667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956816" y="3218688"/>
            <a:ext cx="128016" cy="128016"/>
          </a:xfrm>
          <a:prstGeom prst="ellipse">
            <a:avLst/>
          </a:prstGeom>
          <a:solidFill>
            <a:srgbClr val="168C95"/>
          </a:solidFill>
          <a:ln w="10160">
            <a:solidFill>
              <a:srgbClr val="168C9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426464" y="3282696"/>
            <a:ext cx="548640" cy="0"/>
          </a:xfrm>
          <a:prstGeom prst="line">
            <a:avLst/>
          </a:prstGeom>
          <a:noFill/>
          <a:ln w="20320">
            <a:solidFill>
              <a:srgbClr val="A49BC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170432" y="3447288"/>
            <a:ext cx="128016" cy="128016"/>
          </a:xfrm>
          <a:prstGeom prst="ellipse">
            <a:avLst/>
          </a:prstGeom>
          <a:solidFill>
            <a:srgbClr val="7667A8"/>
          </a:solidFill>
          <a:ln w="10160">
            <a:solidFill>
              <a:srgbClr val="7667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2103120" y="3447288"/>
            <a:ext cx="128016" cy="128016"/>
          </a:xfrm>
          <a:prstGeom prst="ellipse">
            <a:avLst/>
          </a:prstGeom>
          <a:solidFill>
            <a:srgbClr val="168C95"/>
          </a:solidFill>
          <a:ln w="10160">
            <a:solidFill>
              <a:srgbClr val="168C9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280160" y="3511296"/>
            <a:ext cx="841248" cy="0"/>
          </a:xfrm>
          <a:prstGeom prst="line">
            <a:avLst/>
          </a:prstGeom>
          <a:noFill/>
          <a:ln w="20320">
            <a:solidFill>
              <a:srgbClr val="A49BC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1316736" y="3675888"/>
            <a:ext cx="128016" cy="128016"/>
          </a:xfrm>
          <a:prstGeom prst="ellipse">
            <a:avLst/>
          </a:prstGeom>
          <a:solidFill>
            <a:srgbClr val="7667A8"/>
          </a:solidFill>
          <a:ln w="10160">
            <a:solidFill>
              <a:srgbClr val="7667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956816" y="3675888"/>
            <a:ext cx="128016" cy="128016"/>
          </a:xfrm>
          <a:prstGeom prst="ellipse">
            <a:avLst/>
          </a:prstGeom>
          <a:solidFill>
            <a:srgbClr val="168C95"/>
          </a:solidFill>
          <a:ln w="10160">
            <a:solidFill>
              <a:srgbClr val="168C9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426464" y="3739896"/>
            <a:ext cx="548640" cy="0"/>
          </a:xfrm>
          <a:prstGeom prst="line">
            <a:avLst/>
          </a:prstGeom>
          <a:noFill/>
          <a:ln w="20320">
            <a:solidFill>
              <a:srgbClr val="A49BC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1170432" y="3904488"/>
            <a:ext cx="128016" cy="128016"/>
          </a:xfrm>
          <a:prstGeom prst="ellipse">
            <a:avLst/>
          </a:prstGeom>
          <a:solidFill>
            <a:srgbClr val="7667A8"/>
          </a:solidFill>
          <a:ln w="10160">
            <a:solidFill>
              <a:srgbClr val="7667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103120" y="3904488"/>
            <a:ext cx="128016" cy="128016"/>
          </a:xfrm>
          <a:prstGeom prst="ellipse">
            <a:avLst/>
          </a:prstGeom>
          <a:solidFill>
            <a:srgbClr val="168C95"/>
          </a:solidFill>
          <a:ln w="10160">
            <a:solidFill>
              <a:srgbClr val="168C9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280160" y="3968496"/>
            <a:ext cx="841248" cy="0"/>
          </a:xfrm>
          <a:prstGeom prst="line">
            <a:avLst/>
          </a:prstGeom>
          <a:noFill/>
          <a:ln w="20320">
            <a:solidFill>
              <a:srgbClr val="A49BC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1316736" y="4133088"/>
            <a:ext cx="128016" cy="128016"/>
          </a:xfrm>
          <a:prstGeom prst="ellipse">
            <a:avLst/>
          </a:prstGeom>
          <a:solidFill>
            <a:srgbClr val="7667A8"/>
          </a:solidFill>
          <a:ln w="10160">
            <a:solidFill>
              <a:srgbClr val="7667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1956816" y="4133088"/>
            <a:ext cx="128016" cy="128016"/>
          </a:xfrm>
          <a:prstGeom prst="ellipse">
            <a:avLst/>
          </a:prstGeom>
          <a:solidFill>
            <a:srgbClr val="168C95"/>
          </a:solidFill>
          <a:ln w="10160">
            <a:solidFill>
              <a:srgbClr val="168C9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426464" y="4197096"/>
            <a:ext cx="548640" cy="0"/>
          </a:xfrm>
          <a:prstGeom prst="line">
            <a:avLst/>
          </a:prstGeom>
          <a:noFill/>
          <a:ln w="20320">
            <a:solidFill>
              <a:srgbClr val="A49BC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2606040" y="2926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Фотон обладает энергией, достаточной для ионизации; возможны прямые и косвенные повреждения ДНК. Риск зависит от дозы и типа излучения.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1947672"/>
            <a:ext cx="5166360" cy="3447288"/>
          </a:xfrm>
          <a:prstGeom prst="roundRect">
            <a:avLst>
              <a:gd name="adj" fmla="val 4775"/>
            </a:avLst>
          </a:prstGeom>
          <a:solidFill>
            <a:srgbClr val="E5F5F6"/>
          </a:solidFill>
          <a:ln w="7620">
            <a:solidFill>
              <a:srgbClr val="E5F5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6510528" y="22860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8C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Неионизирующие ЭМП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510528" y="2926080"/>
            <a:ext cx="4480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Радиочастотные фотоны не обладают энергией для прямой ионизации атомов или разрыва химических связей. ВОЗ/ICNIRP не считают генетический вред при обычных нетепловых уровнях установленным. Обзор-карта 2025 г. указывает на возможную генотоксичность и рекомендует дальнейшие исследования; результаты неоднородны, причинная связь с вредом для человека не установлена.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24128" y="5623560"/>
            <a:ext cx="10104120" cy="502920"/>
          </a:xfrm>
          <a:prstGeom prst="roundRect">
            <a:avLst>
              <a:gd name="adj" fmla="val 27273"/>
            </a:avLst>
          </a:prstGeom>
          <a:solidFill>
            <a:srgbClr val="102238"/>
          </a:solidFill>
          <a:ln w="7620">
            <a:solidFill>
              <a:srgbClr val="1022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1234440" y="571500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Нельзя автоматически переносить выводы об ионизирующем излучении на радиочастотные поля — это разные физические воздействия.</a:t>
            </a:r>
            <a:endParaRPr lang="en-US" sz="1120" dirty="0"/>
          </a:p>
        </p:txBody>
      </p:sp>
      <p:sp>
        <p:nvSpPr>
          <p:cNvPr id="31" name="Text 29"/>
          <p:cNvSpPr txBox="1"/>
          <p:nvPr/>
        </p:nvSpPr>
        <p:spPr>
          <a:xfrm>
            <a:off x="5486400" y="6537960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493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Источники: ВОЗ; ICNIRP (2020); IARC, Vol. 102; обзор генотоксичности (2025)</a:t>
            </a:r>
            <a:endParaRPr lang="en-US" sz="73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A9A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60" dirty="0">
                <a:solidFill>
                  <a:srgbClr val="168C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 / НАУЧНЫЕ ДАННЫЕ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Что известно достоверно, а что изучается?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61872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Для корректного доклада важно показывать не только возможные риски, но и качество доказательств.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938528"/>
            <a:ext cx="5074920" cy="3611880"/>
          </a:xfrm>
          <a:prstGeom prst="roundRect">
            <a:avLst>
              <a:gd name="adj" fmla="val 4557"/>
            </a:avLst>
          </a:prstGeom>
          <a:solidFill>
            <a:srgbClr val="E4F3EE"/>
          </a:solidFill>
          <a:ln w="7620">
            <a:solidFill>
              <a:srgbClr val="E4F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24128" y="2212848"/>
            <a:ext cx="475488" cy="475488"/>
          </a:xfrm>
          <a:prstGeom prst="ellipse">
            <a:avLst/>
          </a:prstGeom>
          <a:solidFill>
            <a:srgbClr val="34856D"/>
          </a:solidFill>
          <a:ln w="10160">
            <a:solidFill>
              <a:srgbClr val="3485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0241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30896F"/>
                </a:solidFill>
                <a:latin typeface="Noto Sans"/>
              </a:rPr>
              <a:t>Научный консенсус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51560" y="2971800"/>
            <a:ext cx="73152" cy="73152"/>
          </a:xfrm>
          <a:prstGeom prst="ellipse">
            <a:avLst/>
          </a:prstGeom>
          <a:solidFill>
            <a:srgbClr val="34856D"/>
          </a:solidFill>
          <a:ln w="10160">
            <a:solidFill>
              <a:srgbClr val="3485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1280160" y="290779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Сильные RF-поля могут нагревать ткани.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51560" y="3630168"/>
            <a:ext cx="73152" cy="73152"/>
          </a:xfrm>
          <a:prstGeom prst="ellipse">
            <a:avLst/>
          </a:prstGeom>
          <a:solidFill>
            <a:srgbClr val="34856D"/>
          </a:solidFill>
          <a:ln w="10160">
            <a:solidFill>
              <a:srgbClr val="3485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280160" y="356616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B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Сильные низкочастотные поля могут стимулировать нервы и мышцы.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51560" y="4288536"/>
            <a:ext cx="73152" cy="73152"/>
          </a:xfrm>
          <a:prstGeom prst="ellipse">
            <a:avLst/>
          </a:prstGeom>
          <a:solidFill>
            <a:srgbClr val="34856D"/>
          </a:solidFill>
          <a:ln w="10160">
            <a:solidFill>
              <a:srgbClr val="3485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1280160" y="4187952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070" b="1" i="0">
                <a:solidFill>
                  <a:srgbClr val="172B3A"/>
                </a:solidFill>
                <a:latin typeface="Noto Sans"/>
              </a:rPr>
              <a:t>ВОЗ и ICNIRP: </a:t>
            </a:r>
            <a:r>
              <a:rPr sz="1070" b="0" i="0">
                <a:solidFill>
                  <a:srgbClr val="172B3A"/>
                </a:solidFill>
                <a:latin typeface="Noto Sans"/>
              </a:rPr>
              <a:t>при кратковременном воздействии уровней, типичных для бытовой среды, явных вредных последствий не выявлено. Это не отменяет необходимости соблюдать установленные пределы воздействия.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1938528"/>
            <a:ext cx="5074920" cy="3611880"/>
          </a:xfrm>
          <a:prstGeom prst="roundRect">
            <a:avLst>
              <a:gd name="adj" fmla="val 4557"/>
            </a:avLst>
          </a:prstGeom>
          <a:solidFill>
            <a:srgbClr val="FCEBE4"/>
          </a:solidFill>
          <a:ln w="7620">
            <a:solidFill>
              <a:srgbClr val="FCEB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556248" y="2212848"/>
            <a:ext cx="475488" cy="475488"/>
          </a:xfrm>
          <a:prstGeom prst="ellipse">
            <a:avLst/>
          </a:prstGeom>
          <a:solidFill>
            <a:srgbClr val="E97850"/>
          </a:solidFill>
          <a:ln w="10160">
            <a:solidFill>
              <a:srgbClr val="E978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55624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?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EF744B"/>
                </a:solidFill>
                <a:latin typeface="Noto Sans"/>
              </a:rPr>
              <a:t>Открытые вопросы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83680" y="2971800"/>
            <a:ext cx="73152" cy="73152"/>
          </a:xfrm>
          <a:prstGeom prst="ellipse">
            <a:avLst/>
          </a:prstGeom>
          <a:solidFill>
            <a:srgbClr val="E97850"/>
          </a:solidFill>
          <a:ln w="10160">
            <a:solidFill>
              <a:srgbClr val="E978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6812280" y="2907792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080" b="0" i="0">
                <a:solidFill>
                  <a:srgbClr val="172B3A"/>
                </a:solidFill>
                <a:latin typeface="Noto Sans"/>
              </a:rPr>
              <a:t>Долгосрочные эффекты слабых полей остаются предметом исследований; результаты нельзя считать окончательным доказательством вреда.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0" y="3749039"/>
            <a:ext cx="73152" cy="73152"/>
          </a:xfrm>
          <a:prstGeom prst="ellipse">
            <a:avLst/>
          </a:prstGeom>
          <a:solidFill>
            <a:srgbClr val="E97850"/>
          </a:solidFill>
          <a:ln w="10160">
            <a:solidFill>
              <a:srgbClr val="E978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685032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080" b="0" i="0">
                <a:solidFill>
                  <a:srgbClr val="172B3A"/>
                </a:solidFill>
                <a:latin typeface="Noto Sans"/>
              </a:rPr>
              <a:t>Клеточные и эпидемиологические исследования дают противоречивые результаты; воспроизводимость многих эффектов не подтверждена.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83680" y="4544568"/>
            <a:ext cx="73152" cy="73152"/>
          </a:xfrm>
          <a:prstGeom prst="ellipse">
            <a:avLst/>
          </a:prstGeom>
          <a:solidFill>
            <a:srgbClr val="E97850"/>
          </a:solidFill>
          <a:ln w="10160">
            <a:solidFill>
              <a:srgbClr val="E978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6812280" y="448056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019" b="1" i="0">
                <a:solidFill>
                  <a:srgbClr val="172B3A"/>
                </a:solidFill>
                <a:latin typeface="Noto Sans"/>
              </a:rPr>
              <a:t>Обзор 2025 г. (Front. Public Health): </a:t>
            </a:r>
            <a:r>
              <a:rPr sz="1019" b="0" i="0">
                <a:solidFill>
                  <a:srgbClr val="172B3A"/>
                </a:solidFill>
                <a:latin typeface="Noto Sans"/>
              </a:rPr>
              <a:t>описывает неоднородные данные о потенциальной генотоксичности, в том числе </a:t>
            </a:r>
            <a:r>
              <a:rPr sz="1019" b="0" i="1">
                <a:solidFill>
                  <a:srgbClr val="172B3A"/>
                </a:solidFill>
                <a:latin typeface="Noto Sans"/>
              </a:rPr>
              <a:t>in vitro</a:t>
            </a:r>
            <a:r>
              <a:rPr sz="1019" b="0" i="0">
                <a:solidFill>
                  <a:srgbClr val="172B3A"/>
                </a:solidFill>
                <a:latin typeface="Noto Sans"/>
              </a:rPr>
              <a:t>; доказанная причинная связь с вредом для человека не установлена.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188720" y="5596128"/>
            <a:ext cx="9875520" cy="621792"/>
          </a:xfrm>
          <a:prstGeom prst="roundRect">
            <a:avLst>
              <a:gd name="adj" fmla="val 28571"/>
            </a:avLst>
          </a:prstGeom>
          <a:solidFill>
            <a:srgbClr val="102238"/>
          </a:solidFill>
          <a:ln w="7620">
            <a:solidFill>
              <a:srgbClr val="1022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1371600" y="563270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830" b="1" i="0">
                <a:solidFill>
                  <a:srgbClr val="FFFFFF"/>
                </a:solidFill>
                <a:latin typeface="Noto Sans"/>
              </a:rPr>
              <a:t>IARC, группа 2B («возможно канцерогенные»): </a:t>
            </a:r>
            <a:r>
              <a:rPr sz="830" b="0" i="0">
                <a:solidFill>
                  <a:srgbClr val="FFFFFF"/>
                </a:solidFill>
                <a:latin typeface="Noto Sans"/>
              </a:rPr>
              <a:t>ограниченные доказательства канцерогенности у людей (главным образом эпидемиологические); категория не доказывает причинную связь и не оценивает риск при конкретной экспозиции. Для сравнения: традиционные азиатские маринованные овощи также отнесены к группе 2B (IARC, Vol. 56).</a:t>
            </a:r>
            <a:endParaRPr lang="en-US" sz="98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6537960"/>
            <a:ext cx="7635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sz="700" b="0">
                <a:solidFill>
                  <a:srgbClr val="8493A1"/>
                </a:solidFill>
                <a:latin typeface="Noto Sans"/>
              </a:rPr>
              <a:t>Источники: ВОЗ; ICNIRP (2020); IARC, Vol. 56 и 102; Weller et al. (2025).</a:t>
            </a:r>
            <a:endParaRPr lang="en-US" sz="73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A9A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60" dirty="0">
                <a:solidFill>
                  <a:srgbClr val="168C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 / ОЦЕНКА ВОЗДЕЙСТВИЯ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От чего зависит потенциальный риск?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61872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Один и тот же тип устройства может создавать разную экспозицию в разных условиях.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41248" y="1920240"/>
            <a:ext cx="288036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103120"/>
            <a:ext cx="438912" cy="438912"/>
          </a:xfrm>
          <a:prstGeom prst="ellipse">
            <a:avLst/>
          </a:prstGeom>
          <a:solidFill>
            <a:srgbClr val="168C95"/>
          </a:solidFill>
          <a:ln w="10160">
            <a:solidFill>
              <a:srgbClr val="168C9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591056" y="2130552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Уровень поля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42416" y="26791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Напряжённость E и H; плотность потока энергии в подходящих диапазонах.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33672" y="1920240"/>
            <a:ext cx="288036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6552" y="2103120"/>
            <a:ext cx="438912" cy="438912"/>
          </a:xfrm>
          <a:prstGeom prst="ellipse">
            <a:avLst/>
          </a:prstGeom>
          <a:solidFill>
            <a:srgbClr val="3E6FA8"/>
          </a:solidFill>
          <a:ln w="10160">
            <a:solidFill>
              <a:srgbClr val="3E6F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16552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2130552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Частота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26791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Определяет, как энергия взаимодействует с тканями и насколько глубоко поглощается.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26096" y="1920240"/>
            <a:ext cx="288036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08976" y="2103120"/>
            <a:ext cx="438912" cy="438912"/>
          </a:xfrm>
          <a:prstGeom prst="ellipse">
            <a:avLst/>
          </a:prstGeom>
          <a:solidFill>
            <a:srgbClr val="7667A8"/>
          </a:solidFill>
          <a:ln w="10160">
            <a:solidFill>
              <a:srgbClr val="7667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08976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2130552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Длительность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827264" y="26791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Важна продолжительность воздействия и возможность организма отводить тепло.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32888" y="3886200"/>
            <a:ext cx="288036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15768" y="4069080"/>
            <a:ext cx="438912" cy="438912"/>
          </a:xfrm>
          <a:prstGeom prst="ellipse">
            <a:avLst/>
          </a:prstGeom>
          <a:solidFill>
            <a:srgbClr val="34856D"/>
          </a:solidFill>
          <a:ln w="10160">
            <a:solidFill>
              <a:srgbClr val="34856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15768" y="4069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282696" y="4096512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Расстояние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734056" y="46451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Для многих источников поле снижается по мере удаления от источника.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25312" y="3886200"/>
            <a:ext cx="288036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08192" y="4069080"/>
            <a:ext cx="438912" cy="438912"/>
          </a:xfrm>
          <a:prstGeom prst="ellipse">
            <a:avLst/>
          </a:prstGeom>
          <a:solidFill>
            <a:srgbClr val="E97850"/>
          </a:solidFill>
          <a:ln w="10160">
            <a:solidFill>
              <a:srgbClr val="E9785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08192" y="4069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4096512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Условия и геометрия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46451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Расположение тела, направленность источника, отражения и рабочая зона.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58704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Поэтому оценка безопасности должна опираться на измерения и применимые нормативы, а не только на расстояние или субъективные ощущения.</a:t>
            </a:r>
            <a:endParaRPr lang="en-US" sz="1140" dirty="0"/>
          </a:p>
        </p:txBody>
      </p:sp>
      <p:sp>
        <p:nvSpPr>
          <p:cNvPr id="31" name="Text 29"/>
          <p:cNvSpPr txBox="1"/>
          <p:nvPr/>
        </p:nvSpPr>
        <p:spPr>
          <a:xfrm>
            <a:off x="5486400" y="6537960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493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Источник: ВОЗ, EMF Project; ICNIRP Guidelines (2020)</a:t>
            </a:r>
            <a:endParaRPr lang="en-US" sz="73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A9A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60" dirty="0">
                <a:solidFill>
                  <a:srgbClr val="168C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09 / ПРОФИЛАКТИКА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Как снизить ненужное воздействие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61872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Главные меры — инженерный контроль, соблюдение инструкций и проверка уровней там, где это необходимо.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0469880" cy="749808"/>
          </a:xfrm>
          <a:prstGeom prst="roundRect">
            <a:avLst>
              <a:gd name="adj" fmla="val 18293"/>
            </a:avLst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" y="2029968"/>
            <a:ext cx="420624" cy="420624"/>
          </a:xfrm>
          <a:prstGeom prst="ellipse">
            <a:avLst/>
          </a:prstGeom>
          <a:solidFill>
            <a:srgbClr val="168C95"/>
          </a:solidFill>
          <a:ln w="10160">
            <a:solidFill>
              <a:srgbClr val="168C9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0704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719072" y="19842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Увеличить дистанцию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1984248"/>
            <a:ext cx="653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 находиться без необходимости рядом с мощными передатчиками и работающими промышленными установками.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822960" y="2807208"/>
            <a:ext cx="10469880" cy="749808"/>
          </a:xfrm>
          <a:prstGeom prst="roundRect">
            <a:avLst>
              <a:gd name="adj" fmla="val 18293"/>
            </a:avLst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" y="2962656"/>
            <a:ext cx="420624" cy="420624"/>
          </a:xfrm>
          <a:prstGeom prst="ellipse">
            <a:avLst/>
          </a:prstGeom>
          <a:solidFill>
            <a:srgbClr val="3E6FA8"/>
          </a:solidFill>
          <a:ln w="10160">
            <a:solidFill>
              <a:srgbClr val="3E6F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0704" y="2962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719072" y="29169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Сократить время в опасной зоне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2916936"/>
            <a:ext cx="653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Выполнять требования работодателя и инструкции оборудования; соблюдать ограждения и блокировки.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469880" cy="749808"/>
          </a:xfrm>
          <a:prstGeom prst="roundRect">
            <a:avLst>
              <a:gd name="adj" fmla="val 18293"/>
            </a:avLst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" y="3895344"/>
            <a:ext cx="420624" cy="420624"/>
          </a:xfrm>
          <a:prstGeom prst="ellipse">
            <a:avLst/>
          </a:prstGeom>
          <a:solidFill>
            <a:srgbClr val="7667A8"/>
          </a:solidFill>
          <a:ln w="10160">
            <a:solidFill>
              <a:srgbClr val="7667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0704" y="3895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719072" y="38496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Использовать техническую защиту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3849624"/>
            <a:ext cx="653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Экранирование, заземление и организация рабочей зоны должны подбираться специалистами под конкретную частоту.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822960" y="4672584"/>
            <a:ext cx="10469880" cy="749808"/>
          </a:xfrm>
          <a:prstGeom prst="roundRect">
            <a:avLst>
              <a:gd name="adj" fmla="val 18293"/>
            </a:avLst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0704" y="4828032"/>
            <a:ext cx="420624" cy="420624"/>
          </a:xfrm>
          <a:prstGeom prst="ellipse">
            <a:avLst/>
          </a:prstGeom>
          <a:solidFill>
            <a:srgbClr val="E97850"/>
          </a:solidFill>
          <a:ln w="10160">
            <a:solidFill>
              <a:srgbClr val="E978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60704" y="4828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719072" y="47823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Проверять и измерять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343400" y="4782312"/>
            <a:ext cx="653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Исправность оборудования, периодический контроль и профессиональные измерения при необходимости.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914400" y="5760720"/>
            <a:ext cx="10241280" cy="420624"/>
          </a:xfrm>
          <a:prstGeom prst="roundRect">
            <a:avLst>
              <a:gd name="adj" fmla="val 30435"/>
            </a:avLst>
          </a:prstGeom>
          <a:solidFill>
            <a:srgbClr val="FCEBE4"/>
          </a:solidFill>
          <a:ln w="7620">
            <a:solidFill>
              <a:srgbClr val="FCEBE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15568" y="583387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978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 полагайтесь на «антирадиационные» наклейки и непроверенные устройства: они не заменяют измерения и соблюдение нормативов.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6537960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493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Источник: ВОЗ, Wireless technologies; СанПиН РФ</a:t>
            </a:r>
            <a:endParaRPr lang="en-US" sz="73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9672"/>
            <a:ext cx="438912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A9A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60" dirty="0">
                <a:solidFill>
                  <a:srgbClr val="168C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НОРМАТИВНАЯ БАЗА РФ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Какие документы учитывать?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61872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Нормы зависят от частоты, среды и характера воздействия. Для учебной презентации важна корректная ссылка на применимые документы.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07492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64008" cy="1417320"/>
          </a:xfrm>
          <a:prstGeom prst="rect">
            <a:avLst/>
          </a:prstGeom>
          <a:solidFill>
            <a:srgbClr val="168C95"/>
          </a:solidFill>
          <a:ln w="7620">
            <a:solidFill>
              <a:srgbClr val="168C9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60120" y="212140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СанПиН 1.2.3685-21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523744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«Гигиенические нормативы… факторов среды обитания». Используется для гигиенических нормативов физических факторов; смотрят актуальную редакцию и нужный диапазон.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07492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263640" y="1920240"/>
            <a:ext cx="64008" cy="1417320"/>
          </a:xfrm>
          <a:prstGeom prst="rect">
            <a:avLst/>
          </a:prstGeom>
          <a:solidFill>
            <a:srgbClr val="3E6FA8"/>
          </a:solidFill>
          <a:ln w="7620">
            <a:solidFill>
              <a:srgbClr val="3E6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92240" y="212140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Нормативы для рабочих мест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523744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Для производственного воздействия применяют действующие санитарные требования к физическим факторам на рабочих местах; перед использованием нужно проверять статус и актуальные изменения документа.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507492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31520" y="3703320"/>
            <a:ext cx="64008" cy="1417320"/>
          </a:xfrm>
          <a:prstGeom prst="rect">
            <a:avLst/>
          </a:prstGeom>
          <a:solidFill>
            <a:srgbClr val="7667A8"/>
          </a:solidFill>
          <a:ln w="7620">
            <a:solidFill>
              <a:srgbClr val="7667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960120" y="390448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ГОСТ Р 54148-2010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306824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Стандарт о методах оценки и измерений ЭМП от бытовых и аналогичных электрических приборов. Это методический документ, а не универсальная норма для всех источников.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263640" y="3703320"/>
            <a:ext cx="507492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263640" y="3703320"/>
            <a:ext cx="64008" cy="1417320"/>
          </a:xfrm>
          <a:prstGeom prst="rect">
            <a:avLst/>
          </a:prstGeom>
          <a:solidFill>
            <a:srgbClr val="34856D"/>
          </a:solidFill>
          <a:ln w="7620">
            <a:solidFill>
              <a:srgbClr val="3485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492240" y="390448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ГОСТ Р 7.0.100-2018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306824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9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Устанавливает общие требования к библиографическому описанию ресурсов. Применяется к списку источников, а не к дизайну слайдов.</a:t>
            </a:r>
            <a:endParaRPr lang="en-US" sz="108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559612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Важно: универсального ГОСТа, который предписывает оформление любой учебной презентации, нет. Приоритет имеют требования учебного заведения или преподавателя.</a:t>
            </a:r>
            <a:endParaRPr lang="en-US" sz="114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6537960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493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Статус нормативных ссылок проверен по состоянию на 17.10.2026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9672"/>
            <a:ext cx="438912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A9A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02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7AD7D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ИТОГИ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Главное, что нужно запомнить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4672" y="1783080"/>
            <a:ext cx="10561320" cy="804672"/>
          </a:xfrm>
          <a:prstGeom prst="roundRect">
            <a:avLst>
              <a:gd name="adj" fmla="val 17045"/>
            </a:avLst>
          </a:prstGeom>
          <a:solidFill>
            <a:srgbClr val="17324D"/>
          </a:solidFill>
          <a:ln w="7620">
            <a:solidFill>
              <a:srgbClr val="1732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1560" y="1956816"/>
            <a:ext cx="438912" cy="438912"/>
          </a:xfrm>
          <a:prstGeom prst="ellipse">
            <a:avLst/>
          </a:prstGeom>
          <a:solidFill>
            <a:srgbClr val="E97850"/>
          </a:solidFill>
          <a:ln w="10160">
            <a:solidFill>
              <a:srgbClr val="E978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1051560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892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D7D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Тепловое действие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133088" y="1892808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Нагрев тканей при поглощении энергии — хорошо установленный механизм при высоких уровнях RF-поля.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4672" y="2807208"/>
            <a:ext cx="10561320" cy="804672"/>
          </a:xfrm>
          <a:prstGeom prst="roundRect">
            <a:avLst>
              <a:gd name="adj" fmla="val 17045"/>
            </a:avLst>
          </a:prstGeom>
          <a:solidFill>
            <a:srgbClr val="17324D"/>
          </a:solidFill>
          <a:ln w="7620">
            <a:solidFill>
              <a:srgbClr val="1732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051560" y="2980944"/>
            <a:ext cx="438912" cy="438912"/>
          </a:xfrm>
          <a:prstGeom prst="ellipse">
            <a:avLst/>
          </a:prstGeom>
          <a:solidFill>
            <a:srgbClr val="3E6FA8"/>
          </a:solidFill>
          <a:ln w="10160">
            <a:solidFill>
              <a:srgbClr val="3E6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1051560" y="2980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29169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D7D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Нетепловое действие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33088" y="2916936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Для слабых бытовых RF-полей убедительных доказательств вредных нетепловых эффектов не получено; исследования продолжаются.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3831336"/>
            <a:ext cx="10561320" cy="804672"/>
          </a:xfrm>
          <a:prstGeom prst="roundRect">
            <a:avLst>
              <a:gd name="adj" fmla="val 17045"/>
            </a:avLst>
          </a:prstGeom>
          <a:solidFill>
            <a:srgbClr val="17324D"/>
          </a:solidFill>
          <a:ln w="7620">
            <a:solidFill>
              <a:srgbClr val="1732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51560" y="4005072"/>
            <a:ext cx="438912" cy="438912"/>
          </a:xfrm>
          <a:prstGeom prst="ellipse">
            <a:avLst/>
          </a:prstGeom>
          <a:solidFill>
            <a:srgbClr val="34856D"/>
          </a:solidFill>
          <a:ln w="10160">
            <a:solidFill>
              <a:srgbClr val="3485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1051560" y="4005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394106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D7D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Соматическое действие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133088" y="3941064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Возможные последствия для самого человека зависят от частоты, интенсивности и времени воздействия.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" y="4855464"/>
            <a:ext cx="10561320" cy="804672"/>
          </a:xfrm>
          <a:prstGeom prst="roundRect">
            <a:avLst>
              <a:gd name="adj" fmla="val 17045"/>
            </a:avLst>
          </a:prstGeom>
          <a:solidFill>
            <a:srgbClr val="17324D"/>
          </a:solidFill>
          <a:ln w="7620">
            <a:solidFill>
              <a:srgbClr val="1732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1051560" y="5029200"/>
            <a:ext cx="438912" cy="438912"/>
          </a:xfrm>
          <a:prstGeom prst="ellipse">
            <a:avLst/>
          </a:prstGeom>
          <a:solidFill>
            <a:srgbClr val="7667A8"/>
          </a:solidFill>
          <a:ln w="10160">
            <a:solidFill>
              <a:srgbClr val="7667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1051560" y="5029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49651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D7D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Генетическое действие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133088" y="4965192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 оценкам ВОЗ/ICNIRP, генетический вред при обычных нетепловых уровнях не установлен; результаты отдельных исследований неоднородны.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608076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Безопасность начинается с достоверных данных, измерений и соблюдения применимых нормативов.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60" dirty="0">
                <a:solidFill>
                  <a:srgbClr val="168C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ИСТОЧНИКИ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Литература и нормативные материалы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1801368"/>
            <a:ext cx="310896" cy="310896"/>
          </a:xfrm>
          <a:prstGeom prst="ellipse">
            <a:avLst/>
          </a:prstGeom>
          <a:solidFill>
            <a:srgbClr val="168C95"/>
          </a:solidFill>
          <a:ln w="10160">
            <a:solidFill>
              <a:srgbClr val="168C9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2296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83080"/>
            <a:ext cx="992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World Health Organization. Radiation: Electromagnetic fields — Questions and Answers.</a:t>
            </a:r>
            <a:endParaRPr lang="en-US" sz="108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093976"/>
            <a:ext cx="9921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19" dirty="0">
                <a:solidFill>
                  <a:srgbClr val="3E6F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https://www.who.int/news-room/questions-and-answers/item/radiation-electromagnetic-fields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822960" y="2368296"/>
            <a:ext cx="310896" cy="310896"/>
          </a:xfrm>
          <a:prstGeom prst="ellipse">
            <a:avLst/>
          </a:prstGeom>
          <a:solidFill>
            <a:srgbClr val="168C95"/>
          </a:solidFill>
          <a:ln w="10160">
            <a:solidFill>
              <a:srgbClr val="168C9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822960" y="2368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350008"/>
            <a:ext cx="992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ICNIRP. Guidelines for limiting exposure to electromagnetic fields (100 kHz–300 GHz). Health Physics. 2020;118(5):483–524.</a:t>
            </a:r>
            <a:endParaRPr lang="en-US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660903"/>
            <a:ext cx="9921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819">
                <a:solidFill>
                  <a:srgbClr val="3E6F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https://www.icnirp.org/cms/upload/publications/ICNIRPrfgdl2020.pdf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822960" y="2935224"/>
            <a:ext cx="310896" cy="310896"/>
          </a:xfrm>
          <a:prstGeom prst="ellipse">
            <a:avLst/>
          </a:prstGeom>
          <a:solidFill>
            <a:srgbClr val="168C95"/>
          </a:solidFill>
          <a:ln w="10160">
            <a:solidFill>
              <a:srgbClr val="168C9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822960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916936"/>
            <a:ext cx="992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International Agency for Research on Cancer. Non-Ionizing Radiation, Part 2: Radiofrequency Electromagnetic Fields. IARC Monographs, Vol. 102.</a:t>
            </a:r>
            <a:endParaRPr lang="en-US" sz="108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227832"/>
            <a:ext cx="9921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19" dirty="0">
                <a:solidFill>
                  <a:srgbClr val="3E6F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https://publications.iarc.who.int/126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822960" y="3502151"/>
            <a:ext cx="310896" cy="310896"/>
          </a:xfrm>
          <a:prstGeom prst="ellipse">
            <a:avLst/>
          </a:prstGeom>
          <a:solidFill>
            <a:srgbClr val="3E6FA8"/>
          </a:solidFill>
          <a:ln w="10160">
            <a:solidFill>
              <a:srgbClr val="3E6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822960" y="35021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483863"/>
            <a:ext cx="992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scoping review and evidence map of radiofrequency field exposure and genotoxicity. Front. Public Health. 2025;13:1613353.</a:t>
            </a:r>
            <a:endParaRPr lang="en-US" sz="108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794759"/>
            <a:ext cx="9921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19" dirty="0">
                <a:solidFill>
                  <a:srgbClr val="3E6F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https://pmc.ncbi.nlm.nih.gov/articles/PMC12343714/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822960" y="4069079"/>
            <a:ext cx="310896" cy="310896"/>
          </a:xfrm>
          <a:prstGeom prst="ellipse">
            <a:avLst/>
          </a:prstGeom>
          <a:solidFill>
            <a:srgbClr val="3E6FA8"/>
          </a:solidFill>
          <a:ln w="10160">
            <a:solidFill>
              <a:srgbClr val="3E6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822960" y="40690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5.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050791"/>
            <a:ext cx="992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СанПиН 1.2.3685-21. Гигиенические нормативы и требования к обеспечению безопасности и (или) безвредности для человека факторов среды обитания.</a:t>
            </a:r>
            <a:endParaRPr lang="en-US" sz="108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4361688"/>
            <a:ext cx="9921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19" dirty="0">
                <a:solidFill>
                  <a:srgbClr val="3E6F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https://docs.cntd.ru/document/573500115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822960" y="4636007"/>
            <a:ext cx="310896" cy="310896"/>
          </a:xfrm>
          <a:prstGeom prst="ellipse">
            <a:avLst/>
          </a:prstGeom>
          <a:solidFill>
            <a:srgbClr val="3E6FA8"/>
          </a:solidFill>
          <a:ln w="10160">
            <a:solidFill>
              <a:srgbClr val="3E6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822960" y="463600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6.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617720"/>
            <a:ext cx="992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ГОСТ Р 54148-2010. Воздействие на человека электромагнитных полей от бытовых и аналогичных электрических приборов. Методы оценки и измерений.</a:t>
            </a:r>
            <a:endParaRPr lang="en-US" sz="108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4928616"/>
            <a:ext cx="9921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19" dirty="0">
                <a:solidFill>
                  <a:srgbClr val="3E6F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https://files.stroyinf.ru/Data/503/50316.pdf</a:t>
            </a:r>
            <a:endParaRPr lang="en-US" sz="86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9672"/>
            <a:ext cx="438912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A9A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34" name="Bibliography circle 7"/>
          <p:cNvSpPr/>
          <p:nvPr/>
        </p:nvSpPr>
        <p:spPr>
          <a:xfrm>
            <a:off x="822960" y="5202936"/>
            <a:ext cx="310896" cy="310896"/>
          </a:xfrm>
          <a:prstGeom prst="ellipse">
            <a:avLst/>
          </a:prstGeom>
          <a:solidFill>
            <a:srgbClr val="3E6FA8"/>
          </a:solidFill>
          <a:ln w="10160">
            <a:solidFill>
              <a:srgbClr val="168C9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Cloned Text 31"/>
          <p:cNvSpPr txBox="1"/>
          <p:nvPr/>
        </p:nvSpPr>
        <p:spPr>
          <a:xfrm>
            <a:off x="822960" y="5202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7.</a:t>
            </a:r>
            <a:endParaRPr lang="en-US" sz="900" dirty="0"/>
          </a:p>
        </p:txBody>
      </p:sp>
      <p:sp>
        <p:nvSpPr>
          <p:cNvPr id="32" name="Cloned Text 32"/>
          <p:cNvSpPr txBox="1"/>
          <p:nvPr/>
        </p:nvSpPr>
        <p:spPr>
          <a:xfrm>
            <a:off x="1280160" y="5184648"/>
            <a:ext cx="992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022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ГОСТ Р 7.0.100-2018. Библиографическая запись. Библиографическое описание. Общие требования и правила составления.</a:t>
            </a:r>
            <a:endParaRPr lang="en-US" sz="1080" dirty="0"/>
          </a:p>
        </p:txBody>
      </p:sp>
      <p:sp>
        <p:nvSpPr>
          <p:cNvPr id="33" name="Cloned Text 33"/>
          <p:cNvSpPr txBox="1"/>
          <p:nvPr/>
        </p:nvSpPr>
        <p:spPr>
          <a:xfrm>
            <a:off x="1280160" y="5495544"/>
            <a:ext cx="9921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19" dirty="0">
                <a:solidFill>
                  <a:srgbClr val="3E6F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https://protect.gost.ru/gost/details/389dfd5a-535a-458a-81c3-14b729b1cee1</a:t>
            </a:r>
            <a:endParaRPr lang="en-US" sz="860" dirty="0"/>
          </a:p>
        </p:txBody>
      </p:sp>
      <p:sp>
        <p:nvSpPr>
          <p:cNvPr id="30" name="Bibliography circle 7"/>
          <p:cNvSpPr/>
          <p:nvPr/>
        </p:nvSpPr>
        <p:spPr>
          <a:xfrm>
            <a:off x="822960" y="5769864"/>
            <a:ext cx="310896" cy="310896"/>
          </a:xfrm>
          <a:prstGeom prst="ellipse">
            <a:avLst/>
          </a:prstGeom>
          <a:solidFill>
            <a:srgbClr val="3E6FA8"/>
          </a:solidFill>
          <a:ln w="10160">
            <a:solidFill>
              <a:srgbClr val="168C9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Cloned Text 31"/>
          <p:cNvSpPr txBox="1"/>
          <p:nvPr/>
        </p:nvSpPr>
        <p:spPr>
          <a:xfrm>
            <a:off x="822960" y="5769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00" b="1" dirty="0">
                <a:solidFill>
                  <a:srgbClr val="FFFFFF"/>
                </a:solidFill>
                <a:latin typeface="Noto Sans"/>
              </a:rPr>
              <a:t>8.</a:t>
            </a:r>
            <a:endParaRPr lang="en-US" sz="900" dirty="0"/>
          </a:p>
        </p:txBody>
      </p:sp>
      <p:sp>
        <p:nvSpPr>
          <p:cNvPr id="36" name="Cloned Text 32"/>
          <p:cNvSpPr txBox="1"/>
          <p:nvPr/>
        </p:nvSpPr>
        <p:spPr>
          <a:xfrm>
            <a:off x="1280160" y="5751576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960" b="1">
                <a:solidFill>
                  <a:srgbClr val="102238"/>
                </a:solidFill>
                <a:latin typeface="Noto Sans"/>
              </a:rPr>
              <a:t>IARC. Some Naturally Occurring Substances. IARC Monographs, Vol. 56. Lyon: IARC; 1993 (раздел “Pickled Vegetables”).</a:t>
            </a:r>
            <a:endParaRPr lang="en-US" sz="1080" dirty="0"/>
          </a:p>
        </p:txBody>
      </p:sp>
      <p:sp>
        <p:nvSpPr>
          <p:cNvPr id="37" name="Cloned Text 33"/>
          <p:cNvSpPr txBox="1"/>
          <p:nvPr/>
        </p:nvSpPr>
        <p:spPr>
          <a:xfrm>
            <a:off x="1280160" y="6062472"/>
            <a:ext cx="9921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800" b="0" dirty="0">
                <a:solidFill>
                  <a:srgbClr val="3E6FA8"/>
                </a:solidFill>
                <a:latin typeface="Noto Sans"/>
              </a:rPr>
              <a:t>https://publications.iarc.who.int/74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2331</Words>
  <Application>Microsoft Office PowerPoint</Application>
  <PresentationFormat>Широкоэкранный</PresentationFormat>
  <Paragraphs>271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Noto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Учебная презентация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Виды действия электромагнитных полей на человека</dc:title>
  <dc:subject>Виды действия электромагнитных полей на человека</dc:subject>
  <dc:creator>OpenAI</dc:creator>
  <cp:lastModifiedBy>mazer300</cp:lastModifiedBy>
  <cp:revision>5</cp:revision>
  <dcterms:created xsi:type="dcterms:W3CDTF">2026-10-17T13:07:00Z</dcterms:created>
  <dcterms:modified xsi:type="dcterms:W3CDTF">2026-10-17T15:21:46Z</dcterms:modified>
</cp:coreProperties>
</file>